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63" r:id="rId6"/>
    <p:sldId id="264" r:id="rId7"/>
    <p:sldId id="267" r:id="rId8"/>
    <p:sldId id="259" r:id="rId9"/>
    <p:sldId id="272" r:id="rId10"/>
    <p:sldId id="269" r:id="rId11"/>
    <p:sldId id="266" r:id="rId12"/>
    <p:sldId id="265" r:id="rId13"/>
    <p:sldId id="270" r:id="rId14"/>
    <p:sldId id="268" r:id="rId15"/>
    <p:sldId id="260" r:id="rId16"/>
    <p:sldId id="271" r:id="rId17"/>
    <p:sldId id="261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nie\Downloads\1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nie\Downloads\12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nie\Downloads\12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'12'!$L$1</c:f>
              <c:strCache>
                <c:ptCount val="1"/>
                <c:pt idx="0">
                  <c:v>FAC1_1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'12'!$L$2:$L$33</c:f>
              <c:numCache>
                <c:formatCode>General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2.8759587325152798</c:v>
                </c:pt>
                <c:pt idx="3">
                  <c:v>2.4391552099884901</c:v>
                </c:pt>
                <c:pt idx="4">
                  <c:v>1.53861176210105</c:v>
                </c:pt>
                <c:pt idx="5">
                  <c:v>1.37780925990031</c:v>
                </c:pt>
                <c:pt idx="6">
                  <c:v>1.1288277101942501</c:v>
                </c:pt>
                <c:pt idx="7">
                  <c:v>0.97187079427120004</c:v>
                </c:pt>
                <c:pt idx="8">
                  <c:v>0.53607115747813705</c:v>
                </c:pt>
                <c:pt idx="9">
                  <c:v>0.28394329252884798</c:v>
                </c:pt>
                <c:pt idx="10">
                  <c:v>0.15958374485889401</c:v>
                </c:pt>
                <c:pt idx="11">
                  <c:v>6.4338715872536506E-2</c:v>
                </c:pt>
                <c:pt idx="12">
                  <c:v>6.3317814443027198E-2</c:v>
                </c:pt>
                <c:pt idx="13">
                  <c:v>-0.183060203633405</c:v>
                </c:pt>
                <c:pt idx="14">
                  <c:v>-0.19529797061253201</c:v>
                </c:pt>
                <c:pt idx="15">
                  <c:v>-0.25374218303236601</c:v>
                </c:pt>
                <c:pt idx="16">
                  <c:v>-0.30101522292592597</c:v>
                </c:pt>
                <c:pt idx="17">
                  <c:v>-0.304630972477481</c:v>
                </c:pt>
                <c:pt idx="18">
                  <c:v>-0.59769454553891299</c:v>
                </c:pt>
                <c:pt idx="19">
                  <c:v>-0.61574934608000098</c:v>
                </c:pt>
                <c:pt idx="20">
                  <c:v>-0.63615716597412097</c:v>
                </c:pt>
                <c:pt idx="21">
                  <c:v>-0.63690691503275598</c:v>
                </c:pt>
                <c:pt idx="22">
                  <c:v>-0.65648517665106898</c:v>
                </c:pt>
                <c:pt idx="23">
                  <c:v>-0.66980049660549301</c:v>
                </c:pt>
                <c:pt idx="24">
                  <c:v>-0.71243234589897797</c:v>
                </c:pt>
                <c:pt idx="25">
                  <c:v>-0.74234469089150101</c:v>
                </c:pt>
                <c:pt idx="26">
                  <c:v>-0.75220974643697602</c:v>
                </c:pt>
                <c:pt idx="27">
                  <c:v>-0.76242990709824898</c:v>
                </c:pt>
                <c:pt idx="28">
                  <c:v>-0.77091601163831602</c:v>
                </c:pt>
                <c:pt idx="29">
                  <c:v>-0.807058045191823</c:v>
                </c:pt>
                <c:pt idx="30">
                  <c:v>-0.90591891976670402</c:v>
                </c:pt>
                <c:pt idx="31">
                  <c:v>-0.93563832866540497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D4-4C85-8223-0F7574DF8D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401647"/>
        <c:axId val="178561055"/>
      </c:barChart>
      <c:catAx>
        <c:axId val="172401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8561055"/>
        <c:crosses val="autoZero"/>
        <c:auto val="1"/>
        <c:lblAlgn val="ctr"/>
        <c:lblOffset val="100"/>
        <c:noMultiLvlLbl val="0"/>
      </c:catAx>
      <c:valAx>
        <c:axId val="178561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2401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'12'!$M$1</c:f>
              <c:strCache>
                <c:ptCount val="1"/>
                <c:pt idx="0">
                  <c:v>FAC2_1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'12'!$M$2:$M$33</c:f>
              <c:numCache>
                <c:formatCode>General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2.35333739539593</c:v>
                </c:pt>
                <c:pt idx="3">
                  <c:v>1.4873691440464001</c:v>
                </c:pt>
                <c:pt idx="4">
                  <c:v>2.88367797316143E-2</c:v>
                </c:pt>
                <c:pt idx="5">
                  <c:v>-0.78380499100117895</c:v>
                </c:pt>
                <c:pt idx="6">
                  <c:v>-1.2023427685822801</c:v>
                </c:pt>
                <c:pt idx="7">
                  <c:v>-0.51226080975046795</c:v>
                </c:pt>
                <c:pt idx="8">
                  <c:v>-1.2128902691418899</c:v>
                </c:pt>
                <c:pt idx="9">
                  <c:v>-1.3519734574108599</c:v>
                </c:pt>
                <c:pt idx="10">
                  <c:v>-1.62643104707514</c:v>
                </c:pt>
                <c:pt idx="11">
                  <c:v>-1.3670127637189999</c:v>
                </c:pt>
                <c:pt idx="12">
                  <c:v>-1.0943892330182701</c:v>
                </c:pt>
                <c:pt idx="13">
                  <c:v>-1.10057805175762</c:v>
                </c:pt>
                <c:pt idx="14">
                  <c:v>-0.76529119387878897</c:v>
                </c:pt>
                <c:pt idx="15">
                  <c:v>-0.54920473248230495</c:v>
                </c:pt>
                <c:pt idx="16">
                  <c:v>-0.53668060167616205</c:v>
                </c:pt>
                <c:pt idx="17">
                  <c:v>-0.57658089858716199</c:v>
                </c:pt>
                <c:pt idx="18">
                  <c:v>0.23515523901398899</c:v>
                </c:pt>
                <c:pt idx="19">
                  <c:v>0.42103226710771702</c:v>
                </c:pt>
                <c:pt idx="20">
                  <c:v>0.45397500224024101</c:v>
                </c:pt>
                <c:pt idx="21">
                  <c:v>0.27824637321920298</c:v>
                </c:pt>
                <c:pt idx="22">
                  <c:v>0.232270205189231</c:v>
                </c:pt>
                <c:pt idx="23">
                  <c:v>0.38435854423815602</c:v>
                </c:pt>
                <c:pt idx="24">
                  <c:v>0.36758663755332099</c:v>
                </c:pt>
                <c:pt idx="25">
                  <c:v>0.69958995040473804</c:v>
                </c:pt>
                <c:pt idx="26">
                  <c:v>0.70151236614999202</c:v>
                </c:pt>
                <c:pt idx="27">
                  <c:v>0.72458680249595997</c:v>
                </c:pt>
                <c:pt idx="28">
                  <c:v>0.79947516392598705</c:v>
                </c:pt>
                <c:pt idx="29">
                  <c:v>0.93221592630810501</c:v>
                </c:pt>
                <c:pt idx="30">
                  <c:v>1.26664325800694</c:v>
                </c:pt>
                <c:pt idx="31">
                  <c:v>1.3132497630536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ED-4600-A4F2-200F980410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18751"/>
        <c:axId val="178572703"/>
      </c:barChart>
      <c:catAx>
        <c:axId val="5618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8572703"/>
        <c:crosses val="autoZero"/>
        <c:auto val="1"/>
        <c:lblAlgn val="ctr"/>
        <c:lblOffset val="100"/>
        <c:noMultiLvlLbl val="0"/>
      </c:catAx>
      <c:valAx>
        <c:axId val="17857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18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'12'!$L$2:$L$3</c:f>
              <c:strCache>
                <c:ptCount val="2"/>
                <c:pt idx="0">
                  <c:v> </c:v>
                </c:pt>
                <c:pt idx="1">
                  <c:v> 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val>
            <c:numRef>
              <c:f>'12'!$L$4:$L$33</c:f>
              <c:numCache>
                <c:formatCode>General</c:formatCode>
                <c:ptCount val="30"/>
                <c:pt idx="0">
                  <c:v>2.8759587325152798</c:v>
                </c:pt>
                <c:pt idx="1">
                  <c:v>2.4391552099884901</c:v>
                </c:pt>
                <c:pt idx="2">
                  <c:v>1.53861176210105</c:v>
                </c:pt>
                <c:pt idx="3">
                  <c:v>1.37780925990031</c:v>
                </c:pt>
                <c:pt idx="4">
                  <c:v>1.1288277101942501</c:v>
                </c:pt>
                <c:pt idx="5">
                  <c:v>0.97187079427120004</c:v>
                </c:pt>
                <c:pt idx="6">
                  <c:v>0.53607115747813705</c:v>
                </c:pt>
                <c:pt idx="7">
                  <c:v>0.28394329252884798</c:v>
                </c:pt>
                <c:pt idx="8">
                  <c:v>0.15958374485889401</c:v>
                </c:pt>
                <c:pt idx="9">
                  <c:v>6.4338715872536506E-2</c:v>
                </c:pt>
                <c:pt idx="10">
                  <c:v>6.3317814443027198E-2</c:v>
                </c:pt>
                <c:pt idx="11">
                  <c:v>-0.183060203633405</c:v>
                </c:pt>
                <c:pt idx="12">
                  <c:v>-0.19529797061253201</c:v>
                </c:pt>
                <c:pt idx="13">
                  <c:v>-0.25374218303236601</c:v>
                </c:pt>
                <c:pt idx="14">
                  <c:v>-0.30101522292592597</c:v>
                </c:pt>
                <c:pt idx="15">
                  <c:v>-0.304630972477481</c:v>
                </c:pt>
                <c:pt idx="16">
                  <c:v>-0.59769454553891299</c:v>
                </c:pt>
                <c:pt idx="17">
                  <c:v>-0.61574934608000098</c:v>
                </c:pt>
                <c:pt idx="18">
                  <c:v>-0.63615716597412097</c:v>
                </c:pt>
                <c:pt idx="19">
                  <c:v>-0.63690691503275598</c:v>
                </c:pt>
                <c:pt idx="20">
                  <c:v>-0.65648517665106898</c:v>
                </c:pt>
                <c:pt idx="21">
                  <c:v>-0.66980049660549301</c:v>
                </c:pt>
                <c:pt idx="22">
                  <c:v>-0.71243234589897797</c:v>
                </c:pt>
                <c:pt idx="23">
                  <c:v>-0.74234469089150101</c:v>
                </c:pt>
                <c:pt idx="24">
                  <c:v>-0.75220974643697602</c:v>
                </c:pt>
                <c:pt idx="25">
                  <c:v>-0.76242990709824898</c:v>
                </c:pt>
                <c:pt idx="26">
                  <c:v>-0.77091601163831602</c:v>
                </c:pt>
                <c:pt idx="27">
                  <c:v>-0.807058045191823</c:v>
                </c:pt>
                <c:pt idx="28">
                  <c:v>-0.90591891976670402</c:v>
                </c:pt>
                <c:pt idx="29">
                  <c:v>-0.93563832866540497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BD-4FD6-B557-D46E498E4EC3}"/>
            </c:ext>
          </c:extLst>
        </c:ser>
        <c:ser>
          <c:idx val="1"/>
          <c:order val="1"/>
          <c:tx>
            <c:strRef>
              <c:f>'12'!$M$2:$M$3</c:f>
              <c:strCache>
                <c:ptCount val="2"/>
                <c:pt idx="0">
                  <c:v> </c:v>
                </c:pt>
                <c:pt idx="1">
                  <c:v> 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val>
            <c:numRef>
              <c:f>'12'!$M$4:$M$33</c:f>
              <c:numCache>
                <c:formatCode>General</c:formatCode>
                <c:ptCount val="30"/>
                <c:pt idx="0">
                  <c:v>2.35333739539593</c:v>
                </c:pt>
                <c:pt idx="1">
                  <c:v>1.4873691440464001</c:v>
                </c:pt>
                <c:pt idx="2">
                  <c:v>2.88367797316143E-2</c:v>
                </c:pt>
                <c:pt idx="3">
                  <c:v>-0.78380499100117895</c:v>
                </c:pt>
                <c:pt idx="4">
                  <c:v>-1.2023427685822801</c:v>
                </c:pt>
                <c:pt idx="5">
                  <c:v>-0.51226080975046795</c:v>
                </c:pt>
                <c:pt idx="6">
                  <c:v>-1.2128902691418899</c:v>
                </c:pt>
                <c:pt idx="7">
                  <c:v>-1.3519734574108599</c:v>
                </c:pt>
                <c:pt idx="8">
                  <c:v>-1.62643104707514</c:v>
                </c:pt>
                <c:pt idx="9">
                  <c:v>-1.3670127637189999</c:v>
                </c:pt>
                <c:pt idx="10">
                  <c:v>-1.0943892330182701</c:v>
                </c:pt>
                <c:pt idx="11">
                  <c:v>-1.10057805175762</c:v>
                </c:pt>
                <c:pt idx="12">
                  <c:v>-0.76529119387878897</c:v>
                </c:pt>
                <c:pt idx="13">
                  <c:v>-0.54920473248230495</c:v>
                </c:pt>
                <c:pt idx="14">
                  <c:v>-0.53668060167616205</c:v>
                </c:pt>
                <c:pt idx="15">
                  <c:v>-0.57658089858716199</c:v>
                </c:pt>
                <c:pt idx="16">
                  <c:v>0.23515523901398899</c:v>
                </c:pt>
                <c:pt idx="17">
                  <c:v>0.42103226710771702</c:v>
                </c:pt>
                <c:pt idx="18">
                  <c:v>0.45397500224024101</c:v>
                </c:pt>
                <c:pt idx="19">
                  <c:v>0.27824637321920298</c:v>
                </c:pt>
                <c:pt idx="20">
                  <c:v>0.232270205189231</c:v>
                </c:pt>
                <c:pt idx="21">
                  <c:v>0.38435854423815602</c:v>
                </c:pt>
                <c:pt idx="22">
                  <c:v>0.36758663755332099</c:v>
                </c:pt>
                <c:pt idx="23">
                  <c:v>0.69958995040473804</c:v>
                </c:pt>
                <c:pt idx="24">
                  <c:v>0.70151236614999202</c:v>
                </c:pt>
                <c:pt idx="25">
                  <c:v>0.72458680249595997</c:v>
                </c:pt>
                <c:pt idx="26">
                  <c:v>0.79947516392598705</c:v>
                </c:pt>
                <c:pt idx="27">
                  <c:v>0.93221592630810501</c:v>
                </c:pt>
                <c:pt idx="28">
                  <c:v>1.26664325800694</c:v>
                </c:pt>
                <c:pt idx="29">
                  <c:v>1.3132497630536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BD-4FD6-B557-D46E498E4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1805855"/>
        <c:axId val="3035295"/>
      </c:barChart>
      <c:catAx>
        <c:axId val="1961805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035295"/>
        <c:crosses val="autoZero"/>
        <c:auto val="1"/>
        <c:lblAlgn val="ctr"/>
        <c:lblOffset val="100"/>
        <c:noMultiLvlLbl val="0"/>
      </c:catAx>
      <c:valAx>
        <c:axId val="303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61805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1E2F52-FA8F-4730-B7F2-1BCACD493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547A25D-1EE3-4CB0-A3DA-57D08A46E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B8F24E-3D35-4100-ABC6-E7F1B3E7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B83897-DA2C-44F8-B86E-D917A71B4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EC98C1-2E19-41DC-9072-7D76A834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89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096358-FA1A-4DEE-8C0C-DE8204AF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AC3210-09FC-495D-AF9B-C1EBC7C66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30CB3A-F28A-4048-A2DE-13E73298E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20E5C5-C32A-4059-B97A-2192D6DE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0B6E5-C8D0-41B9-BD8F-E57BCF84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15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D14350-7116-4FE4-A73E-CEB39D0F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38D3E90-5B69-4CD2-A70B-A92728B2B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879EB8-170D-4510-B4E6-6D39416E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1E7503-D78B-4E04-BB3F-4735B515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0130F1-2BF1-4146-91E8-919FE9E9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80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3C3AA3-50EF-4F10-BEFD-0191EBF1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74AF3D-0D35-4C6D-903B-7897A3BA5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858A7DA-CCBA-4D49-9667-5B21AA219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D2E0D9-A3AB-4247-85F6-2C5C64EF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2F22D8-B04A-492C-A955-4AD9BB1A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FECF9B-C6EB-4DE7-8AE7-A484D321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18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E1B9E4-457D-40E0-B5BB-3AD67517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2555E5-F3A2-4759-BEA6-78E041731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218831B-033C-4750-83C3-D2C9FD0DC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F4D5DB1-80D9-41F4-9BA0-228CAC1D9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70663AA-EC5C-4B74-B7FB-1F91EB0AC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2C80BF1-FFEF-4F50-8885-39D5C874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FE8820B-4960-4115-9682-4476386F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3578040-067D-44FF-B600-02600279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53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152779-2A5D-4725-B215-988AEF04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B9C77B-99ED-46D9-94DF-C5FC716B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594E8FB-9E16-4551-965E-D57BF13B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8312438-1005-4AF4-BECB-A29E3F3B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25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AEB84F-C7A0-46F9-8811-F184EFA8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63F398-A8B7-4F10-AA7A-E737AD31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E3FC40-B31E-4305-827C-547B1D44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850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E0C4B7-B21D-41BD-8230-BB566B65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A05BC-047A-4C8F-B7B4-DDB28086E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EF637A8-6DA5-4443-92DD-CD86CDC08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FB0790-2A04-423D-ADF0-7EDFFBDC6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8B41B1-7FA7-42DE-92C4-0E483C68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0B08E9-493C-4888-9DF5-7CBFA8F8E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0223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ADA495-5425-4254-8BA0-99251619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F3E0A1D-C677-46C4-8187-D2DD54301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A78345-CFB3-44FB-BF35-3FFB136A2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5DA576-1630-4700-A0AA-F441E747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DD5221-9D3A-438A-AB73-96D857E3C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82116B-6DDF-4EBE-B9CE-1C789AF2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11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82B593-5F70-4040-8F06-3DB99065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43CE32C-EB2E-41A0-A733-56E69E212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5B94C9-0DBF-4F90-A5A6-E4B69385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177696-27A2-4C01-9726-50A9D0B2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CC34EF-D01F-4837-905F-CD8BB0A9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4291CE4-63F2-44E8-B539-297FDDB83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8BB9336-45FA-488E-B582-EDCA01F3A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0245A1-7937-4910-B425-3F80F864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ABB393-979E-421E-81F0-D0B9820E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EC0245-32A5-4768-9DE7-ABAE98C8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46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1AAB4D4-E42C-4348-8156-082AB943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EEF3A4-9EB6-42BF-B2B0-8E538B35E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0A9856-4D5C-4DFD-99A8-30C4B32BD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CD6A3-2082-4149-9146-646447863EDD}" type="datetimeFigureOut">
              <a:rPr lang="zh-TW" altLang="en-US" smtClean="0"/>
              <a:t>2019/3/20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7E5B68-F843-417E-98A1-A7CFB5C7E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2CDF0E-B465-4B3C-B9CF-76B80E741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D7248-28CC-49DA-A9CC-284E0478FA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79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27BB84B-1388-4595-A5A4-476B783E7C2E}"/>
              </a:ext>
            </a:extLst>
          </p:cNvPr>
          <p:cNvSpPr txBox="1"/>
          <p:nvPr/>
        </p:nvSpPr>
        <p:spPr>
          <a:xfrm>
            <a:off x="4781550" y="1137166"/>
            <a:ext cx="3743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project1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0217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0124961-0FCD-445D-8401-35F9BBCA76FA}"/>
              </a:ext>
            </a:extLst>
          </p:cNvPr>
          <p:cNvSpPr txBox="1"/>
          <p:nvPr/>
        </p:nvSpPr>
        <p:spPr>
          <a:xfrm>
            <a:off x="4933950" y="1126867"/>
            <a:ext cx="128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人壽保險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C490CD5-12BF-4928-B51E-A767AA11DB69}"/>
              </a:ext>
            </a:extLst>
          </p:cNvPr>
          <p:cNvSpPr txBox="1"/>
          <p:nvPr/>
        </p:nvSpPr>
        <p:spPr>
          <a:xfrm>
            <a:off x="9644062" y="6022717"/>
            <a:ext cx="509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林貞妮 </a:t>
            </a:r>
            <a:r>
              <a:rPr lang="en-US" altLang="zh-TW" dirty="0"/>
              <a:t>105306002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6EA6415-E9B0-4FEC-8962-9E76F2B5980E}"/>
              </a:ext>
            </a:extLst>
          </p:cNvPr>
          <p:cNvSpPr txBox="1"/>
          <p:nvPr/>
        </p:nvSpPr>
        <p:spPr>
          <a:xfrm>
            <a:off x="2438400" y="2076450"/>
            <a:ext cx="5905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Project</a:t>
            </a:r>
            <a:r>
              <a:rPr lang="zh-TW" altLang="en-US" dirty="0"/>
              <a:t>摘要、變數內容</a:t>
            </a:r>
            <a:endParaRPr lang="en-US" altLang="zh-TW" dirty="0"/>
          </a:p>
          <a:p>
            <a:r>
              <a:rPr lang="zh-TW" altLang="en-US" dirty="0"/>
              <a:t>採用分析的方法</a:t>
            </a:r>
            <a:endParaRPr lang="en-US" altLang="zh-TW" dirty="0"/>
          </a:p>
          <a:p>
            <a:r>
              <a:rPr lang="zh-TW" altLang="en-US" dirty="0"/>
              <a:t>分析的結果</a:t>
            </a:r>
            <a:endParaRPr lang="en-US" altLang="zh-TW" dirty="0"/>
          </a:p>
          <a:p>
            <a:r>
              <a:rPr lang="en-US" altLang="zh-TW" dirty="0"/>
              <a:t>	</a:t>
            </a:r>
            <a:r>
              <a:rPr lang="zh-TW" altLang="en-US" dirty="0"/>
              <a:t>觀察變數</a:t>
            </a:r>
            <a:endParaRPr lang="en-US" altLang="zh-TW" dirty="0"/>
          </a:p>
          <a:p>
            <a:r>
              <a:rPr lang="en-US" altLang="zh-TW" dirty="0"/>
              <a:t>	</a:t>
            </a:r>
            <a:r>
              <a:rPr lang="zh-TW" altLang="en-US" dirty="0"/>
              <a:t>採用主成分個數</a:t>
            </a:r>
            <a:endParaRPr lang="en-US" altLang="zh-TW" dirty="0"/>
          </a:p>
          <a:p>
            <a:r>
              <a:rPr lang="en-US" altLang="zh-TW" dirty="0"/>
              <a:t>	</a:t>
            </a:r>
            <a:r>
              <a:rPr lang="zh-TW" altLang="en-US" dirty="0"/>
              <a:t>定義主成分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	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278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BF55635-7CFB-44C6-B368-234FCE04B662}"/>
              </a:ext>
            </a:extLst>
          </p:cNvPr>
          <p:cNvSpPr txBox="1"/>
          <p:nvPr/>
        </p:nvSpPr>
        <p:spPr>
          <a:xfrm>
            <a:off x="771525" y="1333501"/>
            <a:ext cx="109442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本次</a:t>
            </a:r>
            <a:r>
              <a:rPr lang="en-US" altLang="zh-TW" dirty="0"/>
              <a:t>project</a:t>
            </a:r>
            <a:r>
              <a:rPr lang="zh-TW" altLang="en-US" dirty="0"/>
              <a:t>透過</a:t>
            </a:r>
            <a:r>
              <a:rPr lang="en-US" altLang="zh-TW" dirty="0"/>
              <a:t>10</a:t>
            </a:r>
            <a:r>
              <a:rPr lang="zh-TW" altLang="en-US" dirty="0"/>
              <a:t>個品牌問題</a:t>
            </a:r>
            <a:r>
              <a:rPr lang="en-US" altLang="zh-TW" dirty="0"/>
              <a:t>(</a:t>
            </a:r>
            <a:r>
              <a:rPr lang="zh-TW" altLang="en-US" dirty="0"/>
              <a:t>變數、變量</a:t>
            </a:r>
            <a:r>
              <a:rPr lang="en-US" altLang="zh-TW" dirty="0"/>
              <a:t>)</a:t>
            </a:r>
            <a:r>
              <a:rPr lang="zh-TW" altLang="en-US" dirty="0"/>
              <a:t>，調查</a:t>
            </a:r>
            <a:r>
              <a:rPr lang="en-US" altLang="zh-TW" dirty="0"/>
              <a:t>30</a:t>
            </a:r>
            <a:r>
              <a:rPr lang="zh-TW" altLang="en-US" dirty="0"/>
              <a:t>家人壽保險公司的品牌力，並且擬將多個變量歸納為某幾項信息進行分析，即降低數據結果的維度。針對這種情況，我們可以進行主成分分析，將多個變量減少，使其改變為較少數幾個互相獨立的線性組合關係。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10</a:t>
            </a:r>
            <a:r>
              <a:rPr lang="zh-TW" altLang="en-US" dirty="0"/>
              <a:t>個變數分別為</a:t>
            </a:r>
            <a:r>
              <a:rPr lang="en-US" altLang="zh-TW" b="1" dirty="0"/>
              <a:t>recall</a:t>
            </a:r>
            <a:r>
              <a:rPr lang="zh-TW" altLang="en-US" b="1" dirty="0"/>
              <a:t>、</a:t>
            </a:r>
            <a:r>
              <a:rPr lang="en-US" altLang="zh-TW" b="1" dirty="0" err="1"/>
              <a:t>recog</a:t>
            </a:r>
            <a:r>
              <a:rPr lang="zh-TW" altLang="en-US" b="1" dirty="0"/>
              <a:t>、</a:t>
            </a:r>
            <a:r>
              <a:rPr lang="en-US" altLang="zh-TW" b="1" dirty="0"/>
              <a:t>prefer</a:t>
            </a:r>
            <a:r>
              <a:rPr lang="zh-TW" altLang="en-US" b="1" dirty="0"/>
              <a:t>、</a:t>
            </a:r>
            <a:r>
              <a:rPr lang="en-US" altLang="zh-TW" b="1" dirty="0" err="1"/>
              <a:t>mostprefer</a:t>
            </a:r>
            <a:r>
              <a:rPr lang="zh-TW" altLang="en-US" b="1" dirty="0"/>
              <a:t>、</a:t>
            </a:r>
            <a:r>
              <a:rPr lang="en-US" altLang="zh-TW" b="1" dirty="0"/>
              <a:t>trust</a:t>
            </a:r>
            <a:r>
              <a:rPr lang="zh-TW" altLang="en-US" b="1" dirty="0"/>
              <a:t>、</a:t>
            </a:r>
            <a:r>
              <a:rPr lang="en-US" altLang="zh-TW" b="1" dirty="0" err="1"/>
              <a:t>mosttrust</a:t>
            </a:r>
            <a:r>
              <a:rPr lang="zh-TW" altLang="en-US" b="1" dirty="0"/>
              <a:t>、</a:t>
            </a:r>
            <a:r>
              <a:rPr lang="en-US" altLang="zh-TW" b="1" dirty="0" err="1"/>
              <a:t>charact</a:t>
            </a:r>
            <a:r>
              <a:rPr lang="zh-TW" altLang="en-US" b="1" dirty="0"/>
              <a:t>、</a:t>
            </a:r>
            <a:r>
              <a:rPr lang="en-US" altLang="zh-TW" b="1" dirty="0"/>
              <a:t>used</a:t>
            </a:r>
            <a:r>
              <a:rPr lang="zh-TW" altLang="en-US" b="1" dirty="0"/>
              <a:t>、</a:t>
            </a:r>
            <a:r>
              <a:rPr lang="en-US" altLang="zh-TW" b="1" dirty="0" err="1"/>
              <a:t>mostused</a:t>
            </a:r>
            <a:r>
              <a:rPr lang="zh-TW" altLang="en-US" b="1" dirty="0"/>
              <a:t>、</a:t>
            </a:r>
            <a:r>
              <a:rPr lang="en-US" altLang="zh-TW" b="1" dirty="0"/>
              <a:t>next</a:t>
            </a:r>
          </a:p>
          <a:p>
            <a:r>
              <a:rPr lang="en-US" altLang="zh-TW" b="1" dirty="0"/>
              <a:t>Recall</a:t>
            </a:r>
            <a:r>
              <a:rPr lang="zh-TW" altLang="en-US" b="1" dirty="0"/>
              <a:t> </a:t>
            </a:r>
            <a:r>
              <a:rPr lang="en-US" altLang="zh-TW" b="1" dirty="0"/>
              <a:t>0.68</a:t>
            </a:r>
            <a:r>
              <a:rPr lang="zh-TW" altLang="en-US" b="1" dirty="0"/>
              <a:t>代表一千人中有</a:t>
            </a:r>
            <a:r>
              <a:rPr lang="en-US" altLang="zh-TW" b="1" dirty="0"/>
              <a:t>658</a:t>
            </a:r>
            <a:r>
              <a:rPr lang="zh-TW" altLang="en-US" b="1" dirty="0"/>
              <a:t>人看過或聽過該家人力壽險公司，以此類推。</a:t>
            </a:r>
            <a:br>
              <a:rPr lang="zh-TW" altLang="en-US" dirty="0"/>
            </a:br>
            <a:br>
              <a:rPr lang="zh-TW" altLang="en-US" dirty="0"/>
            </a:b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3299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D27005A-6530-45C2-9B4F-026D1A02474A}"/>
              </a:ext>
            </a:extLst>
          </p:cNvPr>
          <p:cNvSpPr txBox="1"/>
          <p:nvPr/>
        </p:nvSpPr>
        <p:spPr>
          <a:xfrm>
            <a:off x="1848050" y="1066900"/>
            <a:ext cx="83182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PCA</a:t>
            </a:r>
          </a:p>
          <a:p>
            <a:endParaRPr lang="en-US" altLang="zh-TW" dirty="0"/>
          </a:p>
          <a:p>
            <a:r>
              <a:rPr lang="zh-TW" altLang="en-US" dirty="0"/>
              <a:t>此次</a:t>
            </a:r>
            <a:r>
              <a:rPr lang="en-US" altLang="zh-TW" dirty="0"/>
              <a:t>project</a:t>
            </a:r>
            <a:r>
              <a:rPr lang="zh-TW" altLang="en-US" dirty="0"/>
              <a:t>利用</a:t>
            </a:r>
            <a:r>
              <a:rPr lang="en-US" altLang="zh-TW" dirty="0"/>
              <a:t>SPSS</a:t>
            </a:r>
            <a:r>
              <a:rPr lang="zh-TW" altLang="en-US" dirty="0"/>
              <a:t>執行主成分分析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將變數減少成少數幾個互相獨立的線性組合變數，就必須使用主成分分析法。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主成分分析法是將資料中原有的</a:t>
            </a:r>
            <a:r>
              <a:rPr lang="en-US" altLang="zh-TW" dirty="0"/>
              <a:t>p</a:t>
            </a:r>
            <a:r>
              <a:rPr lang="zh-TW" altLang="en-US" dirty="0"/>
              <a:t>個變數做線性組合得到</a:t>
            </a:r>
            <a:r>
              <a:rPr lang="en-US" altLang="zh-TW" dirty="0"/>
              <a:t>K</a:t>
            </a:r>
            <a:r>
              <a:rPr lang="zh-TW" altLang="en-US" dirty="0"/>
              <a:t>個新變數，此外原本有相關關係的</a:t>
            </a:r>
            <a:r>
              <a:rPr lang="en-US" altLang="zh-TW" dirty="0"/>
              <a:t>p</a:t>
            </a:r>
            <a:r>
              <a:rPr lang="zh-TW" altLang="en-US" dirty="0"/>
              <a:t>個變數，會成為</a:t>
            </a:r>
            <a:r>
              <a:rPr lang="en-US" altLang="zh-TW" dirty="0"/>
              <a:t>K</a:t>
            </a:r>
            <a:r>
              <a:rPr lang="zh-TW" altLang="en-US" dirty="0"/>
              <a:t>個彼此相關係數為</a:t>
            </a:r>
            <a:r>
              <a:rPr lang="en-US" altLang="zh-TW" dirty="0"/>
              <a:t>0</a:t>
            </a:r>
            <a:r>
              <a:rPr lang="zh-TW" altLang="en-US" dirty="0"/>
              <a:t>的新變數。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經由線性組合得到的成分之變異數最大，使這些成分能夠顯示出個別差異來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主成份分析的基本假設是希望資料可以在特徵空間找到一個投影軸</a:t>
            </a:r>
            <a:r>
              <a:rPr lang="en-US" altLang="zh-TW" dirty="0"/>
              <a:t>(</a:t>
            </a:r>
            <a:r>
              <a:rPr lang="zh-TW" altLang="en-US" dirty="0"/>
              <a:t>向量</a:t>
            </a:r>
            <a:r>
              <a:rPr lang="en-US" altLang="zh-TW" dirty="0"/>
              <a:t>)</a:t>
            </a:r>
            <a:r>
              <a:rPr lang="zh-TW" altLang="en-US" dirty="0"/>
              <a:t>投影後可以得到這組資料的最大變異量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485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9F72FA3-6768-49C0-82B9-103F44C31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99" y="1941704"/>
            <a:ext cx="9690857" cy="348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3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3048A68-A634-4271-AB12-23B2715F5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84521"/>
            <a:ext cx="10905066" cy="52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3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81DEAC3-406C-47A8-BCBC-0CF83D508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57" y="768065"/>
            <a:ext cx="5819775" cy="557212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61A29E9-2636-4998-B6DD-F6320DEC1F41}"/>
              </a:ext>
            </a:extLst>
          </p:cNvPr>
          <p:cNvSpPr txBox="1"/>
          <p:nvPr/>
        </p:nvSpPr>
        <p:spPr>
          <a:xfrm>
            <a:off x="7276699" y="2353798"/>
            <a:ext cx="3869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此敘述統計表顯示人壽保險</a:t>
            </a:r>
            <a:r>
              <a:rPr lang="en-US" altLang="zh-TW" dirty="0"/>
              <a:t>(</a:t>
            </a:r>
            <a:r>
              <a:rPr lang="zh-TW" altLang="en-US" dirty="0"/>
              <a:t>提示卡</a:t>
            </a:r>
            <a:r>
              <a:rPr lang="en-US" altLang="zh-TW" dirty="0"/>
              <a:t>)</a:t>
            </a:r>
            <a:r>
              <a:rPr lang="zh-TW" altLang="en-US" dirty="0"/>
              <a:t>的標準差比其他的變數還大，可以推測是因為這個變數採用板子上問人的方式，因此離散程度較大，且平均值較大推測是用板子的關係</a:t>
            </a:r>
          </a:p>
        </p:txBody>
      </p:sp>
    </p:spTree>
    <p:extLst>
      <p:ext uri="{BB962C8B-B14F-4D97-AF65-F5344CB8AC3E}">
        <p14:creationId xmlns:p14="http://schemas.microsoft.com/office/powerpoint/2010/main" val="280409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F15CF12-F8D4-4D11-B7B5-579C2C0A5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32" y="499558"/>
            <a:ext cx="6205703" cy="32114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1C1105-0060-44B3-9D0A-6AC67F4A8F1D}"/>
              </a:ext>
            </a:extLst>
          </p:cNvPr>
          <p:cNvSpPr/>
          <p:nvPr/>
        </p:nvSpPr>
        <p:spPr>
          <a:xfrm>
            <a:off x="6018997" y="1394213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Open Sans"/>
              </a:rPr>
              <a:t>KMO</a:t>
            </a:r>
            <a:r>
              <a:rPr lang="zh-TW" altLang="en-US" b="1" dirty="0">
                <a:solidFill>
                  <a:srgbClr val="000000"/>
                </a:solidFill>
                <a:latin typeface="Open Sans"/>
              </a:rPr>
              <a:t>檢驗對數據結構的總體分析</a:t>
            </a:r>
            <a:endParaRPr lang="zh-TW" altLang="en-US" dirty="0">
              <a:solidFill>
                <a:srgbClr val="000000"/>
              </a:solidFill>
              <a:latin typeface="Open Sans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Open Sans"/>
              </a:rPr>
              <a:t>KMO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檢驗主要用於主成分提取的數據情況。一般來說，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KMO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檢驗係數分布在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0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到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1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之間，如果係數值大於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0.6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，則認為樣本符合數據結構合理的要求。但既往學者普遍認為，只有當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KMO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檢驗係數值大於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0.8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時，主成分分析的結果才具有較好的實用性，具體系數對應關係如下：</a:t>
            </a:r>
          </a:p>
          <a:p>
            <a:br>
              <a:rPr lang="zh-TW" altLang="en-US" dirty="0"/>
            </a:br>
            <a:br>
              <a:rPr lang="zh-TW" altLang="en-US" dirty="0"/>
            </a:b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BCEE74-5BF7-4DB5-8AC0-1CEA9FA8D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26" y="3711009"/>
            <a:ext cx="6573003" cy="312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63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4BAED8-E3A4-4D06-BBD0-AECC10739EBC}"/>
              </a:ext>
            </a:extLst>
          </p:cNvPr>
          <p:cNvSpPr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KMO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與</a:t>
            </a:r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Bartlett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檢定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KMO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值越接近</a:t>
            </a:r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1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，代表淨相關係數越低，代表抽取共同因素的效果越好。</a:t>
            </a:r>
          </a:p>
          <a:p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以下為</a:t>
            </a:r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KMO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值的判斷標準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KMO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統計量值</a:t>
            </a:r>
            <a:b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</a:b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決策標準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.90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以上</a:t>
            </a:r>
            <a:b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</a:b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極佳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.80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以上</a:t>
            </a:r>
            <a:b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</a:b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有價值的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.70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以上</a:t>
            </a:r>
            <a:b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</a:b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中度的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.60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以上</a:t>
            </a:r>
            <a:b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</a:b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不好不壞的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.50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以上</a:t>
            </a:r>
            <a:b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</a:b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可憐的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.50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以下</a:t>
            </a:r>
            <a:b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</a:b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無法接受的</a:t>
            </a:r>
          </a:p>
          <a:p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Bartlett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值的部份要看是否達到顯著（大部分都會達到</a:t>
            </a:r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.000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）。</a:t>
            </a:r>
          </a:p>
          <a:p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從以上兩種數值可以總和的來看是否適合進行因素分析。</a:t>
            </a:r>
            <a:endParaRPr lang="zh-TW" altLang="en-US" b="0" i="0" dirty="0">
              <a:solidFill>
                <a:srgbClr val="55555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584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A0408F4-0F74-41EC-B56B-8995D4D5A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5" y="201730"/>
            <a:ext cx="7372350" cy="58483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2E8D42E-81C8-4B05-BB0D-2EC6CD4D9E14}"/>
              </a:ext>
            </a:extLst>
          </p:cNvPr>
          <p:cNvSpPr/>
          <p:nvPr/>
        </p:nvSpPr>
        <p:spPr>
          <a:xfrm>
            <a:off x="6781800" y="17656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共同性</a:t>
            </a:r>
          </a:p>
          <a:p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初始代表原始的共同性越高代表它與其他變項共同特質越多。</a:t>
            </a:r>
          </a:p>
          <a:p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萃取代表經過主軸因子（在本研究採取的是主軸因子）抽取因素後的共同性越高代表它與其他變項共同特質越多。</a:t>
            </a:r>
          </a:p>
          <a:p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越接近</a:t>
            </a:r>
            <a:r>
              <a:rPr lang="en-US" altLang="zh-TW" dirty="0">
                <a:solidFill>
                  <a:srgbClr val="555555"/>
                </a:solidFill>
                <a:latin typeface="Arial" panose="020B0604020202020204" pitchFamily="34" charset="0"/>
              </a:rPr>
              <a:t>1</a:t>
            </a: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代表在項目分析中的效度指標越好，可以作為某一題目保留或是修改的標準之一。</a:t>
            </a:r>
            <a:endParaRPr lang="zh-TW" altLang="en-US" b="0" i="0" dirty="0">
              <a:solidFill>
                <a:srgbClr val="55555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869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5A4A5F5-BDD7-4C63-AEC1-793E74CE1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87" y="808522"/>
            <a:ext cx="7585291" cy="464659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2F9F301-C983-4E5F-9766-1EA8F896DD10}"/>
              </a:ext>
            </a:extLst>
          </p:cNvPr>
          <p:cNvSpPr txBox="1"/>
          <p:nvPr/>
        </p:nvSpPr>
        <p:spPr>
          <a:xfrm>
            <a:off x="8461760" y="2582378"/>
            <a:ext cx="28394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從陡坡圖，初步可以觀察出前在第</a:t>
            </a:r>
            <a:r>
              <a:rPr lang="en-US" altLang="zh-TW" dirty="0"/>
              <a:t>3</a:t>
            </a:r>
            <a:r>
              <a:rPr lang="zh-TW" altLang="en-US" dirty="0"/>
              <a:t>個主成分以後曲線走勢趨於平緩，相對而言，這些主成分所能解釋的變異極小</a:t>
            </a:r>
          </a:p>
        </p:txBody>
      </p:sp>
    </p:spTree>
    <p:extLst>
      <p:ext uri="{BB962C8B-B14F-4D97-AF65-F5344CB8AC3E}">
        <p14:creationId xmlns:p14="http://schemas.microsoft.com/office/powerpoint/2010/main" val="124412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5B145EB-C014-4D68-A380-4A5B685DD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89" y="1088205"/>
            <a:ext cx="5781675" cy="42195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3972EA1-4A5B-451D-A5B1-186BCEC24969}"/>
              </a:ext>
            </a:extLst>
          </p:cNvPr>
          <p:cNvSpPr/>
          <p:nvPr/>
        </p:nvSpPr>
        <p:spPr>
          <a:xfrm>
            <a:off x="6629400" y="858381"/>
            <a:ext cx="498593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000000"/>
                </a:solidFill>
                <a:latin typeface="Open Sans"/>
              </a:rPr>
              <a:t>有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10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個變量，那總特徵值（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eigenvalues of variance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）就是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10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，即每個變量自身的特徵值為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1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。</a:t>
            </a:r>
          </a:p>
          <a:p>
            <a:r>
              <a:rPr lang="en-US" altLang="zh-TW" dirty="0">
                <a:solidFill>
                  <a:srgbClr val="000000"/>
                </a:solidFill>
                <a:latin typeface="Open Sans"/>
              </a:rPr>
              <a:t>Total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欄提示的是各主成分對數據變異的解釋程度。以第一主成分為例，其特徵值為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0.149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，占總體變異的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0.149 /10×100 = 26.919% 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（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% of Variance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欄）。同理，第二主成分的特徵值為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3.342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，占總體變異的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13.369%</a:t>
            </a:r>
            <a:r>
              <a:rPr lang="zh-TW" altLang="en-US" dirty="0">
                <a:solidFill>
                  <a:srgbClr val="000000"/>
                </a:solidFill>
                <a:latin typeface="Open Sans"/>
              </a:rPr>
              <a:t>，以此類推。</a:t>
            </a:r>
          </a:p>
          <a:p>
            <a:br>
              <a:rPr lang="zh-TW" altLang="en-US" dirty="0"/>
            </a:br>
            <a:br>
              <a:rPr lang="zh-TW" altLang="en-US" dirty="0"/>
            </a:b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443A36-7260-4F80-8646-E13ABE2C6095}"/>
              </a:ext>
            </a:extLst>
          </p:cNvPr>
          <p:cNvSpPr/>
          <p:nvPr/>
        </p:nvSpPr>
        <p:spPr>
          <a:xfrm>
            <a:off x="6629400" y="459611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解說總變異量</a:t>
            </a:r>
          </a:p>
          <a:p>
            <a:r>
              <a:rPr lang="zh-TW" altLang="en-US" dirty="0">
                <a:solidFill>
                  <a:srgbClr val="555555"/>
                </a:solidFill>
                <a:latin typeface="Arial" panose="020B0604020202020204" pitchFamily="34" charset="0"/>
              </a:rPr>
              <a:t>此表要看轉軸平方和負荷量，看萃取幾個因素的累積解釋量，</a:t>
            </a:r>
            <a:endParaRPr lang="zh-TW" altLang="en-US" b="0" i="0" dirty="0">
              <a:solidFill>
                <a:srgbClr val="55555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416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D39F745-6B11-4ED1-B99E-67A9340E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400050"/>
            <a:ext cx="535305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24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17F659C-A6F1-4E86-A748-51820D682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3105" y="691039"/>
            <a:ext cx="7410450" cy="5981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4D8C6D8-0B67-4784-BDEB-A017DED3E89E}"/>
              </a:ext>
            </a:extLst>
          </p:cNvPr>
          <p:cNvSpPr/>
          <p:nvPr/>
        </p:nvSpPr>
        <p:spPr>
          <a:xfrm>
            <a:off x="6191250" y="82849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負荷</a:t>
            </a:r>
            <a:r>
              <a:rPr lang="en-US" altLang="zh-TW" dirty="0"/>
              <a:t>(loading), </a:t>
            </a:r>
            <a:r>
              <a:rPr lang="zh-TW" altLang="en-US" dirty="0"/>
              <a:t>：新變數與舊變數間的相關係數稱為負荷</a:t>
            </a:r>
            <a:r>
              <a:rPr lang="en-US" altLang="zh-TW" dirty="0"/>
              <a:t>(loading)</a:t>
            </a:r>
            <a:r>
              <a:rPr lang="zh-TW" altLang="en-US" dirty="0"/>
              <a:t>。附 和表示原變數對於新變數的影響力或重要性。附和愈大表示原始變數對 於新變數的影響力愈高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FBDE70-6B9F-4EA8-92FF-5F83CF0FDDF2}"/>
              </a:ext>
            </a:extLst>
          </p:cNvPr>
          <p:cNvSpPr/>
          <p:nvPr/>
        </p:nvSpPr>
        <p:spPr>
          <a:xfrm>
            <a:off x="5991225" y="220456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個別變數與因素之間的相關性 </a:t>
            </a:r>
            <a:r>
              <a:rPr lang="en-US" altLang="zh-TW" b="1" dirty="0">
                <a:solidFill>
                  <a:srgbClr val="424242"/>
                </a:solidFill>
                <a:latin typeface="Open Sans"/>
              </a:rPr>
              <a:t>(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沒轉軸前</a:t>
            </a:r>
            <a:r>
              <a:rPr lang="en-US" altLang="zh-TW" b="1" dirty="0">
                <a:solidFill>
                  <a:srgbClr val="424242"/>
                </a:solidFill>
                <a:latin typeface="Open Sans"/>
              </a:rPr>
              <a:t>)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，所以這個值如同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Pearson correlations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一樣，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數值介於</a:t>
            </a:r>
            <a:r>
              <a:rPr lang="en-US" altLang="zh-TW" b="1" dirty="0">
                <a:solidFill>
                  <a:srgbClr val="424242"/>
                </a:solidFill>
                <a:latin typeface="Open Sans"/>
              </a:rPr>
              <a:t>-1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至</a:t>
            </a:r>
            <a:r>
              <a:rPr lang="en-US" altLang="zh-TW" b="1" dirty="0">
                <a:solidFill>
                  <a:srgbClr val="424242"/>
                </a:solidFill>
                <a:latin typeface="Open Sans"/>
              </a:rPr>
              <a:t>1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之間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。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因素負荷量的平方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也就是這個因素可以解釋多少這個變數。舉例來說，如果因素負荷量是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0.4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，那表示該因素可解釋此變數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0.16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的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variance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。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EDD9DC-773E-449D-90D1-589C77D8591D}"/>
              </a:ext>
            </a:extLst>
          </p:cNvPr>
          <p:cNvSpPr/>
          <p:nvPr/>
        </p:nvSpPr>
        <p:spPr>
          <a:xfrm>
            <a:off x="6191250" y="3748640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zh-TW" altLang="en-US" dirty="0">
                <a:solidFill>
                  <a:srgbClr val="424242"/>
                </a:solidFill>
                <a:latin typeface="Open Sans"/>
              </a:rPr>
              <a:t>我看到也有人稱為 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characteristic roots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。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在作因素分析時，每一個因素都會得到一個 </a:t>
            </a:r>
            <a:r>
              <a:rPr lang="en-US" altLang="zh-TW" b="1" dirty="0">
                <a:solidFill>
                  <a:srgbClr val="424242"/>
                </a:solidFill>
                <a:latin typeface="Open Sans"/>
              </a:rPr>
              <a:t>eigenvalues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，而這個值表示在所有的變數裡面，這個因素可以解釋多少的 </a:t>
            </a:r>
            <a:r>
              <a:rPr lang="en-US" altLang="zh-TW" b="1" dirty="0">
                <a:solidFill>
                  <a:srgbClr val="424242"/>
                </a:solidFill>
                <a:latin typeface="Open Sans"/>
              </a:rPr>
              <a:t>variance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。所以如果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你有十個變數，所有因素的</a:t>
            </a:r>
            <a:r>
              <a:rPr lang="en-US" altLang="zh-TW" b="1" dirty="0">
                <a:solidFill>
                  <a:srgbClr val="424242"/>
                </a:solidFill>
                <a:latin typeface="Open Sans"/>
              </a:rPr>
              <a:t>eigenvalues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加總應該要等於十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。</a:t>
            </a:r>
          </a:p>
          <a:p>
            <a:pPr fontAlgn="base"/>
            <a:r>
              <a:rPr lang="zh-TW" altLang="en-US" dirty="0">
                <a:solidFill>
                  <a:srgbClr val="424242"/>
                </a:solidFill>
                <a:latin typeface="Open Sans"/>
              </a:rPr>
              <a:t>換言之，如果特徵值太小，表示此 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factor 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只能解釋非常少部分的變數特這對減少變數量並沒有什麼幫助。怎樣算是少呢？其實並沒有定論，但 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rule of thumb 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是不得小於 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1 (Harman, 1976)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。</a:t>
            </a:r>
          </a:p>
          <a:p>
            <a:pPr fontAlgn="base"/>
            <a:r>
              <a:rPr lang="zh-TW" altLang="en-US" dirty="0">
                <a:solidFill>
                  <a:srgbClr val="424242"/>
                </a:solidFill>
                <a:latin typeface="Open Sans"/>
              </a:rPr>
              <a:t>為什麼呢？其實道理跟特徵值的定義有關。</a:t>
            </a:r>
            <a:r>
              <a:rPr lang="zh-TW" altLang="en-US" b="1" dirty="0">
                <a:solidFill>
                  <a:srgbClr val="FF0000"/>
                </a:solidFill>
                <a:latin typeface="Open Sans"/>
              </a:rPr>
              <a:t>如果特徵值小於 </a:t>
            </a:r>
            <a:r>
              <a:rPr lang="en-US" altLang="zh-TW" b="1" dirty="0">
                <a:solidFill>
                  <a:srgbClr val="FF0000"/>
                </a:solidFill>
                <a:latin typeface="Open Sans"/>
              </a:rPr>
              <a:t>1</a:t>
            </a:r>
            <a:r>
              <a:rPr lang="zh-TW" altLang="en-US" b="1" dirty="0">
                <a:solidFill>
                  <a:srgbClr val="FF0000"/>
                </a:solidFill>
                <a:latin typeface="Open Sans"/>
              </a:rPr>
              <a:t>，表示此因素解釋少於</a:t>
            </a:r>
            <a:r>
              <a:rPr lang="en-US" altLang="zh-TW" b="1" dirty="0">
                <a:solidFill>
                  <a:srgbClr val="FF0000"/>
                </a:solidFill>
                <a:latin typeface="Open Sans"/>
              </a:rPr>
              <a:t>1</a:t>
            </a:r>
            <a:r>
              <a:rPr lang="zh-TW" altLang="en-US" b="1" dirty="0">
                <a:solidFill>
                  <a:srgbClr val="FF0000"/>
                </a:solidFill>
                <a:latin typeface="Open Sans"/>
              </a:rPr>
              <a:t>個變數，當然也就不適合放在納入考量了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。</a:t>
            </a:r>
          </a:p>
          <a:p>
            <a:pPr fontAlgn="base"/>
            <a:r>
              <a:rPr lang="zh-TW" altLang="en-US" dirty="0">
                <a:solidFill>
                  <a:srgbClr val="424242"/>
                </a:solidFill>
                <a:latin typeface="Open Sans"/>
              </a:rPr>
              <a:t>有時候除了看 </a:t>
            </a:r>
            <a:r>
              <a:rPr lang="en-US" altLang="zh-TW" dirty="0">
                <a:solidFill>
                  <a:srgbClr val="424242"/>
                </a:solidFill>
                <a:latin typeface="Open Sans"/>
              </a:rPr>
              <a:t>eigenvalue 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以外，還可以看一下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每個因素解釋多少 </a:t>
            </a:r>
            <a:r>
              <a:rPr lang="en-US" altLang="zh-TW" b="1" dirty="0">
                <a:solidFill>
                  <a:srgbClr val="424242"/>
                </a:solidFill>
                <a:latin typeface="Open Sans"/>
              </a:rPr>
              <a:t>% of variance</a:t>
            </a:r>
            <a:r>
              <a:rPr lang="zh-TW" altLang="en-US" b="1" dirty="0">
                <a:solidFill>
                  <a:srgbClr val="424242"/>
                </a:solidFill>
                <a:latin typeface="Open Sans"/>
              </a:rPr>
              <a:t>，這有助於你了解這些因素整體所能解釋的比例</a:t>
            </a:r>
            <a:r>
              <a:rPr lang="zh-TW" altLang="en-US" dirty="0">
                <a:solidFill>
                  <a:srgbClr val="424242"/>
                </a:solidFill>
                <a:latin typeface="Open Sans"/>
              </a:rPr>
              <a:t>。</a:t>
            </a:r>
            <a:endParaRPr lang="zh-TW" altLang="en-US" b="0" i="0" dirty="0">
              <a:solidFill>
                <a:srgbClr val="424242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18034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E99125A-CED8-46AE-92A7-AE81609195E2}"/>
              </a:ext>
            </a:extLst>
          </p:cNvPr>
          <p:cNvSpPr txBox="1"/>
          <p:nvPr/>
        </p:nvSpPr>
        <p:spPr>
          <a:xfrm>
            <a:off x="3829050" y="1752600"/>
            <a:ext cx="4448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選擇了</a:t>
            </a:r>
            <a:r>
              <a:rPr lang="en-US" altLang="zh-TW" dirty="0"/>
              <a:t>2</a:t>
            </a:r>
            <a:r>
              <a:rPr lang="zh-TW" altLang="en-US" dirty="0"/>
              <a:t>個變數</a:t>
            </a:r>
          </a:p>
        </p:txBody>
      </p:sp>
    </p:spTree>
    <p:extLst>
      <p:ext uri="{BB962C8B-B14F-4D97-AF65-F5344CB8AC3E}">
        <p14:creationId xmlns:p14="http://schemas.microsoft.com/office/powerpoint/2010/main" val="940831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C0A3290-29C6-47F1-AFD1-C295651F3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833" y="2441809"/>
            <a:ext cx="32194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6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B23B531-B9D5-4E7B-9738-9E9237F273E0}"/>
              </a:ext>
            </a:extLst>
          </p:cNvPr>
          <p:cNvSpPr txBox="1"/>
          <p:nvPr/>
        </p:nvSpPr>
        <p:spPr>
          <a:xfrm>
            <a:off x="3467100" y="1352550"/>
            <a:ext cx="626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解讀</a:t>
            </a:r>
            <a:r>
              <a:rPr lang="en-US" altLang="zh-TW" dirty="0"/>
              <a:t>y1,y2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E3754E-2610-4479-AB26-9B4AAB821AC9}"/>
              </a:ext>
            </a:extLst>
          </p:cNvPr>
          <p:cNvSpPr/>
          <p:nvPr/>
        </p:nvSpPr>
        <p:spPr>
          <a:xfrm>
            <a:off x="5923002" y="1352550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333333"/>
                </a:solidFill>
                <a:latin typeface="Arial" panose="020B0604020202020204" pitchFamily="34" charset="0"/>
              </a:rPr>
              <a:t>品牌價值，品牌信任度</a:t>
            </a:r>
            <a:endParaRPr lang="zh-TW" altLang="en-US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EB24970C-8DF1-4A11-917E-3E6BED8F95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002770"/>
              </p:ext>
            </p:extLst>
          </p:nvPr>
        </p:nvGraphicFramePr>
        <p:xfrm>
          <a:off x="1524000" y="3073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id="{CE1C57F5-E067-481D-A402-B70846D7E4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923714"/>
              </p:ext>
            </p:extLst>
          </p:nvPr>
        </p:nvGraphicFramePr>
        <p:xfrm>
          <a:off x="6675120" y="291084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B3D4944C-ED14-4508-A6F2-32D67024C7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370248"/>
              </p:ext>
            </p:extLst>
          </p:nvPr>
        </p:nvGraphicFramePr>
        <p:xfrm>
          <a:off x="381000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54721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343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806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97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B9DA1A9-C74E-4952-88FF-8AF6B70A7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12" y="1138237"/>
            <a:ext cx="536257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99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1C65D95-1F0E-452B-A68F-43CFDD170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75" y="1271587"/>
            <a:ext cx="62674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1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3E208D0-4A79-4BA9-B557-DA37E00D8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20" y="355917"/>
            <a:ext cx="7924800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49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6E6314B-CC8B-4243-ABE0-5504B8EB1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09550"/>
            <a:ext cx="111633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96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3F2809F-D67D-44E5-A043-DEC4085CF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928687"/>
            <a:ext cx="78486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51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1D61749-840B-4E7A-B273-4C82EE4FC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1109662"/>
            <a:ext cx="55149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98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569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65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082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16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775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056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3551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474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319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463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292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006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4703</TotalTime>
  <Words>976</Words>
  <Application>Microsoft Office PowerPoint</Application>
  <PresentationFormat>寬螢幕</PresentationFormat>
  <Paragraphs>67</Paragraphs>
  <Slides>38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3" baseType="lpstr">
      <vt:lpstr>Open Sans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貞妮 林</dc:creator>
  <cp:lastModifiedBy>貞妮 林</cp:lastModifiedBy>
  <cp:revision>50</cp:revision>
  <dcterms:created xsi:type="dcterms:W3CDTF">2019-03-19T22:07:31Z</dcterms:created>
  <dcterms:modified xsi:type="dcterms:W3CDTF">2019-03-23T11:28:29Z</dcterms:modified>
</cp:coreProperties>
</file>