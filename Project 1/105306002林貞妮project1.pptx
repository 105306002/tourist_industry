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tags/tag6.xml" ContentType="application/vnd.openxmlformats-officedocument.presentationml.tags+xml"/>
  <Override PartName="/ppt/theme/themeOverride2.xml" ContentType="application/vnd.openxmlformats-officedocument.themeOverr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7.xml" ContentType="application/vnd.openxmlformats-officedocument.presentationml.tag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8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Ex1.xml" ContentType="application/vnd.ms-office.chartex+xml"/>
  <Override PartName="/ppt/charts/style4.xml" ContentType="application/vnd.ms-office.chartstyle+xml"/>
  <Override PartName="/ppt/charts/colors4.xml" ContentType="application/vnd.ms-office.chartcolorstyle+xml"/>
  <Override PartName="/ppt/charts/chartEx2.xml" ContentType="application/vnd.ms-office.chartex+xml"/>
  <Override PartName="/ppt/charts/style5.xml" ContentType="application/vnd.ms-office.chartstyle+xml"/>
  <Override PartName="/ppt/charts/colors5.xml" ContentType="application/vnd.ms-office.chartcolorstyle+xml"/>
  <Override PartName="/ppt/charts/chart4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5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Ex3.xml" ContentType="application/vnd.ms-office.chartex+xml"/>
  <Override PartName="/ppt/charts/style8.xml" ContentType="application/vnd.ms-office.chartstyle+xml"/>
  <Override PartName="/ppt/charts/colors8.xml" ContentType="application/vnd.ms-office.chartcolorstyle+xml"/>
  <Override PartName="/ppt/charts/chartEx4.xml" ContentType="application/vnd.ms-office.chartex+xml"/>
  <Override PartName="/ppt/charts/style9.xml" ContentType="application/vnd.ms-office.chartstyle+xml"/>
  <Override PartName="/ppt/charts/colors9.xml" ContentType="application/vnd.ms-office.chartcolorstyle+xml"/>
  <Override PartName="/ppt/charts/chartEx5.xml" ContentType="application/vnd.ms-office.chartex+xml"/>
  <Override PartName="/ppt/charts/style10.xml" ContentType="application/vnd.ms-office.chartstyle+xml"/>
  <Override PartName="/ppt/charts/colors10.xml" ContentType="application/vnd.ms-office.chartcolorstyle+xml"/>
  <Override PartName="/ppt/charts/chart6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charts/chart7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charts/chart8.xml" ContentType="application/vnd.openxmlformats-officedocument.drawingml.chart+xml"/>
  <Override PartName="/ppt/charts/style13.xml" ContentType="application/vnd.ms-office.chartstyle+xml"/>
  <Override PartName="/ppt/charts/colors13.xml" ContentType="application/vnd.ms-office.chartcolorstyle+xml"/>
  <Override PartName="/ppt/charts/chart9.xml" ContentType="application/vnd.openxmlformats-officedocument.drawingml.chart+xml"/>
  <Override PartName="/ppt/charts/style14.xml" ContentType="application/vnd.ms-office.chartstyle+xml"/>
  <Override PartName="/ppt/charts/colors14.xml" ContentType="application/vnd.ms-office.chartcolorstyle+xml"/>
  <Override PartName="/ppt/charts/chart10.xml" ContentType="application/vnd.openxmlformats-officedocument.drawingml.chart+xml"/>
  <Override PartName="/ppt/charts/style15.xml" ContentType="application/vnd.ms-office.chartstyle+xml"/>
  <Override PartName="/ppt/charts/colors15.xml" ContentType="application/vnd.ms-office.chartcolorstyle+xml"/>
  <Override PartName="/ppt/charts/chart11.xml" ContentType="application/vnd.openxmlformats-officedocument.drawingml.chart+xml"/>
  <Override PartName="/ppt/charts/style16.xml" ContentType="application/vnd.ms-office.chartstyle+xml"/>
  <Override PartName="/ppt/charts/colors16.xml" ContentType="application/vnd.ms-office.chartcolorstyle+xml"/>
  <Override PartName="/ppt/charts/chart12.xml" ContentType="application/vnd.openxmlformats-officedocument.drawingml.chart+xml"/>
  <Override PartName="/ppt/charts/style17.xml" ContentType="application/vnd.ms-office.chartstyle+xml"/>
  <Override PartName="/ppt/charts/colors17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0"/>
  </p:notesMasterIdLst>
  <p:sldIdLst>
    <p:sldId id="258" r:id="rId2"/>
    <p:sldId id="259" r:id="rId3"/>
    <p:sldId id="260" r:id="rId4"/>
    <p:sldId id="261" r:id="rId5"/>
    <p:sldId id="264" r:id="rId6"/>
    <p:sldId id="262" r:id="rId7"/>
    <p:sldId id="278" r:id="rId8"/>
    <p:sldId id="279" r:id="rId9"/>
    <p:sldId id="268" r:id="rId10"/>
    <p:sldId id="263" r:id="rId11"/>
    <p:sldId id="280" r:id="rId12"/>
    <p:sldId id="270" r:id="rId13"/>
    <p:sldId id="281" r:id="rId14"/>
    <p:sldId id="269" r:id="rId15"/>
    <p:sldId id="284" r:id="rId16"/>
    <p:sldId id="283" r:id="rId17"/>
    <p:sldId id="285" r:id="rId18"/>
    <p:sldId id="291" r:id="rId19"/>
    <p:sldId id="286" r:id="rId20"/>
    <p:sldId id="287" r:id="rId21"/>
    <p:sldId id="288" r:id="rId22"/>
    <p:sldId id="289" r:id="rId23"/>
    <p:sldId id="290" r:id="rId24"/>
    <p:sldId id="294" r:id="rId25"/>
    <p:sldId id="292" r:id="rId26"/>
    <p:sldId id="293" r:id="rId27"/>
    <p:sldId id="295" r:id="rId28"/>
    <p:sldId id="277" r:id="rId2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78F8E"/>
    <a:srgbClr val="EDD1CF"/>
    <a:srgbClr val="523A2C"/>
    <a:srgbClr val="F8EDEC"/>
    <a:srgbClr val="F3E8E7"/>
    <a:srgbClr val="4F392B"/>
    <a:srgbClr val="F6E8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72" autoAdjust="0"/>
    <p:restoredTop sz="93809" autoAdjust="0"/>
  </p:normalViewPr>
  <p:slideViewPr>
    <p:cSldViewPr snapToGrid="0">
      <p:cViewPr varScale="1">
        <p:scale>
          <a:sx n="63" d="100"/>
          <a:sy n="63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jennie\Downloads\12.csv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jennie\Downloads\12.csv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jennie\Downloads\12.csv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jennie\Downloads\12.csv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jennie\Downloads\12.csv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&#27963;&#38913;&#31807;1" TargetMode="External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&#27963;&#38913;&#31807;1" TargetMode="External"/><Relationship Id="rId2" Type="http://schemas.microsoft.com/office/2011/relationships/chartColorStyle" Target="colors12.xml"/><Relationship Id="rId1" Type="http://schemas.microsoft.com/office/2011/relationships/chartStyle" Target="style12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&#27963;&#38913;&#31807;1" TargetMode="External"/><Relationship Id="rId2" Type="http://schemas.microsoft.com/office/2011/relationships/chartColorStyle" Target="colors13.xml"/><Relationship Id="rId1" Type="http://schemas.microsoft.com/office/2011/relationships/chartStyle" Target="style13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oleObject" Target="&#27963;&#38913;&#31807;1" TargetMode="External"/><Relationship Id="rId2" Type="http://schemas.microsoft.com/office/2011/relationships/chartColorStyle" Target="colors14.xml"/><Relationship Id="rId1" Type="http://schemas.microsoft.com/office/2011/relationships/chartStyle" Target="style14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oleObject" Target="&#27963;&#38913;&#31807;1" TargetMode="External"/><Relationship Id="rId2" Type="http://schemas.microsoft.com/office/2011/relationships/chartColorStyle" Target="colors15.xml"/><Relationship Id="rId1" Type="http://schemas.microsoft.com/office/2011/relationships/chartStyle" Target="style15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oleObject" Target="&#27963;&#38913;&#31807;1" TargetMode="External"/><Relationship Id="rId2" Type="http://schemas.microsoft.com/office/2011/relationships/chartColorStyle" Target="colors16.xml"/><Relationship Id="rId1" Type="http://schemas.microsoft.com/office/2011/relationships/chartStyle" Target="style16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oleObject" Target="&#27963;&#38913;&#31807;1" TargetMode="External"/><Relationship Id="rId2" Type="http://schemas.microsoft.com/office/2011/relationships/chartColorStyle" Target="colors17.xml"/><Relationship Id="rId1" Type="http://schemas.microsoft.com/office/2011/relationships/chartStyle" Target="style17.xml"/></Relationships>
</file>

<file path=ppt/charts/_rels/chartEx1.xml.rels><?xml version="1.0" encoding="UTF-8" standalone="yes"?>
<Relationships xmlns="http://schemas.openxmlformats.org/package/2006/relationships"><Relationship Id="rId3" Type="http://schemas.microsoft.com/office/2011/relationships/chartColorStyle" Target="colors4.xml"/><Relationship Id="rId2" Type="http://schemas.microsoft.com/office/2011/relationships/chartStyle" Target="style4.xml"/><Relationship Id="rId1" Type="http://schemas.openxmlformats.org/officeDocument/2006/relationships/oleObject" Target="file:///C:\Users\jennie\Downloads\12.csv" TargetMode="External"/></Relationships>
</file>

<file path=ppt/charts/_rels/chartEx2.xml.rels><?xml version="1.0" encoding="UTF-8" standalone="yes"?>
<Relationships xmlns="http://schemas.openxmlformats.org/package/2006/relationships"><Relationship Id="rId3" Type="http://schemas.microsoft.com/office/2011/relationships/chartColorStyle" Target="colors5.xml"/><Relationship Id="rId2" Type="http://schemas.microsoft.com/office/2011/relationships/chartStyle" Target="style5.xml"/><Relationship Id="rId1" Type="http://schemas.openxmlformats.org/officeDocument/2006/relationships/oleObject" Target="file:///C:\Users\jennie\Downloads\12.csv" TargetMode="External"/></Relationships>
</file>

<file path=ppt/charts/_rels/chartEx3.xml.rels><?xml version="1.0" encoding="UTF-8" standalone="yes"?>
<Relationships xmlns="http://schemas.openxmlformats.org/package/2006/relationships"><Relationship Id="rId3" Type="http://schemas.microsoft.com/office/2011/relationships/chartColorStyle" Target="colors8.xml"/><Relationship Id="rId2" Type="http://schemas.microsoft.com/office/2011/relationships/chartStyle" Target="style8.xml"/><Relationship Id="rId1" Type="http://schemas.openxmlformats.org/officeDocument/2006/relationships/oleObject" Target="&#27963;&#38913;&#31807;1" TargetMode="External"/></Relationships>
</file>

<file path=ppt/charts/_rels/chartEx4.xml.rels><?xml version="1.0" encoding="UTF-8" standalone="yes"?>
<Relationships xmlns="http://schemas.openxmlformats.org/package/2006/relationships"><Relationship Id="rId3" Type="http://schemas.microsoft.com/office/2011/relationships/chartColorStyle" Target="colors9.xml"/><Relationship Id="rId2" Type="http://schemas.microsoft.com/office/2011/relationships/chartStyle" Target="style9.xml"/><Relationship Id="rId1" Type="http://schemas.openxmlformats.org/officeDocument/2006/relationships/oleObject" Target="&#27963;&#38913;&#31807;1" TargetMode="External"/></Relationships>
</file>

<file path=ppt/charts/_rels/chartEx5.xml.rels><?xml version="1.0" encoding="UTF-8" standalone="yes"?>
<Relationships xmlns="http://schemas.openxmlformats.org/package/2006/relationships"><Relationship Id="rId3" Type="http://schemas.microsoft.com/office/2011/relationships/chartColorStyle" Target="colors10.xml"/><Relationship Id="rId2" Type="http://schemas.microsoft.com/office/2011/relationships/chartStyle" Target="style10.xml"/><Relationship Id="rId1" Type="http://schemas.openxmlformats.org/officeDocument/2006/relationships/oleObject" Target="&#27963;&#38913;&#31807;1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5"/>
    </mc:Choice>
    <mc:Fallback>
      <c:style val="5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'12'!$L$1</c:f>
              <c:strCache>
                <c:ptCount val="1"/>
                <c:pt idx="0">
                  <c:v>FAC1_1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val>
            <c:numRef>
              <c:f>'12'!$L$2:$L$33</c:f>
              <c:numCache>
                <c:formatCode>General</c:formatCode>
                <c:ptCount val="32"/>
                <c:pt idx="0">
                  <c:v>0</c:v>
                </c:pt>
                <c:pt idx="1">
                  <c:v>0</c:v>
                </c:pt>
                <c:pt idx="2">
                  <c:v>2.8759587325152798</c:v>
                </c:pt>
                <c:pt idx="3">
                  <c:v>2.4391552099884901</c:v>
                </c:pt>
                <c:pt idx="4">
                  <c:v>1.53861176210105</c:v>
                </c:pt>
                <c:pt idx="5">
                  <c:v>1.1288277101942501</c:v>
                </c:pt>
                <c:pt idx="6">
                  <c:v>0.97187079427120004</c:v>
                </c:pt>
                <c:pt idx="7">
                  <c:v>1.37780925990031</c:v>
                </c:pt>
                <c:pt idx="8">
                  <c:v>0.53607115747813705</c:v>
                </c:pt>
                <c:pt idx="9">
                  <c:v>0.28394329252884798</c:v>
                </c:pt>
                <c:pt idx="10">
                  <c:v>6.3317814443027198E-2</c:v>
                </c:pt>
                <c:pt idx="11">
                  <c:v>0.15958374485889401</c:v>
                </c:pt>
                <c:pt idx="12">
                  <c:v>-0.183060203633405</c:v>
                </c:pt>
                <c:pt idx="13">
                  <c:v>-0.19529797061253201</c:v>
                </c:pt>
                <c:pt idx="14">
                  <c:v>6.4338715872536506E-2</c:v>
                </c:pt>
                <c:pt idx="15">
                  <c:v>-0.30101522292592597</c:v>
                </c:pt>
                <c:pt idx="16">
                  <c:v>-0.63615716597412097</c:v>
                </c:pt>
                <c:pt idx="17">
                  <c:v>-0.61574934608000098</c:v>
                </c:pt>
                <c:pt idx="18">
                  <c:v>-0.25374218303236601</c:v>
                </c:pt>
                <c:pt idx="19">
                  <c:v>-0.59769454553891299</c:v>
                </c:pt>
                <c:pt idx="20">
                  <c:v>-0.304630972477481</c:v>
                </c:pt>
                <c:pt idx="21">
                  <c:v>-0.65648517665106898</c:v>
                </c:pt>
                <c:pt idx="22">
                  <c:v>-0.66980049660549301</c:v>
                </c:pt>
                <c:pt idx="23">
                  <c:v>-0.74234469089150101</c:v>
                </c:pt>
                <c:pt idx="24">
                  <c:v>-0.90591891976670402</c:v>
                </c:pt>
                <c:pt idx="25">
                  <c:v>-0.71243234589897797</c:v>
                </c:pt>
                <c:pt idx="26">
                  <c:v>-0.76242990709824898</c:v>
                </c:pt>
                <c:pt idx="27">
                  <c:v>-0.807058045191823</c:v>
                </c:pt>
                <c:pt idx="28">
                  <c:v>-0.93563832866540497</c:v>
                </c:pt>
                <c:pt idx="29">
                  <c:v>-0.75220974643697602</c:v>
                </c:pt>
                <c:pt idx="30">
                  <c:v>-0.77091601163831602</c:v>
                </c:pt>
                <c:pt idx="31">
                  <c:v>-0.63690691503275598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C2B-4B05-B688-20E09FD94F7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72401647"/>
        <c:axId val="178561055"/>
      </c:barChart>
      <c:catAx>
        <c:axId val="17240164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78561055"/>
        <c:crosses val="autoZero"/>
        <c:auto val="1"/>
        <c:lblAlgn val="ctr"/>
        <c:lblOffset val="100"/>
        <c:noMultiLvlLbl val="0"/>
      </c:catAx>
      <c:valAx>
        <c:axId val="17856105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7240164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TW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5"/>
    </mc:Choice>
    <mc:Fallback>
      <c:style val="5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'12'!$M$1</c:f>
              <c:strCache>
                <c:ptCount val="1"/>
                <c:pt idx="0">
                  <c:v>FAC2_1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val>
            <c:numRef>
              <c:f>'12'!$M$2:$M$33</c:f>
              <c:numCache>
                <c:formatCode>General</c:formatCode>
                <c:ptCount val="32"/>
                <c:pt idx="0">
                  <c:v>0</c:v>
                </c:pt>
                <c:pt idx="1">
                  <c:v>0</c:v>
                </c:pt>
                <c:pt idx="2">
                  <c:v>2.35333739539593</c:v>
                </c:pt>
                <c:pt idx="3">
                  <c:v>1.4873691440464001</c:v>
                </c:pt>
                <c:pt idx="4">
                  <c:v>2.88367797316143E-2</c:v>
                </c:pt>
                <c:pt idx="5">
                  <c:v>-0.78380499100117895</c:v>
                </c:pt>
                <c:pt idx="6">
                  <c:v>-1.2023427685822801</c:v>
                </c:pt>
                <c:pt idx="7">
                  <c:v>-0.51226080975046795</c:v>
                </c:pt>
                <c:pt idx="8">
                  <c:v>-1.2128902691418899</c:v>
                </c:pt>
                <c:pt idx="9">
                  <c:v>-1.3519734574108599</c:v>
                </c:pt>
                <c:pt idx="10">
                  <c:v>-1.62643104707514</c:v>
                </c:pt>
                <c:pt idx="11">
                  <c:v>-1.3670127637189999</c:v>
                </c:pt>
                <c:pt idx="12">
                  <c:v>-1.0943892330182701</c:v>
                </c:pt>
                <c:pt idx="13">
                  <c:v>-1.10057805175762</c:v>
                </c:pt>
                <c:pt idx="14">
                  <c:v>-0.76529119387878897</c:v>
                </c:pt>
                <c:pt idx="15">
                  <c:v>-0.54920473248230495</c:v>
                </c:pt>
                <c:pt idx="16">
                  <c:v>-0.53668060167616205</c:v>
                </c:pt>
                <c:pt idx="17">
                  <c:v>-0.57658089858716199</c:v>
                </c:pt>
                <c:pt idx="18">
                  <c:v>0.23515523901398899</c:v>
                </c:pt>
                <c:pt idx="19">
                  <c:v>0.42103226710771702</c:v>
                </c:pt>
                <c:pt idx="20">
                  <c:v>0.45397500224024101</c:v>
                </c:pt>
                <c:pt idx="21">
                  <c:v>0.27824637321920298</c:v>
                </c:pt>
                <c:pt idx="22">
                  <c:v>0.232270205189231</c:v>
                </c:pt>
                <c:pt idx="23">
                  <c:v>0.38435854423815602</c:v>
                </c:pt>
                <c:pt idx="24">
                  <c:v>0.36758663755332099</c:v>
                </c:pt>
                <c:pt idx="25">
                  <c:v>0.69958995040473804</c:v>
                </c:pt>
                <c:pt idx="26">
                  <c:v>0.70151236614999202</c:v>
                </c:pt>
                <c:pt idx="27">
                  <c:v>0.72458680249595997</c:v>
                </c:pt>
                <c:pt idx="28">
                  <c:v>0.79947516392598705</c:v>
                </c:pt>
                <c:pt idx="29">
                  <c:v>0.93221592630810501</c:v>
                </c:pt>
                <c:pt idx="30">
                  <c:v>1.26664325800694</c:v>
                </c:pt>
                <c:pt idx="31">
                  <c:v>1.3132497630536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A2E-40A8-AA09-EA5BD6FBE79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5618751"/>
        <c:axId val="178572703"/>
      </c:barChart>
      <c:catAx>
        <c:axId val="56187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78572703"/>
        <c:crosses val="autoZero"/>
        <c:auto val="1"/>
        <c:lblAlgn val="ctr"/>
        <c:lblOffset val="100"/>
        <c:noMultiLvlLbl val="0"/>
      </c:catAx>
      <c:valAx>
        <c:axId val="17857270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561875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TW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1"/>
    </mc:Choice>
    <mc:Fallback>
      <c:style val="1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kern="1200" spc="0" baseline="0">
                <a:solidFill>
                  <a:srgbClr val="4D4D4D">
                    <a:lumMod val="65000"/>
                    <a:lumOff val="35000"/>
                  </a:srgbClr>
                </a:solidFill>
                <a:latin typeface="+mn-lt"/>
                <a:ea typeface="+mn-ea"/>
                <a:cs typeface="+mn-cs"/>
              </a:defRPr>
            </a:pPr>
            <a:r>
              <a:rPr lang="en-US" altLang="zh-TW" sz="1800" b="0" i="0" baseline="0" dirty="0">
                <a:effectLst/>
              </a:rPr>
              <a:t>FAC1_1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kern="1200" spc="0" baseline="0">
                <a:solidFill>
                  <a:srgbClr val="4D4D4D">
                    <a:lumMod val="65000"/>
                    <a:lumOff val="35000"/>
                  </a:srgbClr>
                </a:solidFill>
                <a:latin typeface="+mn-lt"/>
                <a:ea typeface="+mn-ea"/>
                <a:cs typeface="+mn-cs"/>
              </a:defRPr>
            </a:pPr>
            <a:r>
              <a:rPr lang="en-US" altLang="zh-TW" sz="1800" b="0" i="0" baseline="0" dirty="0">
                <a:effectLst/>
              </a:rPr>
              <a:t>FAC2_1</a:t>
            </a:r>
            <a:endParaRPr lang="zh-TW" altLang="zh-TW" dirty="0">
              <a:effectLst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kern="1200" spc="0" baseline="0">
                <a:solidFill>
                  <a:srgbClr val="4D4D4D">
                    <a:lumMod val="65000"/>
                    <a:lumOff val="35000"/>
                  </a:srgbClr>
                </a:solidFill>
                <a:latin typeface="+mn-lt"/>
                <a:ea typeface="+mn-ea"/>
                <a:cs typeface="+mn-cs"/>
              </a:defRPr>
            </a:pPr>
            <a:endParaRPr lang="zh-TW" altLang="zh-TW" dirty="0">
              <a:effectLst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kern="1200" spc="0" baseline="0">
                <a:solidFill>
                  <a:srgbClr val="4D4D4D">
                    <a:lumMod val="65000"/>
                    <a:lumOff val="35000"/>
                  </a:srgbClr>
                </a:solidFill>
                <a:latin typeface="+mn-lt"/>
                <a:ea typeface="+mn-ea"/>
                <a:cs typeface="+mn-cs"/>
              </a:defRPr>
            </a:pPr>
            <a:endParaRPr lang="zh-TW" alt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400" b="0" i="0" u="none" strike="noStrike" kern="1200" spc="0" baseline="0">
              <a:solidFill>
                <a:srgbClr val="4D4D4D">
                  <a:lumMod val="65000"/>
                  <a:lumOff val="35000"/>
                </a:srgbClr>
              </a:solidFill>
              <a:latin typeface="+mn-lt"/>
              <a:ea typeface="+mn-ea"/>
              <a:cs typeface="+mn-cs"/>
            </a:defRPr>
          </a:pPr>
          <a:endParaRPr lang="zh-TW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'12'!$L$2:$L$3</c:f>
              <c:strCache>
                <c:ptCount val="2"/>
                <c:pt idx="0">
                  <c:v> </c:v>
                </c:pt>
                <c:pt idx="1">
                  <c:v> </c:v>
                </c:pt>
              </c:strCache>
            </c:strRef>
          </c:tx>
          <c:spPr>
            <a:solidFill>
              <a:schemeClr val="dk1">
                <a:tint val="88500"/>
              </a:schemeClr>
            </a:solidFill>
            <a:ln>
              <a:noFill/>
            </a:ln>
            <a:effectLst/>
          </c:spPr>
          <c:invertIfNegative val="0"/>
          <c:val>
            <c:numRef>
              <c:f>'12'!$L$4:$L$33</c:f>
              <c:numCache>
                <c:formatCode>General</c:formatCode>
                <c:ptCount val="30"/>
                <c:pt idx="0">
                  <c:v>2.8759587325152798</c:v>
                </c:pt>
                <c:pt idx="1">
                  <c:v>2.4391552099884901</c:v>
                </c:pt>
                <c:pt idx="2">
                  <c:v>1.53861176210105</c:v>
                </c:pt>
                <c:pt idx="3">
                  <c:v>1.37780925990031</c:v>
                </c:pt>
                <c:pt idx="4">
                  <c:v>1.1288277101942501</c:v>
                </c:pt>
                <c:pt idx="5">
                  <c:v>0.97187079427120004</c:v>
                </c:pt>
                <c:pt idx="6">
                  <c:v>0.53607115747813705</c:v>
                </c:pt>
                <c:pt idx="7">
                  <c:v>0.28394329252884798</c:v>
                </c:pt>
                <c:pt idx="8">
                  <c:v>0.15958374485889401</c:v>
                </c:pt>
                <c:pt idx="9">
                  <c:v>6.4338715872536506E-2</c:v>
                </c:pt>
                <c:pt idx="10">
                  <c:v>6.3317814443027198E-2</c:v>
                </c:pt>
                <c:pt idx="11">
                  <c:v>-0.183060203633405</c:v>
                </c:pt>
                <c:pt idx="12">
                  <c:v>-0.19529797061253201</c:v>
                </c:pt>
                <c:pt idx="13">
                  <c:v>-0.25374218303236601</c:v>
                </c:pt>
                <c:pt idx="14">
                  <c:v>-0.30101522292592597</c:v>
                </c:pt>
                <c:pt idx="15">
                  <c:v>-0.304630972477481</c:v>
                </c:pt>
                <c:pt idx="16">
                  <c:v>-0.59769454553891299</c:v>
                </c:pt>
                <c:pt idx="17">
                  <c:v>-0.61574934608000098</c:v>
                </c:pt>
                <c:pt idx="18">
                  <c:v>-0.63615716597412097</c:v>
                </c:pt>
                <c:pt idx="19">
                  <c:v>-0.63690691503275598</c:v>
                </c:pt>
                <c:pt idx="20">
                  <c:v>-0.65648517665106898</c:v>
                </c:pt>
                <c:pt idx="21">
                  <c:v>-0.66980049660549301</c:v>
                </c:pt>
                <c:pt idx="22">
                  <c:v>-0.71243234589897797</c:v>
                </c:pt>
                <c:pt idx="23">
                  <c:v>-0.74234469089150101</c:v>
                </c:pt>
                <c:pt idx="24">
                  <c:v>-0.75220974643697602</c:v>
                </c:pt>
                <c:pt idx="25">
                  <c:v>-0.76242990709824898</c:v>
                </c:pt>
                <c:pt idx="26">
                  <c:v>-0.77091601163831602</c:v>
                </c:pt>
                <c:pt idx="27">
                  <c:v>-0.807058045191823</c:v>
                </c:pt>
                <c:pt idx="28">
                  <c:v>-0.90591891976670402</c:v>
                </c:pt>
                <c:pt idx="29">
                  <c:v>-0.93563832866540497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07E-4E23-B1DA-6522C8485FFF}"/>
            </c:ext>
          </c:extLst>
        </c:ser>
        <c:ser>
          <c:idx val="1"/>
          <c:order val="1"/>
          <c:tx>
            <c:strRef>
              <c:f>'12'!$M$2:$M$3</c:f>
              <c:strCache>
                <c:ptCount val="2"/>
                <c:pt idx="0">
                  <c:v> </c:v>
                </c:pt>
                <c:pt idx="1">
                  <c:v> </c:v>
                </c:pt>
              </c:strCache>
            </c:strRef>
          </c:tx>
          <c:spPr>
            <a:solidFill>
              <a:schemeClr val="dk1">
                <a:tint val="55000"/>
              </a:schemeClr>
            </a:solidFill>
            <a:ln>
              <a:noFill/>
            </a:ln>
            <a:effectLst/>
          </c:spPr>
          <c:invertIfNegative val="0"/>
          <c:val>
            <c:numRef>
              <c:f>'12'!$M$4:$M$33</c:f>
              <c:numCache>
                <c:formatCode>General</c:formatCode>
                <c:ptCount val="30"/>
                <c:pt idx="0">
                  <c:v>2.35333739539593</c:v>
                </c:pt>
                <c:pt idx="1">
                  <c:v>1.4873691440464001</c:v>
                </c:pt>
                <c:pt idx="2">
                  <c:v>2.88367797316143E-2</c:v>
                </c:pt>
                <c:pt idx="3">
                  <c:v>-0.78380499100117895</c:v>
                </c:pt>
                <c:pt idx="4">
                  <c:v>-1.2023427685822801</c:v>
                </c:pt>
                <c:pt idx="5">
                  <c:v>-0.51226080975046795</c:v>
                </c:pt>
                <c:pt idx="6">
                  <c:v>-1.2128902691418899</c:v>
                </c:pt>
                <c:pt idx="7">
                  <c:v>-1.3519734574108599</c:v>
                </c:pt>
                <c:pt idx="8">
                  <c:v>-1.62643104707514</c:v>
                </c:pt>
                <c:pt idx="9">
                  <c:v>-1.3670127637189999</c:v>
                </c:pt>
                <c:pt idx="10">
                  <c:v>-1.0943892330182701</c:v>
                </c:pt>
                <c:pt idx="11">
                  <c:v>-1.10057805175762</c:v>
                </c:pt>
                <c:pt idx="12">
                  <c:v>-0.76529119387878897</c:v>
                </c:pt>
                <c:pt idx="13">
                  <c:v>-0.54920473248230495</c:v>
                </c:pt>
                <c:pt idx="14">
                  <c:v>-0.53668060167616205</c:v>
                </c:pt>
                <c:pt idx="15">
                  <c:v>-0.57658089858716199</c:v>
                </c:pt>
                <c:pt idx="16">
                  <c:v>0.23515523901398899</c:v>
                </c:pt>
                <c:pt idx="17">
                  <c:v>0.42103226710771702</c:v>
                </c:pt>
                <c:pt idx="18">
                  <c:v>0.45397500224024101</c:v>
                </c:pt>
                <c:pt idx="19">
                  <c:v>0.27824637321920298</c:v>
                </c:pt>
                <c:pt idx="20">
                  <c:v>0.232270205189231</c:v>
                </c:pt>
                <c:pt idx="21">
                  <c:v>0.38435854423815602</c:v>
                </c:pt>
                <c:pt idx="22">
                  <c:v>0.36758663755332099</c:v>
                </c:pt>
                <c:pt idx="23">
                  <c:v>0.69958995040473804</c:v>
                </c:pt>
                <c:pt idx="24">
                  <c:v>0.70151236614999202</c:v>
                </c:pt>
                <c:pt idx="25">
                  <c:v>0.72458680249595997</c:v>
                </c:pt>
                <c:pt idx="26">
                  <c:v>0.79947516392598705</c:v>
                </c:pt>
                <c:pt idx="27">
                  <c:v>0.93221592630810501</c:v>
                </c:pt>
                <c:pt idx="28">
                  <c:v>1.26664325800694</c:v>
                </c:pt>
                <c:pt idx="29">
                  <c:v>1.3132497630536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07E-4E23-B1DA-6522C8485FF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961805855"/>
        <c:axId val="3035295"/>
      </c:barChart>
      <c:catAx>
        <c:axId val="196180585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3035295"/>
        <c:crosses val="autoZero"/>
        <c:auto val="1"/>
        <c:lblAlgn val="ctr"/>
        <c:lblOffset val="100"/>
        <c:noMultiLvlLbl val="0"/>
      </c:catAx>
      <c:valAx>
        <c:axId val="303529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96180585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TW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'12'!$L$1:$L$3</c:f>
              <c:strCache>
                <c:ptCount val="3"/>
                <c:pt idx="0">
                  <c:v>FAC1_1</c:v>
                </c:pt>
                <c:pt idx="1">
                  <c:v> </c:v>
                </c:pt>
                <c:pt idx="2">
                  <c:v> </c:v>
                </c:pt>
              </c:strCache>
            </c:strRef>
          </c:tx>
          <c:spPr>
            <a:ln w="1905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yVal>
            <c:numRef>
              <c:f>'12'!$L$4:$L$34</c:f>
              <c:numCache>
                <c:formatCode>General</c:formatCode>
                <c:ptCount val="31"/>
                <c:pt idx="0">
                  <c:v>2.8759587325152798</c:v>
                </c:pt>
                <c:pt idx="1">
                  <c:v>2.4391552099884901</c:v>
                </c:pt>
                <c:pt idx="2">
                  <c:v>1.53861176210105</c:v>
                </c:pt>
                <c:pt idx="3">
                  <c:v>1.37780925990031</c:v>
                </c:pt>
                <c:pt idx="4">
                  <c:v>1.1288277101942501</c:v>
                </c:pt>
                <c:pt idx="5">
                  <c:v>0.97187079427120004</c:v>
                </c:pt>
                <c:pt idx="6">
                  <c:v>0.53607115747813705</c:v>
                </c:pt>
                <c:pt idx="7">
                  <c:v>0.28394329252884798</c:v>
                </c:pt>
                <c:pt idx="8">
                  <c:v>0.15958374485889401</c:v>
                </c:pt>
                <c:pt idx="9">
                  <c:v>6.4338715872536506E-2</c:v>
                </c:pt>
                <c:pt idx="10">
                  <c:v>6.3317814443027198E-2</c:v>
                </c:pt>
                <c:pt idx="11">
                  <c:v>-0.183060203633405</c:v>
                </c:pt>
                <c:pt idx="12">
                  <c:v>-0.19529797061253201</c:v>
                </c:pt>
                <c:pt idx="13">
                  <c:v>-0.25374218303236601</c:v>
                </c:pt>
                <c:pt idx="14">
                  <c:v>-0.30101522292592597</c:v>
                </c:pt>
                <c:pt idx="15">
                  <c:v>-0.304630972477481</c:v>
                </c:pt>
                <c:pt idx="16">
                  <c:v>-0.59769454553891299</c:v>
                </c:pt>
                <c:pt idx="17">
                  <c:v>-0.61574934608000098</c:v>
                </c:pt>
                <c:pt idx="18">
                  <c:v>-0.63615716597412097</c:v>
                </c:pt>
                <c:pt idx="19">
                  <c:v>-0.63690691503275598</c:v>
                </c:pt>
                <c:pt idx="20">
                  <c:v>-0.65648517665106898</c:v>
                </c:pt>
                <c:pt idx="21">
                  <c:v>-0.66980049660549301</c:v>
                </c:pt>
                <c:pt idx="22">
                  <c:v>-0.71243234589897797</c:v>
                </c:pt>
                <c:pt idx="23">
                  <c:v>-0.74234469089150101</c:v>
                </c:pt>
                <c:pt idx="24">
                  <c:v>-0.75220974643697602</c:v>
                </c:pt>
                <c:pt idx="25">
                  <c:v>-0.76242990709824898</c:v>
                </c:pt>
                <c:pt idx="26">
                  <c:v>-0.77091601163831602</c:v>
                </c:pt>
                <c:pt idx="27">
                  <c:v>-0.807058045191823</c:v>
                </c:pt>
                <c:pt idx="28">
                  <c:v>-0.90591891976670402</c:v>
                </c:pt>
                <c:pt idx="29">
                  <c:v>-0.93563832866540497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D1A0-4B5F-83D2-FC50B9A0DE4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78164687"/>
        <c:axId val="178584351"/>
      </c:scatterChart>
      <c:valAx>
        <c:axId val="178164687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78584351"/>
        <c:crosses val="autoZero"/>
        <c:crossBetween val="midCat"/>
      </c:valAx>
      <c:valAx>
        <c:axId val="17858435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78164687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TW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'12'!$M$1:$M$3</c:f>
              <c:strCache>
                <c:ptCount val="3"/>
                <c:pt idx="0">
                  <c:v>FAC2_1</c:v>
                </c:pt>
                <c:pt idx="1">
                  <c:v> </c:v>
                </c:pt>
                <c:pt idx="2">
                  <c:v> </c:v>
                </c:pt>
              </c:strCache>
            </c:strRef>
          </c:tx>
          <c:spPr>
            <a:ln w="1905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yVal>
            <c:numRef>
              <c:f>'12'!$M$4:$M$34</c:f>
              <c:numCache>
                <c:formatCode>General</c:formatCode>
                <c:ptCount val="31"/>
                <c:pt idx="0">
                  <c:v>2.35333739539593</c:v>
                </c:pt>
                <c:pt idx="1">
                  <c:v>1.4873691440464001</c:v>
                </c:pt>
                <c:pt idx="2">
                  <c:v>2.88367797316143E-2</c:v>
                </c:pt>
                <c:pt idx="3">
                  <c:v>-0.78380499100117895</c:v>
                </c:pt>
                <c:pt idx="4">
                  <c:v>-1.2023427685822801</c:v>
                </c:pt>
                <c:pt idx="5">
                  <c:v>-0.51226080975046795</c:v>
                </c:pt>
                <c:pt idx="6">
                  <c:v>-1.2128902691418899</c:v>
                </c:pt>
                <c:pt idx="7">
                  <c:v>-1.3519734574108599</c:v>
                </c:pt>
                <c:pt idx="8">
                  <c:v>-1.62643104707514</c:v>
                </c:pt>
                <c:pt idx="9">
                  <c:v>-1.3670127637189999</c:v>
                </c:pt>
                <c:pt idx="10">
                  <c:v>-1.0943892330182701</c:v>
                </c:pt>
                <c:pt idx="11">
                  <c:v>-1.10057805175762</c:v>
                </c:pt>
                <c:pt idx="12">
                  <c:v>-0.76529119387878897</c:v>
                </c:pt>
                <c:pt idx="13">
                  <c:v>-0.54920473248230495</c:v>
                </c:pt>
                <c:pt idx="14">
                  <c:v>-0.53668060167616205</c:v>
                </c:pt>
                <c:pt idx="15">
                  <c:v>-0.57658089858716199</c:v>
                </c:pt>
                <c:pt idx="16">
                  <c:v>0.23515523901398899</c:v>
                </c:pt>
                <c:pt idx="17">
                  <c:v>0.42103226710771702</c:v>
                </c:pt>
                <c:pt idx="18">
                  <c:v>0.45397500224024101</c:v>
                </c:pt>
                <c:pt idx="19">
                  <c:v>0.27824637321920298</c:v>
                </c:pt>
                <c:pt idx="20">
                  <c:v>0.232270205189231</c:v>
                </c:pt>
                <c:pt idx="21">
                  <c:v>0.38435854423815602</c:v>
                </c:pt>
                <c:pt idx="22">
                  <c:v>0.36758663755332099</c:v>
                </c:pt>
                <c:pt idx="23">
                  <c:v>0.69958995040473804</c:v>
                </c:pt>
                <c:pt idx="24">
                  <c:v>0.70151236614999202</c:v>
                </c:pt>
                <c:pt idx="25">
                  <c:v>0.72458680249595997</c:v>
                </c:pt>
                <c:pt idx="26">
                  <c:v>0.79947516392598705</c:v>
                </c:pt>
                <c:pt idx="27">
                  <c:v>0.93221592630810501</c:v>
                </c:pt>
                <c:pt idx="28">
                  <c:v>1.26664325800694</c:v>
                </c:pt>
                <c:pt idx="29">
                  <c:v>1.3132497630536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812A-4929-9128-A67831D8757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3328415"/>
        <c:axId val="178557311"/>
      </c:scatterChart>
      <c:valAx>
        <c:axId val="3328415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78557311"/>
        <c:crosses val="autoZero"/>
        <c:crossBetween val="midCat"/>
      </c:valAx>
      <c:valAx>
        <c:axId val="17855731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3328415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TW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工作表2!$J$1</c:f>
              <c:strCache>
                <c:ptCount val="1"/>
                <c:pt idx="0">
                  <c:v>FAC1_1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val>
            <c:numRef>
              <c:f>工作表2!$J$2:$J$27</c:f>
              <c:numCache>
                <c:formatCode>General</c:formatCode>
                <c:ptCount val="26"/>
                <c:pt idx="0">
                  <c:v>2.04552887418936</c:v>
                </c:pt>
                <c:pt idx="1">
                  <c:v>1.8197579457669799</c:v>
                </c:pt>
                <c:pt idx="2">
                  <c:v>1.7284759309595701</c:v>
                </c:pt>
                <c:pt idx="3">
                  <c:v>1.4149571892558399</c:v>
                </c:pt>
                <c:pt idx="4">
                  <c:v>0.86075373514919995</c:v>
                </c:pt>
                <c:pt idx="5">
                  <c:v>0.48177674786963298</c:v>
                </c:pt>
                <c:pt idx="6">
                  <c:v>-0.120328088596229</c:v>
                </c:pt>
                <c:pt idx="7">
                  <c:v>-0.37462420844618</c:v>
                </c:pt>
                <c:pt idx="8">
                  <c:v>-0.43703691520410398</c:v>
                </c:pt>
                <c:pt idx="9">
                  <c:v>-0.50544565194650304</c:v>
                </c:pt>
                <c:pt idx="10">
                  <c:v>-0.51689780135753705</c:v>
                </c:pt>
                <c:pt idx="11">
                  <c:v>-0.54896978775641303</c:v>
                </c:pt>
                <c:pt idx="12">
                  <c:v>-0.59265368295103604</c:v>
                </c:pt>
                <c:pt idx="13">
                  <c:v>-0.61517284142336204</c:v>
                </c:pt>
                <c:pt idx="14">
                  <c:v>-0.63648633227019702</c:v>
                </c:pt>
                <c:pt idx="15">
                  <c:v>-0.70397923816377905</c:v>
                </c:pt>
                <c:pt idx="16">
                  <c:v>-0.73311549042907898</c:v>
                </c:pt>
                <c:pt idx="17">
                  <c:v>-0.79436368909491595</c:v>
                </c:pt>
                <c:pt idx="18">
                  <c:v>-0.85038613060471202</c:v>
                </c:pt>
                <c:pt idx="19">
                  <c:v>-0.921790564946533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E0B-4378-ABFD-81B5C1036DB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87615679"/>
        <c:axId val="185201615"/>
      </c:barChart>
      <c:catAx>
        <c:axId val="18761567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85201615"/>
        <c:crosses val="autoZero"/>
        <c:auto val="1"/>
        <c:lblAlgn val="ctr"/>
        <c:lblOffset val="100"/>
        <c:noMultiLvlLbl val="0"/>
      </c:catAx>
      <c:valAx>
        <c:axId val="18520161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8761567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TW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工作表2!$K$1</c:f>
              <c:strCache>
                <c:ptCount val="1"/>
                <c:pt idx="0">
                  <c:v>FAC2_1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val>
            <c:numRef>
              <c:f>工作表2!$K$2:$K$27</c:f>
              <c:numCache>
                <c:formatCode>General</c:formatCode>
                <c:ptCount val="26"/>
                <c:pt idx="0">
                  <c:v>1.99414335760678</c:v>
                </c:pt>
                <c:pt idx="1">
                  <c:v>0.99269010294337501</c:v>
                </c:pt>
                <c:pt idx="2">
                  <c:v>0.256119218347446</c:v>
                </c:pt>
                <c:pt idx="3">
                  <c:v>-1.6215818733988001</c:v>
                </c:pt>
                <c:pt idx="4">
                  <c:v>-0.740896370876726</c:v>
                </c:pt>
                <c:pt idx="5">
                  <c:v>-2.2498051367196901</c:v>
                </c:pt>
                <c:pt idx="6">
                  <c:v>-1.1465542917179199</c:v>
                </c:pt>
                <c:pt idx="7">
                  <c:v>8.3129016731692595E-2</c:v>
                </c:pt>
                <c:pt idx="8">
                  <c:v>-0.64880156172475101</c:v>
                </c:pt>
                <c:pt idx="9">
                  <c:v>-1.72995199533683E-2</c:v>
                </c:pt>
                <c:pt idx="10">
                  <c:v>0.132230372591818</c:v>
                </c:pt>
                <c:pt idx="11">
                  <c:v>8.8845863274310405E-3</c:v>
                </c:pt>
                <c:pt idx="12">
                  <c:v>-0.29952934166828699</c:v>
                </c:pt>
                <c:pt idx="13">
                  <c:v>-0.37950184171280399</c:v>
                </c:pt>
                <c:pt idx="14">
                  <c:v>0.20079816075169199</c:v>
                </c:pt>
                <c:pt idx="15">
                  <c:v>0.46710622160839199</c:v>
                </c:pt>
                <c:pt idx="16">
                  <c:v>0.114012674900695</c:v>
                </c:pt>
                <c:pt idx="17">
                  <c:v>0.66285104407220397</c:v>
                </c:pt>
                <c:pt idx="18">
                  <c:v>0.53702220701884396</c:v>
                </c:pt>
                <c:pt idx="19">
                  <c:v>1.65498297487197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4A1-43E8-ABD0-E164AABF0AF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5615951"/>
        <c:axId val="185178735"/>
      </c:barChart>
      <c:catAx>
        <c:axId val="56159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85178735"/>
        <c:crosses val="autoZero"/>
        <c:auto val="1"/>
        <c:lblAlgn val="ctr"/>
        <c:lblOffset val="100"/>
        <c:noMultiLvlLbl val="0"/>
      </c:catAx>
      <c:valAx>
        <c:axId val="18517873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561595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TW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工作表2!$L$1</c:f>
              <c:strCache>
                <c:ptCount val="1"/>
                <c:pt idx="0">
                  <c:v>FAC3_1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val>
            <c:numRef>
              <c:f>工作表2!$L$2:$L$27</c:f>
              <c:numCache>
                <c:formatCode>General</c:formatCode>
                <c:ptCount val="26"/>
                <c:pt idx="0">
                  <c:v>1.1900538222919601</c:v>
                </c:pt>
                <c:pt idx="1">
                  <c:v>0.183951859686032</c:v>
                </c:pt>
                <c:pt idx="2">
                  <c:v>-0.38471502027639398</c:v>
                </c:pt>
                <c:pt idx="3">
                  <c:v>-1.98307745463198</c:v>
                </c:pt>
                <c:pt idx="4">
                  <c:v>-0.196276872168414</c:v>
                </c:pt>
                <c:pt idx="5">
                  <c:v>-0.61322799651494198</c:v>
                </c:pt>
                <c:pt idx="6">
                  <c:v>1.25577629718967</c:v>
                </c:pt>
                <c:pt idx="7">
                  <c:v>0.83086260844028303</c:v>
                </c:pt>
                <c:pt idx="8">
                  <c:v>1.0581223060512299</c:v>
                </c:pt>
                <c:pt idx="9">
                  <c:v>0.85906686670668797</c:v>
                </c:pt>
                <c:pt idx="10">
                  <c:v>0.45859806378428303</c:v>
                </c:pt>
                <c:pt idx="11">
                  <c:v>0.83250638748945305</c:v>
                </c:pt>
                <c:pt idx="12">
                  <c:v>0.55489585116858997</c:v>
                </c:pt>
                <c:pt idx="13">
                  <c:v>-0.180064315511232</c:v>
                </c:pt>
                <c:pt idx="14">
                  <c:v>8.1793455483252606E-2</c:v>
                </c:pt>
                <c:pt idx="15">
                  <c:v>-0.26878032997504198</c:v>
                </c:pt>
                <c:pt idx="16">
                  <c:v>2.4062883082837098E-2</c:v>
                </c:pt>
                <c:pt idx="17">
                  <c:v>-0.36148921534420497</c:v>
                </c:pt>
                <c:pt idx="18">
                  <c:v>-0.69859576279705204</c:v>
                </c:pt>
                <c:pt idx="19">
                  <c:v>-2.6434634341550098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843-4B35-A92D-3BD74F1CC22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92908703"/>
        <c:axId val="185223247"/>
      </c:barChart>
      <c:catAx>
        <c:axId val="19290870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85223247"/>
        <c:crosses val="autoZero"/>
        <c:auto val="1"/>
        <c:lblAlgn val="ctr"/>
        <c:lblOffset val="100"/>
        <c:noMultiLvlLbl val="0"/>
      </c:catAx>
      <c:valAx>
        <c:axId val="18522324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9290870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TW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kern="1200" spc="0" baseline="0">
                <a:solidFill>
                  <a:srgbClr val="4D4D4D">
                    <a:lumMod val="65000"/>
                    <a:lumOff val="35000"/>
                  </a:srgbClr>
                </a:solidFill>
                <a:latin typeface="+mn-lt"/>
                <a:ea typeface="+mn-ea"/>
                <a:cs typeface="+mn-cs"/>
              </a:defRPr>
            </a:pPr>
            <a:r>
              <a:rPr lang="en-US" altLang="zh-TW" sz="1800" b="0" i="0" baseline="0" dirty="0">
                <a:effectLst/>
              </a:rPr>
              <a:t>FAC1_1</a:t>
            </a:r>
            <a:r>
              <a:rPr lang="zh-TW" altLang="en-US" sz="1800" b="0" i="0" baseline="0" dirty="0">
                <a:effectLst/>
              </a:rPr>
              <a:t> </a:t>
            </a:r>
            <a:endParaRPr lang="en-US" altLang="zh-TW" sz="1800" b="0" i="0" baseline="0" dirty="0">
              <a:effectLst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kern="1200" spc="0" baseline="0">
                <a:solidFill>
                  <a:srgbClr val="4D4D4D">
                    <a:lumMod val="65000"/>
                    <a:lumOff val="35000"/>
                  </a:srgbClr>
                </a:solidFill>
                <a:latin typeface="+mn-lt"/>
                <a:ea typeface="+mn-ea"/>
                <a:cs typeface="+mn-cs"/>
              </a:defRPr>
            </a:pPr>
            <a:r>
              <a:rPr lang="en-US" altLang="zh-TW" sz="1800" b="0" i="0" baseline="0" dirty="0">
                <a:effectLst/>
              </a:rPr>
              <a:t>FAC2_1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kern="1200" spc="0" baseline="0">
                <a:solidFill>
                  <a:srgbClr val="4D4D4D">
                    <a:lumMod val="65000"/>
                    <a:lumOff val="35000"/>
                  </a:srgbClr>
                </a:solidFill>
                <a:latin typeface="+mn-lt"/>
                <a:ea typeface="+mn-ea"/>
                <a:cs typeface="+mn-cs"/>
              </a:defRPr>
            </a:pPr>
            <a:r>
              <a:rPr lang="en-US" altLang="zh-TW" sz="1800" b="0" i="0" baseline="0" dirty="0">
                <a:effectLst/>
              </a:rPr>
              <a:t>FAC3_1</a:t>
            </a:r>
            <a:r>
              <a:rPr lang="zh-TW" altLang="en-US" sz="1800" b="0" i="0" baseline="0" dirty="0">
                <a:effectLst/>
              </a:rPr>
              <a:t> </a:t>
            </a:r>
            <a:endParaRPr lang="zh-TW" altLang="zh-TW" dirty="0">
              <a:effectLst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kern="1200" spc="0" baseline="0">
                <a:solidFill>
                  <a:srgbClr val="4D4D4D">
                    <a:lumMod val="65000"/>
                    <a:lumOff val="35000"/>
                  </a:srgbClr>
                </a:solidFill>
                <a:latin typeface="+mn-lt"/>
                <a:ea typeface="+mn-ea"/>
                <a:cs typeface="+mn-cs"/>
              </a:defRPr>
            </a:pPr>
            <a:endParaRPr lang="zh-TW" altLang="zh-TW" dirty="0">
              <a:effectLst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kern="1200" spc="0" baseline="0">
                <a:solidFill>
                  <a:srgbClr val="4D4D4D">
                    <a:lumMod val="65000"/>
                    <a:lumOff val="35000"/>
                  </a:srgbClr>
                </a:solidFill>
                <a:latin typeface="+mn-lt"/>
                <a:ea typeface="+mn-ea"/>
                <a:cs typeface="+mn-cs"/>
              </a:defRPr>
            </a:pPr>
            <a:endParaRPr lang="zh-TW" alt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400" b="0" i="0" u="none" strike="noStrike" kern="1200" spc="0" baseline="0">
              <a:solidFill>
                <a:srgbClr val="4D4D4D">
                  <a:lumMod val="65000"/>
                  <a:lumOff val="35000"/>
                </a:srgbClr>
              </a:solidFill>
              <a:latin typeface="+mn-lt"/>
              <a:ea typeface="+mn-ea"/>
              <a:cs typeface="+mn-cs"/>
            </a:defRPr>
          </a:pPr>
          <a:endParaRPr lang="zh-TW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工作表2!$J$1</c:f>
              <c:strCache>
                <c:ptCount val="1"/>
                <c:pt idx="0">
                  <c:v>FAC1_1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val>
            <c:numRef>
              <c:f>工作表2!$J$2:$J$27</c:f>
              <c:numCache>
                <c:formatCode>General</c:formatCode>
                <c:ptCount val="26"/>
                <c:pt idx="0">
                  <c:v>2.04552887418936</c:v>
                </c:pt>
                <c:pt idx="1">
                  <c:v>1.8197579457669799</c:v>
                </c:pt>
                <c:pt idx="2">
                  <c:v>1.7284759309595701</c:v>
                </c:pt>
                <c:pt idx="3">
                  <c:v>1.4149571892558399</c:v>
                </c:pt>
                <c:pt idx="4">
                  <c:v>0.86075373514919995</c:v>
                </c:pt>
                <c:pt idx="5">
                  <c:v>0.48177674786963298</c:v>
                </c:pt>
                <c:pt idx="6">
                  <c:v>-0.120328088596229</c:v>
                </c:pt>
                <c:pt idx="7">
                  <c:v>-0.37462420844618</c:v>
                </c:pt>
                <c:pt idx="8">
                  <c:v>-0.43703691520410398</c:v>
                </c:pt>
                <c:pt idx="9">
                  <c:v>-0.50544565194650304</c:v>
                </c:pt>
                <c:pt idx="10">
                  <c:v>-0.51689780135753705</c:v>
                </c:pt>
                <c:pt idx="11">
                  <c:v>-0.54896978775641303</c:v>
                </c:pt>
                <c:pt idx="12">
                  <c:v>-0.59265368295103604</c:v>
                </c:pt>
                <c:pt idx="13">
                  <c:v>-0.61517284142336204</c:v>
                </c:pt>
                <c:pt idx="14">
                  <c:v>-0.63648633227019702</c:v>
                </c:pt>
                <c:pt idx="15">
                  <c:v>-0.70397923816377905</c:v>
                </c:pt>
                <c:pt idx="16">
                  <c:v>-0.73311549042907898</c:v>
                </c:pt>
                <c:pt idx="17">
                  <c:v>-0.79436368909491595</c:v>
                </c:pt>
                <c:pt idx="18">
                  <c:v>-0.85038613060471202</c:v>
                </c:pt>
                <c:pt idx="19">
                  <c:v>-0.921790564946533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2B7-4906-AF9F-385F2818F803}"/>
            </c:ext>
          </c:extLst>
        </c:ser>
        <c:ser>
          <c:idx val="1"/>
          <c:order val="1"/>
          <c:tx>
            <c:strRef>
              <c:f>工作表2!$K$1</c:f>
              <c:strCache>
                <c:ptCount val="1"/>
                <c:pt idx="0">
                  <c:v>FAC2_1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val>
            <c:numRef>
              <c:f>工作表2!$K$2:$K$27</c:f>
              <c:numCache>
                <c:formatCode>General</c:formatCode>
                <c:ptCount val="26"/>
                <c:pt idx="0">
                  <c:v>1.99414335760678</c:v>
                </c:pt>
                <c:pt idx="1">
                  <c:v>0.99269010294337501</c:v>
                </c:pt>
                <c:pt idx="2">
                  <c:v>0.256119218347446</c:v>
                </c:pt>
                <c:pt idx="3">
                  <c:v>-1.6215818733988001</c:v>
                </c:pt>
                <c:pt idx="4">
                  <c:v>-0.740896370876726</c:v>
                </c:pt>
                <c:pt idx="5">
                  <c:v>-2.2498051367196901</c:v>
                </c:pt>
                <c:pt idx="6">
                  <c:v>-1.1465542917179199</c:v>
                </c:pt>
                <c:pt idx="7">
                  <c:v>8.3129016731692595E-2</c:v>
                </c:pt>
                <c:pt idx="8">
                  <c:v>-0.64880156172475101</c:v>
                </c:pt>
                <c:pt idx="9">
                  <c:v>-1.72995199533683E-2</c:v>
                </c:pt>
                <c:pt idx="10">
                  <c:v>0.132230372591818</c:v>
                </c:pt>
                <c:pt idx="11">
                  <c:v>8.8845863274310405E-3</c:v>
                </c:pt>
                <c:pt idx="12">
                  <c:v>-0.29952934166828699</c:v>
                </c:pt>
                <c:pt idx="13">
                  <c:v>-0.37950184171280399</c:v>
                </c:pt>
                <c:pt idx="14">
                  <c:v>0.20079816075169199</c:v>
                </c:pt>
                <c:pt idx="15">
                  <c:v>0.46710622160839199</c:v>
                </c:pt>
                <c:pt idx="16">
                  <c:v>0.114012674900695</c:v>
                </c:pt>
                <c:pt idx="17">
                  <c:v>0.66285104407220397</c:v>
                </c:pt>
                <c:pt idx="18">
                  <c:v>0.53702220701884396</c:v>
                </c:pt>
                <c:pt idx="19">
                  <c:v>1.65498297487197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2B7-4906-AF9F-385F2818F803}"/>
            </c:ext>
          </c:extLst>
        </c:ser>
        <c:ser>
          <c:idx val="2"/>
          <c:order val="2"/>
          <c:tx>
            <c:strRef>
              <c:f>工作表2!$L$1</c:f>
              <c:strCache>
                <c:ptCount val="1"/>
                <c:pt idx="0">
                  <c:v>FAC3_1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val>
            <c:numRef>
              <c:f>工作表2!$L$2:$L$27</c:f>
              <c:numCache>
                <c:formatCode>General</c:formatCode>
                <c:ptCount val="26"/>
                <c:pt idx="0">
                  <c:v>1.1900538222919601</c:v>
                </c:pt>
                <c:pt idx="1">
                  <c:v>0.183951859686032</c:v>
                </c:pt>
                <c:pt idx="2">
                  <c:v>-0.38471502027639398</c:v>
                </c:pt>
                <c:pt idx="3">
                  <c:v>-1.98307745463198</c:v>
                </c:pt>
                <c:pt idx="4">
                  <c:v>-0.196276872168414</c:v>
                </c:pt>
                <c:pt idx="5">
                  <c:v>-0.61322799651494198</c:v>
                </c:pt>
                <c:pt idx="6">
                  <c:v>1.25577629718967</c:v>
                </c:pt>
                <c:pt idx="7">
                  <c:v>0.83086260844028303</c:v>
                </c:pt>
                <c:pt idx="8">
                  <c:v>1.0581223060512299</c:v>
                </c:pt>
                <c:pt idx="9">
                  <c:v>0.85906686670668797</c:v>
                </c:pt>
                <c:pt idx="10">
                  <c:v>0.45859806378428303</c:v>
                </c:pt>
                <c:pt idx="11">
                  <c:v>0.83250638748945305</c:v>
                </c:pt>
                <c:pt idx="12">
                  <c:v>0.55489585116858997</c:v>
                </c:pt>
                <c:pt idx="13">
                  <c:v>-0.180064315511232</c:v>
                </c:pt>
                <c:pt idx="14">
                  <c:v>8.1793455483252606E-2</c:v>
                </c:pt>
                <c:pt idx="15">
                  <c:v>-0.26878032997504198</c:v>
                </c:pt>
                <c:pt idx="16">
                  <c:v>2.4062883082837098E-2</c:v>
                </c:pt>
                <c:pt idx="17">
                  <c:v>-0.36148921534420497</c:v>
                </c:pt>
                <c:pt idx="18">
                  <c:v>-0.69859576279705204</c:v>
                </c:pt>
                <c:pt idx="19">
                  <c:v>-2.6434634341550098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2B7-4906-AF9F-385F2818F80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87996991"/>
        <c:axId val="185248207"/>
      </c:barChart>
      <c:catAx>
        <c:axId val="18799699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85248207"/>
        <c:crosses val="autoZero"/>
        <c:auto val="1"/>
        <c:lblAlgn val="ctr"/>
        <c:lblOffset val="100"/>
        <c:noMultiLvlLbl val="0"/>
      </c:catAx>
      <c:valAx>
        <c:axId val="18524820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8799699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</c:legendEntry>
      <c:legendEntry>
        <c:idx val="1"/>
        <c:txPr>
          <a:bodyPr rot="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</c:legendEntry>
      <c:legendEntry>
        <c:idx val="2"/>
        <c:txPr>
          <a:bodyPr rot="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</c:legendEntry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TW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5"/>
    </mc:Choice>
    <mc:Fallback>
      <c:style val="5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工作表2!$J$1</c:f>
              <c:strCache>
                <c:ptCount val="1"/>
                <c:pt idx="0">
                  <c:v>FAC1_1</c:v>
                </c:pt>
              </c:strCache>
            </c:strRef>
          </c:tx>
          <c:spPr>
            <a:ln w="19050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yVal>
            <c:numRef>
              <c:f>工作表2!$J$2:$J$27</c:f>
              <c:numCache>
                <c:formatCode>General</c:formatCode>
                <c:ptCount val="26"/>
                <c:pt idx="0">
                  <c:v>2.04552887418936</c:v>
                </c:pt>
                <c:pt idx="1">
                  <c:v>1.8197579457669799</c:v>
                </c:pt>
                <c:pt idx="2">
                  <c:v>1.7284759309595701</c:v>
                </c:pt>
                <c:pt idx="3">
                  <c:v>1.4149571892558399</c:v>
                </c:pt>
                <c:pt idx="4">
                  <c:v>0.86075373514919995</c:v>
                </c:pt>
                <c:pt idx="5">
                  <c:v>0.48177674786963298</c:v>
                </c:pt>
                <c:pt idx="6">
                  <c:v>-0.120328088596229</c:v>
                </c:pt>
                <c:pt idx="7">
                  <c:v>-0.37462420844618</c:v>
                </c:pt>
                <c:pt idx="8">
                  <c:v>-0.43703691520410398</c:v>
                </c:pt>
                <c:pt idx="9">
                  <c:v>-0.50544565194650304</c:v>
                </c:pt>
                <c:pt idx="10">
                  <c:v>-0.51689780135753705</c:v>
                </c:pt>
                <c:pt idx="11">
                  <c:v>-0.54896978775641303</c:v>
                </c:pt>
                <c:pt idx="12">
                  <c:v>-0.59265368295103604</c:v>
                </c:pt>
                <c:pt idx="13">
                  <c:v>-0.61517284142336204</c:v>
                </c:pt>
                <c:pt idx="14">
                  <c:v>-0.63648633227019702</c:v>
                </c:pt>
                <c:pt idx="15">
                  <c:v>-0.70397923816377905</c:v>
                </c:pt>
                <c:pt idx="16">
                  <c:v>-0.73311549042907898</c:v>
                </c:pt>
                <c:pt idx="17">
                  <c:v>-0.79436368909491595</c:v>
                </c:pt>
                <c:pt idx="18">
                  <c:v>-0.85038613060471202</c:v>
                </c:pt>
                <c:pt idx="19">
                  <c:v>-0.921790564946533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1B2B-4D38-A426-C9D10AA65D2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5869039"/>
        <c:axId val="219187055"/>
      </c:scatterChart>
      <c:valAx>
        <c:axId val="15869039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219187055"/>
        <c:crosses val="autoZero"/>
        <c:crossBetween val="midCat"/>
      </c:valAx>
      <c:valAx>
        <c:axId val="21918705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5869039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TW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5"/>
    </mc:Choice>
    <mc:Fallback>
      <c:style val="5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工作表2!$K$1</c:f>
              <c:strCache>
                <c:ptCount val="1"/>
                <c:pt idx="0">
                  <c:v>FAC2_1</c:v>
                </c:pt>
              </c:strCache>
            </c:strRef>
          </c:tx>
          <c:spPr>
            <a:ln w="19050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yVal>
            <c:numRef>
              <c:f>工作表2!$K$2:$K$27</c:f>
              <c:numCache>
                <c:formatCode>General</c:formatCode>
                <c:ptCount val="26"/>
                <c:pt idx="0">
                  <c:v>1.99414335760678</c:v>
                </c:pt>
                <c:pt idx="1">
                  <c:v>0.99269010294337501</c:v>
                </c:pt>
                <c:pt idx="2">
                  <c:v>0.256119218347446</c:v>
                </c:pt>
                <c:pt idx="3">
                  <c:v>-1.6215818733988001</c:v>
                </c:pt>
                <c:pt idx="4">
                  <c:v>-0.740896370876726</c:v>
                </c:pt>
                <c:pt idx="5">
                  <c:v>-2.2498051367196901</c:v>
                </c:pt>
                <c:pt idx="6">
                  <c:v>-1.1465542917179199</c:v>
                </c:pt>
                <c:pt idx="7">
                  <c:v>8.3129016731692595E-2</c:v>
                </c:pt>
                <c:pt idx="8">
                  <c:v>-0.64880156172475101</c:v>
                </c:pt>
                <c:pt idx="9">
                  <c:v>-1.72995199533683E-2</c:v>
                </c:pt>
                <c:pt idx="10">
                  <c:v>0.132230372591818</c:v>
                </c:pt>
                <c:pt idx="11">
                  <c:v>8.8845863274310405E-3</c:v>
                </c:pt>
                <c:pt idx="12">
                  <c:v>-0.29952934166828699</c:v>
                </c:pt>
                <c:pt idx="13">
                  <c:v>-0.37950184171280399</c:v>
                </c:pt>
                <c:pt idx="14">
                  <c:v>0.20079816075169199</c:v>
                </c:pt>
                <c:pt idx="15">
                  <c:v>0.46710622160839199</c:v>
                </c:pt>
                <c:pt idx="16">
                  <c:v>0.114012674900695</c:v>
                </c:pt>
                <c:pt idx="17">
                  <c:v>0.66285104407220397</c:v>
                </c:pt>
                <c:pt idx="18">
                  <c:v>0.53702220701884396</c:v>
                </c:pt>
                <c:pt idx="19">
                  <c:v>1.65498297487197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A806-445B-9520-A3EF1D8A133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5611951"/>
        <c:axId val="232283439"/>
      </c:scatterChart>
      <c:valAx>
        <c:axId val="5611951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232283439"/>
        <c:crosses val="autoZero"/>
        <c:crossBetween val="midCat"/>
      </c:valAx>
      <c:valAx>
        <c:axId val="23228343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5611951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TW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5"/>
    </mc:Choice>
    <mc:Fallback>
      <c:style val="5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工作表2!$L$1</c:f>
              <c:strCache>
                <c:ptCount val="1"/>
                <c:pt idx="0">
                  <c:v>FAC3_1</c:v>
                </c:pt>
              </c:strCache>
            </c:strRef>
          </c:tx>
          <c:spPr>
            <a:ln w="19050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yVal>
            <c:numRef>
              <c:f>工作表2!$L$2:$L$27</c:f>
              <c:numCache>
                <c:formatCode>General</c:formatCode>
                <c:ptCount val="26"/>
                <c:pt idx="0">
                  <c:v>1.1900538222919601</c:v>
                </c:pt>
                <c:pt idx="1">
                  <c:v>0.183951859686032</c:v>
                </c:pt>
                <c:pt idx="2">
                  <c:v>-0.38471502027639398</c:v>
                </c:pt>
                <c:pt idx="3">
                  <c:v>-1.98307745463198</c:v>
                </c:pt>
                <c:pt idx="4">
                  <c:v>-0.196276872168414</c:v>
                </c:pt>
                <c:pt idx="5">
                  <c:v>-0.61322799651494198</c:v>
                </c:pt>
                <c:pt idx="6">
                  <c:v>1.25577629718967</c:v>
                </c:pt>
                <c:pt idx="7">
                  <c:v>0.83086260844028303</c:v>
                </c:pt>
                <c:pt idx="8">
                  <c:v>1.0581223060512299</c:v>
                </c:pt>
                <c:pt idx="9">
                  <c:v>0.85906686670668797</c:v>
                </c:pt>
                <c:pt idx="10">
                  <c:v>0.45859806378428303</c:v>
                </c:pt>
                <c:pt idx="11">
                  <c:v>0.83250638748945305</c:v>
                </c:pt>
                <c:pt idx="12">
                  <c:v>0.55489585116858997</c:v>
                </c:pt>
                <c:pt idx="13">
                  <c:v>-0.180064315511232</c:v>
                </c:pt>
                <c:pt idx="14">
                  <c:v>8.1793455483252606E-2</c:v>
                </c:pt>
                <c:pt idx="15">
                  <c:v>-0.26878032997504198</c:v>
                </c:pt>
                <c:pt idx="16">
                  <c:v>2.4062883082837098E-2</c:v>
                </c:pt>
                <c:pt idx="17">
                  <c:v>-0.36148921534420497</c:v>
                </c:pt>
                <c:pt idx="18">
                  <c:v>-0.69859576279705204</c:v>
                </c:pt>
                <c:pt idx="19">
                  <c:v>-2.6434634341550098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EDF0-4911-8F99-99917BE4B33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5619503"/>
        <c:axId val="185285231"/>
      </c:scatterChart>
      <c:valAx>
        <c:axId val="15619503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85285231"/>
        <c:crosses val="autoZero"/>
        <c:crossBetween val="midCat"/>
      </c:valAx>
      <c:valAx>
        <c:axId val="18528523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5619503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TW"/>
    </a:p>
  </c:txPr>
  <c:externalData r:id="rId3">
    <c:autoUpdate val="0"/>
  </c:externalData>
</c:chartSpace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numDim type="val">
        <cx:f>'12'!$L$4:$L$34</cx:f>
        <cx:lvl ptCount="31" formatCode="G/通用格式">
          <cx:pt idx="0">2.8759587325152798</cx:pt>
          <cx:pt idx="1">2.4391552099884901</cx:pt>
          <cx:pt idx="2">1.53861176210105</cx:pt>
          <cx:pt idx="3">1.37780925990031</cx:pt>
          <cx:pt idx="4">1.1288277101942501</cx:pt>
          <cx:pt idx="5">0.97187079427120004</cx:pt>
          <cx:pt idx="6">0.53607115747813705</cx:pt>
          <cx:pt idx="7">0.28394329252884798</cx:pt>
          <cx:pt idx="8">0.15958374485889401</cx:pt>
          <cx:pt idx="9">0.064338715872536506</cx:pt>
          <cx:pt idx="10">0.063317814443027198</cx:pt>
          <cx:pt idx="11">-0.183060203633405</cx:pt>
          <cx:pt idx="12">-0.19529797061253201</cx:pt>
          <cx:pt idx="13">-0.25374218303236601</cx:pt>
          <cx:pt idx="14">-0.30101522292592597</cx:pt>
          <cx:pt idx="15">-0.304630972477481</cx:pt>
          <cx:pt idx="16">-0.59769454553891299</cx:pt>
          <cx:pt idx="17">-0.61574934608000098</cx:pt>
          <cx:pt idx="18">-0.63615716597412097</cx:pt>
          <cx:pt idx="19">-0.63690691503275598</cx:pt>
          <cx:pt idx="20">-0.65648517665106898</cx:pt>
          <cx:pt idx="21">-0.66980049660549301</cx:pt>
          <cx:pt idx="22">-0.71243234589897797</cx:pt>
          <cx:pt idx="23">-0.74234469089150101</cx:pt>
          <cx:pt idx="24">-0.75220974643697602</cx:pt>
          <cx:pt idx="25">-0.76242990709824898</cx:pt>
          <cx:pt idx="26">-0.77091601163831602</cx:pt>
          <cx:pt idx="27">-0.807058045191823</cx:pt>
          <cx:pt idx="28">-0.90591891976670402</cx:pt>
          <cx:pt idx="29">-0.93563832866540497</cx:pt>
        </cx:lvl>
      </cx:numDim>
    </cx:data>
  </cx:chartData>
  <cx:chart>
    <cx:title pos="t" align="ctr" overlay="0">
      <cx:tx>
        <cx:rich>
          <a:bodyPr spcFirstLastPara="1" vertOverflow="ellipsis" horzOverflow="overflow" wrap="square" lIns="0" tIns="0" rIns="0" bIns="0" anchor="ctr" anchorCtr="1"/>
          <a:lstStyle/>
          <a:p>
            <a:pPr algn="ctr" rtl="0">
              <a:defRPr/>
            </a:pPr>
            <a:r>
              <a:rPr lang="en-US" altLang="zh-TW" dirty="0">
                <a:effectLst/>
              </a:rPr>
              <a:t>FAC1_1 </a:t>
            </a:r>
            <a:endParaRPr lang="zh-TW" altLang="en-US" sz="1400" b="0" i="0" u="none" strike="noStrike" baseline="0" dirty="0">
              <a:solidFill>
                <a:srgbClr val="4D4D4D">
                  <a:lumMod val="65000"/>
                  <a:lumOff val="35000"/>
                </a:srgbClr>
              </a:solidFill>
              <a:latin typeface="Calibri"/>
            </a:endParaRPr>
          </a:p>
        </cx:rich>
      </cx:tx>
    </cx:title>
    <cx:plotArea>
      <cx:plotAreaRegion>
        <cx:series layoutId="boxWhisker" uniqueId="{6D43816E-2C21-4F9B-8569-5DAA915C4C85}">
          <cx:tx>
            <cx:txData>
              <cx:f>'12'!$L$1:$L$3</cx:f>
              <cx:v>FAC1_1    </cx:v>
            </cx:txData>
          </cx:tx>
          <cx:dataId val="0"/>
          <cx:layoutPr>
            <cx:visibility meanLine="1" meanMarker="1" nonoutliers="0" outliers="1"/>
            <cx:statistics quartileMethod="exclusive"/>
          </cx:layoutPr>
        </cx:series>
      </cx:plotAreaRegion>
      <cx:axis id="0">
        <cx:catScaling gapWidth="1"/>
        <cx:tickLabels/>
      </cx:axis>
      <cx:axis id="1">
        <cx:valScaling/>
        <cx:majorGridlines/>
        <cx:tickLabels/>
      </cx:axis>
    </cx:plotArea>
    <cx:legend pos="b" align="ctr" overlay="0">
      <cx:txPr>
        <a:bodyPr spcFirstLastPara="1" vertOverflow="ellipsis" horzOverflow="overflow" wrap="square" lIns="0" tIns="0" rIns="0" bIns="0" anchor="ctr" anchorCtr="1"/>
        <a:lstStyle/>
        <a:p>
          <a:pPr algn="ctr" rtl="0">
            <a:defRPr sz="1400"/>
          </a:pPr>
          <a:endParaRPr lang="zh-TW" altLang="en-US" sz="1400" b="0" i="0" u="none" strike="noStrike" baseline="0">
            <a:solidFill>
              <a:sysClr val="windowText" lastClr="000000">
                <a:lumMod val="65000"/>
                <a:lumOff val="35000"/>
              </a:sysClr>
            </a:solidFill>
            <a:latin typeface="Calibri" panose="020F0502020204030204"/>
            <a:ea typeface="新細明體" panose="02020500000000000000" pitchFamily="18" charset="-120"/>
          </a:endParaRPr>
        </a:p>
      </cx:txPr>
    </cx:legend>
  </cx:chart>
</cx:chartSpace>
</file>

<file path=ppt/charts/chartEx2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numDim type="val">
        <cx:f>'12'!$M$4:$M$33</cx:f>
        <cx:lvl ptCount="30" formatCode="G/通用格式">
          <cx:pt idx="0">2.35333739539593</cx:pt>
          <cx:pt idx="1">1.4873691440464001</cx:pt>
          <cx:pt idx="2">0.0288367797316143</cx:pt>
          <cx:pt idx="3">-0.78380499100117895</cx:pt>
          <cx:pt idx="4">-1.2023427685822801</cx:pt>
          <cx:pt idx="5">-0.51226080975046795</cx:pt>
          <cx:pt idx="6">-1.2128902691418899</cx:pt>
          <cx:pt idx="7">-1.3519734574108599</cx:pt>
          <cx:pt idx="8">-1.62643104707514</cx:pt>
          <cx:pt idx="9">-1.3670127637189999</cx:pt>
          <cx:pt idx="10">-1.0943892330182701</cx:pt>
          <cx:pt idx="11">-1.10057805175762</cx:pt>
          <cx:pt idx="12">-0.76529119387878897</cx:pt>
          <cx:pt idx="13">-0.54920473248230495</cx:pt>
          <cx:pt idx="14">-0.53668060167616205</cx:pt>
          <cx:pt idx="15">-0.57658089858716199</cx:pt>
          <cx:pt idx="16">0.23515523901398899</cx:pt>
          <cx:pt idx="17">0.42103226710771702</cx:pt>
          <cx:pt idx="18">0.45397500224024101</cx:pt>
          <cx:pt idx="19">0.27824637321920298</cx:pt>
          <cx:pt idx="20">0.232270205189231</cx:pt>
          <cx:pt idx="21">0.38435854423815602</cx:pt>
          <cx:pt idx="22">0.36758663755332099</cx:pt>
          <cx:pt idx="23">0.69958995040473804</cx:pt>
          <cx:pt idx="24">0.70151236614999202</cx:pt>
          <cx:pt idx="25">0.72458680249595997</cx:pt>
          <cx:pt idx="26">0.79947516392598705</cx:pt>
          <cx:pt idx="27">0.93221592630810501</cx:pt>
          <cx:pt idx="28">1.26664325800694</cx:pt>
          <cx:pt idx="29">1.3132497630536</cx:pt>
        </cx:lvl>
      </cx:numDim>
    </cx:data>
  </cx:chartData>
  <cx:chart>
    <cx:title pos="t" align="ctr" overlay="0">
      <cx:tx>
        <cx:txData>
          <cx:v>FAC2_1    </cx:v>
        </cx:txData>
      </cx:tx>
      <cx:txPr>
        <a:bodyPr spcFirstLastPara="1" vertOverflow="ellipsis" horzOverflow="overflow" wrap="square" lIns="0" tIns="0" rIns="0" bIns="0" anchor="ctr" anchorCtr="1"/>
        <a:lstStyle/>
        <a:p>
          <a:pPr rtl="0">
            <a:defRPr lang="zh-TW" altLang="zh-TW" sz="1400" b="0" i="0" u="none" strike="noStrike" baseline="0" dirty="0">
              <a:solidFill>
                <a:srgbClr val="4D4D4D">
                  <a:lumMod val="65000"/>
                  <a:lumOff val="35000"/>
                </a:srgbClr>
              </a:solidFill>
              <a:effectLst/>
              <a:latin typeface="Calibri"/>
              <a:ea typeface="幼圆"/>
              <a:cs typeface="Calibri" panose="020F0502020204030204" pitchFamily="34" charset="0"/>
            </a:defRPr>
          </a:pPr>
          <a:r>
            <a:rPr lang="zh-TW" altLang="zh-TW" sz="1400" b="0" i="0" u="none" strike="noStrike" baseline="0" dirty="0">
              <a:solidFill>
                <a:srgbClr val="4D4D4D">
                  <a:lumMod val="65000"/>
                  <a:lumOff val="35000"/>
                </a:srgbClr>
              </a:solidFill>
              <a:effectLst/>
              <a:latin typeface="Calibri"/>
              <a:ea typeface="幼圆"/>
              <a:cs typeface="Calibri" panose="020F0502020204030204" pitchFamily="34" charset="0"/>
            </a:rPr>
            <a:t>FAC2_1    </a:t>
          </a:r>
        </a:p>
      </cx:txPr>
    </cx:title>
    <cx:plotArea>
      <cx:plotAreaRegion>
        <cx:series layoutId="boxWhisker" uniqueId="{5E8878F4-DFC9-4DF5-857B-75B0E59ADBE6}">
          <cx:tx>
            <cx:txData>
              <cx:f>'12'!$M$2:$M$3</cx:f>
              <cx:v>   </cx:v>
            </cx:txData>
          </cx:tx>
          <cx:dataId val="0"/>
          <cx:layoutPr>
            <cx:visibility meanLine="1" meanMarker="1" nonoutliers="0" outliers="1"/>
            <cx:statistics quartileMethod="exclusive"/>
          </cx:layoutPr>
        </cx:series>
      </cx:plotAreaRegion>
      <cx:axis id="0">
        <cx:catScaling gapWidth="1"/>
        <cx:tickLabels/>
        <cx:txPr>
          <a:bodyPr vertOverflow="overflow" horzOverflow="overflow" wrap="square" lIns="0" tIns="0" rIns="0" bIns="0"/>
          <a:lstStyle/>
          <a:p>
            <a:pPr algn="ctr" rtl="0">
              <a:defRPr lang="zh-TW" altLang="zh-TW" sz="1400" b="0" i="0" u="none" strike="noStrike" baseline="0" dirty="0">
                <a:solidFill>
                  <a:srgbClr val="4D4D4D">
                    <a:lumMod val="65000"/>
                    <a:lumOff val="35000"/>
                  </a:srgbClr>
                </a:solidFill>
                <a:effectLst/>
                <a:latin typeface="Calibri"/>
                <a:ea typeface="幼圆"/>
                <a:cs typeface="Calibri" panose="020F0502020204030204" pitchFamily="34" charset="0"/>
              </a:defRPr>
            </a:pPr>
            <a:endParaRPr lang="zh-TW" altLang="zh-TW" sz="1400" b="0" i="0" u="none" strike="noStrike" baseline="0" dirty="0">
              <a:solidFill>
                <a:srgbClr val="4D4D4D">
                  <a:lumMod val="65000"/>
                  <a:lumOff val="35000"/>
                </a:srgbClr>
              </a:solidFill>
              <a:effectLst/>
              <a:latin typeface="Calibri"/>
              <a:ea typeface="幼圆"/>
              <a:cs typeface="Calibri" panose="020F0502020204030204" pitchFamily="34" charset="0"/>
            </a:endParaRPr>
          </a:p>
        </cx:txPr>
      </cx:axis>
      <cx:axis id="1">
        <cx:valScaling/>
        <cx:majorGridlines/>
        <cx:tickLabels/>
        <cx:txPr>
          <a:bodyPr vertOverflow="overflow" horzOverflow="overflow" wrap="square" lIns="0" tIns="0" rIns="0" bIns="0"/>
          <a:lstStyle/>
          <a:p>
            <a:pPr algn="ctr" rtl="0">
              <a:defRPr lang="zh-TW" altLang="zh-TW" sz="1400" b="0" i="0" u="none" strike="noStrike" baseline="0" dirty="0">
                <a:solidFill>
                  <a:srgbClr val="4D4D4D">
                    <a:lumMod val="65000"/>
                    <a:lumOff val="35000"/>
                  </a:srgbClr>
                </a:solidFill>
                <a:effectLst/>
                <a:latin typeface="Calibri"/>
                <a:ea typeface="幼圆"/>
                <a:cs typeface="Calibri" panose="020F0502020204030204" pitchFamily="34" charset="0"/>
              </a:defRPr>
            </a:pPr>
            <a:endParaRPr lang="zh-TW" altLang="zh-TW" sz="1400" b="0" i="0" u="none" strike="noStrike" baseline="0" dirty="0">
              <a:solidFill>
                <a:srgbClr val="4D4D4D">
                  <a:lumMod val="65000"/>
                  <a:lumOff val="35000"/>
                </a:srgbClr>
              </a:solidFill>
              <a:effectLst/>
              <a:latin typeface="Calibri"/>
              <a:ea typeface="幼圆"/>
              <a:cs typeface="Calibri" panose="020F0502020204030204" pitchFamily="34" charset="0"/>
            </a:endParaRPr>
          </a:p>
        </cx:txPr>
      </cx:axis>
    </cx:plotArea>
    <cx:legend pos="b" align="ctr" overlay="0">
      <cx:txPr>
        <a:bodyPr vertOverflow="overflow" horzOverflow="overflow" wrap="square" lIns="0" tIns="0" rIns="0" bIns="0"/>
        <a:lstStyle/>
        <a:p>
          <a:pPr algn="ctr" rtl="0">
            <a:defRPr lang="zh-TW" altLang="zh-TW" sz="1400" b="0" i="0" u="none" strike="noStrike" baseline="0" dirty="0">
              <a:solidFill>
                <a:srgbClr val="4D4D4D">
                  <a:lumMod val="65000"/>
                  <a:lumOff val="35000"/>
                </a:srgbClr>
              </a:solidFill>
              <a:effectLst/>
              <a:latin typeface="Calibri"/>
              <a:ea typeface="幼圆"/>
              <a:cs typeface="Calibri" panose="020F0502020204030204" pitchFamily="34" charset="0"/>
            </a:defRPr>
          </a:pPr>
          <a:endParaRPr lang="zh-TW" altLang="zh-TW" sz="1400" b="0" i="0" u="none" strike="noStrike" baseline="0" dirty="0">
            <a:solidFill>
              <a:srgbClr val="4D4D4D">
                <a:lumMod val="65000"/>
                <a:lumOff val="35000"/>
              </a:srgbClr>
            </a:solidFill>
            <a:effectLst/>
            <a:latin typeface="Calibri"/>
            <a:ea typeface="幼圆"/>
            <a:cs typeface="Calibri" panose="020F0502020204030204" pitchFamily="34" charset="0"/>
          </a:endParaRPr>
        </a:p>
      </cx:txPr>
    </cx:legend>
  </cx:chart>
</cx:chartSpace>
</file>

<file path=ppt/charts/chartEx3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numDim type="val">
        <cx:f>工作表2!$J$2:$J$27</cx:f>
        <cx:lvl ptCount="26" formatCode="G/通用格式">
          <cx:pt idx="0">2.04552887418936</cx:pt>
          <cx:pt idx="1">1.8197579457669799</cx:pt>
          <cx:pt idx="2">1.7284759309595701</cx:pt>
          <cx:pt idx="3">1.4149571892558399</cx:pt>
          <cx:pt idx="4">0.86075373514919995</cx:pt>
          <cx:pt idx="5">0.48177674786963298</cx:pt>
          <cx:pt idx="6">-0.120328088596229</cx:pt>
          <cx:pt idx="7">-0.37462420844618</cx:pt>
          <cx:pt idx="8">-0.43703691520410398</cx:pt>
          <cx:pt idx="9">-0.50544565194650304</cx:pt>
          <cx:pt idx="10">-0.51689780135753705</cx:pt>
          <cx:pt idx="11">-0.54896978775641303</cx:pt>
          <cx:pt idx="12">-0.59265368295103604</cx:pt>
          <cx:pt idx="13">-0.61517284142336204</cx:pt>
          <cx:pt idx="14">-0.63648633227019702</cx:pt>
          <cx:pt idx="15">-0.70397923816377905</cx:pt>
          <cx:pt idx="16">-0.73311549042907898</cx:pt>
          <cx:pt idx="17">-0.79436368909491595</cx:pt>
          <cx:pt idx="18">-0.85038613060471202</cx:pt>
          <cx:pt idx="19">-0.921790564946533</cx:pt>
        </cx:lvl>
      </cx:numDim>
    </cx:data>
  </cx:chartData>
  <cx:chart>
    <cx:title pos="t" align="ctr" overlay="0">
      <cx:tx>
        <cx:rich>
          <a:bodyPr spcFirstLastPara="1" vertOverflow="ellipsis" horzOverflow="overflow" wrap="square" lIns="0" tIns="0" rIns="0" bIns="0" anchor="ctr" anchorCtr="1"/>
          <a:lstStyle/>
          <a:p>
            <a:pPr rtl="0"/>
            <a:r>
              <a:rPr lang="en-US" altLang="zh-TW" sz="1400" b="0" i="0" u="none" strike="noStrike" baseline="0" dirty="0">
                <a:solidFill>
                  <a:srgbClr val="4D4D4D">
                    <a:lumMod val="65000"/>
                    <a:lumOff val="35000"/>
                  </a:srgbClr>
                </a:solidFill>
                <a:latin typeface="Calibri"/>
                <a:cs typeface="Calibri" panose="020F0502020204030204" pitchFamily="34" charset="0"/>
              </a:rPr>
              <a:t>FAC1_1</a:t>
            </a:r>
            <a:endParaRPr lang="zh-TW" altLang="zh-TW" sz="1400" b="0" i="0" u="none" strike="noStrike" baseline="0" dirty="0">
              <a:solidFill>
                <a:srgbClr val="4D4D4D">
                  <a:lumMod val="65000"/>
                  <a:lumOff val="35000"/>
                </a:srgbClr>
              </a:solidFill>
              <a:latin typeface="Calibri"/>
              <a:cs typeface="Calibri" panose="020F0502020204030204" pitchFamily="34" charset="0"/>
            </a:endParaRPr>
          </a:p>
        </cx:rich>
      </cx:tx>
    </cx:title>
    <cx:plotArea>
      <cx:plotAreaRegion>
        <cx:series layoutId="boxWhisker" uniqueId="{72AB16D2-4D08-4809-ABAB-372043B55AFC}">
          <cx:tx>
            <cx:txData>
              <cx:f>工作表2!$J$1</cx:f>
              <cx:v>FAC1_1</cx:v>
            </cx:txData>
          </cx:tx>
          <cx:dataId val="0"/>
          <cx:layoutPr>
            <cx:visibility meanLine="1" meanMarker="1" nonoutliers="0" outliers="1"/>
            <cx:statistics quartileMethod="exclusive"/>
          </cx:layoutPr>
        </cx:series>
      </cx:plotAreaRegion>
      <cx:axis id="0">
        <cx:catScaling gapWidth="1"/>
        <cx:tickLabels/>
      </cx:axis>
      <cx:axis id="1">
        <cx:valScaling/>
        <cx:majorGridlines/>
        <cx:tickLabels/>
      </cx:axis>
    </cx:plotArea>
    <cx:legend pos="b" align="ctr" overlay="0">
      <cx:txPr>
        <a:bodyPr spcFirstLastPara="1" vertOverflow="ellipsis" horzOverflow="overflow" wrap="square" lIns="0" tIns="0" rIns="0" bIns="0" anchor="ctr" anchorCtr="1"/>
        <a:lstStyle/>
        <a:p>
          <a:pPr algn="ctr" rtl="0">
            <a:defRPr/>
          </a:pPr>
          <a:endParaRPr lang="zh-TW" altLang="en-US" sz="900" b="0" i="0" u="none" strike="noStrike" baseline="0">
            <a:solidFill>
              <a:srgbClr val="4D4D4D">
                <a:lumMod val="65000"/>
                <a:lumOff val="35000"/>
              </a:srgbClr>
            </a:solidFill>
            <a:latin typeface="Calibri"/>
          </a:endParaRPr>
        </a:p>
      </cx:txPr>
    </cx:legend>
  </cx:chart>
</cx:chartSpace>
</file>

<file path=ppt/charts/chartEx4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numDim type="val">
        <cx:f>工作表2!$K$2:$K$27</cx:f>
        <cx:lvl ptCount="26" formatCode="G/通用格式">
          <cx:pt idx="0">1.99414335760678</cx:pt>
          <cx:pt idx="1">0.99269010294337501</cx:pt>
          <cx:pt idx="2">0.256119218347446</cx:pt>
          <cx:pt idx="3">-1.6215818733988001</cx:pt>
          <cx:pt idx="4">-0.740896370876726</cx:pt>
          <cx:pt idx="5">-2.2498051367196901</cx:pt>
          <cx:pt idx="6">-1.1465542917179199</cx:pt>
          <cx:pt idx="7">0.083129016731692595</cx:pt>
          <cx:pt idx="8">-0.64880156172475101</cx:pt>
          <cx:pt idx="9">-0.0172995199533683</cx:pt>
          <cx:pt idx="10">0.132230372591818</cx:pt>
          <cx:pt idx="11">0.0088845863274310405</cx:pt>
          <cx:pt idx="12">-0.29952934166828699</cx:pt>
          <cx:pt idx="13">-0.37950184171280399</cx:pt>
          <cx:pt idx="14">0.20079816075169199</cx:pt>
          <cx:pt idx="15">0.46710622160839199</cx:pt>
          <cx:pt idx="16">0.114012674900695</cx:pt>
          <cx:pt idx="17">0.66285104407220397</cx:pt>
          <cx:pt idx="18">0.53702220701884396</cx:pt>
          <cx:pt idx="19">1.65498297487197</cx:pt>
        </cx:lvl>
      </cx:numDim>
    </cx:data>
  </cx:chartData>
  <cx:chart>
    <cx:title pos="t" align="ctr" overlay="0">
      <cx:tx>
        <cx:rich>
          <a:bodyPr spcFirstLastPara="1" vertOverflow="ellipsis" horzOverflow="overflow" wrap="square" lIns="0" tIns="0" rIns="0" bIns="0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400" b="0" i="0" u="none" strike="noStrike" baseline="0" dirty="0">
                <a:solidFill>
                  <a:srgbClr val="4D4D4D">
                    <a:lumMod val="65000"/>
                    <a:lumOff val="35000"/>
                  </a:srgbClr>
                </a:solidFill>
                <a:effectLst/>
                <a:latin typeface="Calibri"/>
                <a:ea typeface="幼圆"/>
                <a:cs typeface="Calibri" panose="020F0502020204030204" pitchFamily="34" charset="0"/>
              </a:rPr>
              <a:t>FAC2_1</a:t>
            </a:r>
            <a:endParaRPr lang="zh-TW" altLang="zh-TW" dirty="0">
              <a:effectLst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TW" altLang="en-US" sz="1400" b="0" i="0" u="none" strike="noStrike" baseline="0" dirty="0">
              <a:solidFill>
                <a:srgbClr val="4D4D4D">
                  <a:lumMod val="65000"/>
                  <a:lumOff val="35000"/>
                </a:srgbClr>
              </a:solidFill>
              <a:latin typeface="Calibri"/>
            </a:endParaRPr>
          </a:p>
        </cx:rich>
      </cx:tx>
    </cx:title>
    <cx:plotArea>
      <cx:plotAreaRegion>
        <cx:series layoutId="boxWhisker" uniqueId="{E16FE59A-ED57-40A4-9553-968670EE2763}">
          <cx:tx>
            <cx:txData>
              <cx:f>工作表2!$K$1</cx:f>
              <cx:v>FAC2_1</cx:v>
            </cx:txData>
          </cx:tx>
          <cx:dataId val="0"/>
          <cx:layoutPr>
            <cx:visibility meanLine="1" meanMarker="1" nonoutliers="0" outliers="1"/>
            <cx:statistics quartileMethod="exclusive"/>
          </cx:layoutPr>
        </cx:series>
      </cx:plotAreaRegion>
      <cx:axis id="0">
        <cx:catScaling gapWidth="1"/>
        <cx:tickLabels/>
      </cx:axis>
      <cx:axis id="1">
        <cx:valScaling/>
        <cx:majorGridlines/>
        <cx:tickLabels/>
      </cx:axis>
    </cx:plotArea>
    <cx:legend pos="b" align="ctr" overlay="0"/>
  </cx:chart>
</cx:chartSpace>
</file>

<file path=ppt/charts/chartEx5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numDim type="val">
        <cx:f>工作表2!$L$2:$L$27</cx:f>
        <cx:lvl ptCount="26" formatCode="G/通用格式">
          <cx:pt idx="0">1.1900538222919601</cx:pt>
          <cx:pt idx="1">0.183951859686032</cx:pt>
          <cx:pt idx="2">-0.38471502027639398</cx:pt>
          <cx:pt idx="3">-1.98307745463198</cx:pt>
          <cx:pt idx="4">-0.196276872168414</cx:pt>
          <cx:pt idx="5">-0.61322799651494198</cx:pt>
          <cx:pt idx="6">1.25577629718967</cx:pt>
          <cx:pt idx="7">0.83086260844028303</cx:pt>
          <cx:pt idx="8">1.0581223060512299</cx:pt>
          <cx:pt idx="9">0.85906686670668797</cx:pt>
          <cx:pt idx="10">0.45859806378428303</cx:pt>
          <cx:pt idx="11">0.83250638748945305</cx:pt>
          <cx:pt idx="12">0.55489585116858997</cx:pt>
          <cx:pt idx="13">-0.180064315511232</cx:pt>
          <cx:pt idx="14">0.081793455483252606</cx:pt>
          <cx:pt idx="15">-0.26878032997504198</cx:pt>
          <cx:pt idx="16">0.024062883082837098</cx:pt>
          <cx:pt idx="17">-0.36148921534420497</cx:pt>
          <cx:pt idx="18">-0.69859576279705204</cx:pt>
          <cx:pt idx="19">-2.6434634341550098</cx:pt>
        </cx:lvl>
      </cx:numDim>
    </cx:data>
  </cx:chartData>
  <cx:chart>
    <cx:title pos="t" align="ctr" overlay="0">
      <cx:tx>
        <cx:rich>
          <a:bodyPr spcFirstLastPara="1" vertOverflow="ellipsis" horzOverflow="overflow" wrap="square" lIns="0" tIns="0" rIns="0" bIns="0" anchor="ctr" anchorCtr="1"/>
          <a:lstStyle/>
          <a:p>
            <a:pPr rtl="0"/>
            <a:r>
              <a:rPr lang="en-US" altLang="zh-TW" sz="1400" b="0" i="0" u="none" strike="noStrike" baseline="0" dirty="0">
                <a:solidFill>
                  <a:srgbClr val="4D4D4D">
                    <a:lumMod val="65000"/>
                    <a:lumOff val="35000"/>
                  </a:srgbClr>
                </a:solidFill>
                <a:latin typeface="Calibri"/>
                <a:cs typeface="Calibri" panose="020F0502020204030204" pitchFamily="34" charset="0"/>
              </a:rPr>
              <a:t>FAC3_1</a:t>
            </a:r>
            <a:endParaRPr lang="zh-TW" altLang="zh-TW" sz="1400" b="0" i="0" u="none" strike="noStrike" baseline="0" dirty="0">
              <a:solidFill>
                <a:srgbClr val="4D4D4D">
                  <a:lumMod val="65000"/>
                  <a:lumOff val="35000"/>
                </a:srgbClr>
              </a:solidFill>
              <a:latin typeface="Calibri"/>
              <a:cs typeface="Calibri" panose="020F0502020204030204" pitchFamily="34" charset="0"/>
            </a:endParaRPr>
          </a:p>
        </cx:rich>
      </cx:tx>
    </cx:title>
    <cx:plotArea>
      <cx:plotAreaRegion>
        <cx:series layoutId="boxWhisker" uniqueId="{275EB55C-89A6-4155-BC18-297C2E4DF020}">
          <cx:tx>
            <cx:txData>
              <cx:f>工作表2!$L$1</cx:f>
              <cx:v>FAC3_1</cx:v>
            </cx:txData>
          </cx:tx>
          <cx:dataId val="0"/>
          <cx:layoutPr>
            <cx:visibility meanLine="1" meanMarker="1" nonoutliers="0" outliers="1"/>
            <cx:statistics quartileMethod="exclusive"/>
          </cx:layoutPr>
        </cx:series>
      </cx:plotAreaRegion>
      <cx:axis id="0">
        <cx:catScaling gapWidth="1"/>
        <cx:tickLabels/>
      </cx:axis>
      <cx:axis id="1">
        <cx:valScaling/>
        <cx:majorGridlines/>
        <cx:tickLabels/>
      </cx:axis>
    </cx:plotArea>
    <cx:legend pos="b" align="ctr" overlay="0"/>
  </cx:chart>
</cx:chartSpace>
</file>

<file path=ppt/charts/colors1.xml><?xml version="1.0" encoding="utf-8"?>
<cs:colorStyle xmlns:cs="http://schemas.microsoft.com/office/drawing/2012/chartStyle" xmlns:a="http://schemas.openxmlformats.org/drawingml/2006/main" meth="withinLinear" id="16">
  <a:schemeClr val="accent3"/>
</cs:colorStyle>
</file>

<file path=ppt/charts/colors2.xml><?xml version="1.0" encoding="utf-8"?>
<cs:colorStyle xmlns:cs="http://schemas.microsoft.com/office/drawing/2012/chartStyle" xmlns:a="http://schemas.openxmlformats.org/drawingml/2006/main" meth="withinLinear" id="16">
  <a:schemeClr val="accent3"/>
</cs:colorStyle>
</file>

<file path=ppt/charts/colors3.xml><?xml version="1.0" encoding="utf-8"?>
<cs:colorStyle xmlns:cs="http://schemas.microsoft.com/office/drawing/2012/chartStyle" xmlns:a="http://schemas.openxmlformats.org/drawingml/2006/main" meth="cycle" id="20">
  <a:schemeClr val="dk1"/>
  <cs:variation>
    <a:tint val="88500"/>
  </cs:variation>
  <cs:variation>
    <a:tint val="55000"/>
  </cs:variation>
  <cs:variation>
    <a:tint val="75000"/>
  </cs:variation>
  <cs:variation>
    <a:tint val="98500"/>
  </cs:variation>
  <cs:variation>
    <a:tint val="30000"/>
  </cs:variation>
  <cs:variation>
    <a:tint val="60000"/>
  </cs:variation>
  <cs:variation>
    <a:tint val="8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withinLinear" id="16">
  <a:schemeClr val="accent3"/>
</cs:colorStyle>
</file>

<file path=ppt/charts/colors5.xml><?xml version="1.0" encoding="utf-8"?>
<cs:colorStyle xmlns:cs="http://schemas.microsoft.com/office/drawing/2012/chartStyle" xmlns:a="http://schemas.openxmlformats.org/drawingml/2006/main" meth="withinLinear" id="16">
  <a:schemeClr val="accent3"/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withinLinear" id="16">
  <a:schemeClr val="accent3"/>
</cs:colorStyle>
</file>

<file path=ppt/charts/colors9.xml><?xml version="1.0" encoding="utf-8"?>
<cs:colorStyle xmlns:cs="http://schemas.microsoft.com/office/drawing/2012/chartStyle" xmlns:a="http://schemas.openxmlformats.org/drawingml/2006/main" meth="withinLinear" id="16">
  <a:schemeClr val="accent3"/>
</cs:colorStyle>
</file>

<file path=ppt/charts/colors10.xml><?xml version="1.0" encoding="utf-8"?>
<cs:colorStyle xmlns:cs="http://schemas.microsoft.com/office/drawing/2012/chartStyle" xmlns:a="http://schemas.openxmlformats.org/drawingml/2006/main" meth="withinLinear" id="16">
  <a:schemeClr val="accent3"/>
</cs:colorStyle>
</file>

<file path=ppt/charts/colors11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12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13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14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5.xml><?xml version="1.0" encoding="utf-8"?>
<cs:colorStyle xmlns:cs="http://schemas.microsoft.com/office/drawing/2012/chartStyle" xmlns:a="http://schemas.openxmlformats.org/drawingml/2006/main" meth="withinLinear" id="16">
  <a:schemeClr val="accent3"/>
</cs:colorStyle>
</file>

<file path=ppt/charts/colors16.xml><?xml version="1.0" encoding="utf-8"?>
<cs:colorStyle xmlns:cs="http://schemas.microsoft.com/office/drawing/2012/chartStyle" xmlns:a="http://schemas.openxmlformats.org/drawingml/2006/main" meth="withinLinear" id="16">
  <a:schemeClr val="accent3"/>
</cs:colorStyle>
</file>

<file path=ppt/charts/colors17.xml><?xml version="1.0" encoding="utf-8"?>
<cs:colorStyle xmlns:cs="http://schemas.microsoft.com/office/drawing/2012/chartStyle" xmlns:a="http://schemas.openxmlformats.org/drawingml/2006/main" meth="withinLinear" id="16">
  <a:schemeClr val="accent3"/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373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>
        <a:solidFill>
          <a:schemeClr val="phClr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/>
  </cs:valueAxis>
  <cs:wall>
    <cs:lnRef idx="0"/>
    <cs:fillRef idx="0"/>
    <cs:effectRef idx="0"/>
    <cs:fontRef idx="minor">
      <a:schemeClr val="tx1"/>
    </cs:fontRef>
  </cs:wall>
</cs:chartStyle>
</file>

<file path=ppt/charts/style5.xml><?xml version="1.0" encoding="utf-8"?>
<cs:chartStyle xmlns:cs="http://schemas.microsoft.com/office/drawing/2012/chartStyle" xmlns:a="http://schemas.openxmlformats.org/drawingml/2006/main" id="373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>
        <a:solidFill>
          <a:schemeClr val="phClr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/>
  </cs:valueAxis>
  <cs:wall>
    <cs:lnRef idx="0"/>
    <cs:fillRef idx="0"/>
    <cs:effectRef idx="0"/>
    <cs:fontRef idx="minor">
      <a:schemeClr val="tx1"/>
    </cs:fontRef>
  </cs:wall>
</cs:chartStyle>
</file>

<file path=ppt/charts/style6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373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>
        <a:solidFill>
          <a:schemeClr val="phClr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/>
  </cs:valueAxis>
  <cs:wall>
    <cs:lnRef idx="0"/>
    <cs:fillRef idx="0"/>
    <cs:effectRef idx="0"/>
    <cs:fontRef idx="minor">
      <a:schemeClr val="tx1"/>
    </cs:fontRef>
  </cs:wall>
</cs:chartStyle>
</file>

<file path=ppt/charts/style9.xml><?xml version="1.0" encoding="utf-8"?>
<cs:chartStyle xmlns:cs="http://schemas.microsoft.com/office/drawing/2012/chartStyle" xmlns:a="http://schemas.openxmlformats.org/drawingml/2006/main" id="373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>
        <a:solidFill>
          <a:schemeClr val="phClr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/>
  </cs:valueAxis>
  <cs:wall>
    <cs:lnRef idx="0"/>
    <cs:fillRef idx="0"/>
    <cs:effectRef idx="0"/>
    <cs:fontRef idx="minor">
      <a:schemeClr val="tx1"/>
    </cs:fontRef>
  </cs:wall>
</cs:chartStyle>
</file>

<file path=ppt/charts/style10.xml><?xml version="1.0" encoding="utf-8"?>
<cs:chartStyle xmlns:cs="http://schemas.microsoft.com/office/drawing/2012/chartStyle" xmlns:a="http://schemas.openxmlformats.org/drawingml/2006/main" id="373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>
        <a:solidFill>
          <a:schemeClr val="phClr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/>
  </cs:valueAxis>
  <cs:wall>
    <cs:lnRef idx="0"/>
    <cs:fillRef idx="0"/>
    <cs:effectRef idx="0"/>
    <cs:fontRef idx="minor">
      <a:schemeClr val="tx1"/>
    </cs:fontRef>
  </cs:wall>
</cs:chartStyle>
</file>

<file path=ppt/charts/style1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5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6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7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30A66E-F3ED-4055-8CC6-82A277D2BED8}" type="datetimeFigureOut">
              <a:rPr lang="zh-CN" altLang="en-US" smtClean="0"/>
              <a:t>2019/3/21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BC510C-A274-4F09-B4F8-A9F6025676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55759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BE02D-20C0-F840-AFAC-BEA99C74FDC2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6611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BE02D-20C0-F840-AFAC-BEA99C74FDC2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71702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BE02D-20C0-F840-AFAC-BEA99C74FDC2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46633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BE02D-20C0-F840-AFAC-BEA99C74FDC2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88179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BE02D-20C0-F840-AFAC-BEA99C74FDC2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21025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BE02D-20C0-F840-AFAC-BEA99C74FDC2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86822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BE02D-20C0-F840-AFAC-BEA99C74FDC2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681475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BC510C-A274-4F09-B4F8-A9F602567649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285210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BE02D-20C0-F840-AFAC-BEA99C74FDC2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262295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BE02D-20C0-F840-AFAC-BEA99C74FDC2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504857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BC510C-A274-4F09-B4F8-A9F602567649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046244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BE02D-20C0-F840-AFAC-BEA99C74FDC2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06641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矩形 5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9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任意多边形 50"/>
          <p:cNvSpPr>
            <a:spLocks noChangeArrowheads="1"/>
          </p:cNvSpPr>
          <p:nvPr/>
        </p:nvSpPr>
        <p:spPr bwMode="auto">
          <a:xfrm>
            <a:off x="0" y="0"/>
            <a:ext cx="6426200" cy="5861054"/>
          </a:xfrm>
          <a:custGeom>
            <a:avLst/>
            <a:gdLst>
              <a:gd name="connsiteX0" fmla="*/ 0 w 6426200"/>
              <a:gd name="connsiteY0" fmla="*/ 0 h 5861054"/>
              <a:gd name="connsiteX1" fmla="*/ 6202018 w 6426200"/>
              <a:gd name="connsiteY1" fmla="*/ 0 h 5861054"/>
              <a:gd name="connsiteX2" fmla="*/ 6225541 w 6426200"/>
              <a:gd name="connsiteY2" fmla="*/ 69532 h 5861054"/>
              <a:gd name="connsiteX3" fmla="*/ 6426200 w 6426200"/>
              <a:gd name="connsiteY3" fmla="*/ 1397004 h 5861054"/>
              <a:gd name="connsiteX4" fmla="*/ 1962943 w 6426200"/>
              <a:gd name="connsiteY4" fmla="*/ 5861054 h 5861054"/>
              <a:gd name="connsiteX5" fmla="*/ 27937 w 6426200"/>
              <a:gd name="connsiteY5" fmla="*/ 5420851 h 5861054"/>
              <a:gd name="connsiteX6" fmla="*/ 0 w 6426200"/>
              <a:gd name="connsiteY6" fmla="*/ 5406540 h 58610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426200" h="5861054">
                <a:moveTo>
                  <a:pt x="0" y="0"/>
                </a:moveTo>
                <a:lnTo>
                  <a:pt x="6202018" y="0"/>
                </a:lnTo>
                <a:lnTo>
                  <a:pt x="6225541" y="69532"/>
                </a:lnTo>
                <a:cubicBezTo>
                  <a:pt x="6355948" y="488880"/>
                  <a:pt x="6426200" y="934737"/>
                  <a:pt x="6426200" y="1397004"/>
                </a:cubicBezTo>
                <a:cubicBezTo>
                  <a:pt x="6426200" y="3862431"/>
                  <a:pt x="4427932" y="5861054"/>
                  <a:pt x="1962943" y="5861054"/>
                </a:cubicBezTo>
                <a:cubicBezTo>
                  <a:pt x="1269665" y="5861054"/>
                  <a:pt x="613305" y="5702960"/>
                  <a:pt x="27937" y="5420851"/>
                </a:cubicBezTo>
                <a:lnTo>
                  <a:pt x="0" y="5406540"/>
                </a:lnTo>
                <a:close/>
              </a:path>
            </a:pathLst>
          </a:custGeom>
          <a:solidFill>
            <a:srgbClr val="E5B8B7">
              <a:alpha val="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25400" cap="flat" cmpd="sng">
                <a:solidFill>
                  <a:srgbClr val="395E8A"/>
                </a:solidFill>
                <a:round/>
                <a:headEnd/>
                <a:tailEnd/>
              </a14:hiddenLine>
            </a:ext>
          </a:extLst>
        </p:spPr>
        <p:txBody>
          <a:bodyPr wrap="square" anchor="ctr">
            <a:noAutofit/>
          </a:bodyPr>
          <a:lstStyle/>
          <a:p>
            <a:pPr algn="ctr"/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3" name="任意多边形 52"/>
          <p:cNvSpPr>
            <a:spLocks noChangeArrowheads="1"/>
          </p:cNvSpPr>
          <p:nvPr/>
        </p:nvSpPr>
        <p:spPr bwMode="auto">
          <a:xfrm>
            <a:off x="1" y="0"/>
            <a:ext cx="4662117" cy="4096657"/>
          </a:xfrm>
          <a:custGeom>
            <a:avLst/>
            <a:gdLst>
              <a:gd name="connsiteX0" fmla="*/ 0 w 4662117"/>
              <a:gd name="connsiteY0" fmla="*/ 0 h 4096657"/>
              <a:gd name="connsiteX1" fmla="*/ 4269417 w 4662117"/>
              <a:gd name="connsiteY1" fmla="*/ 0 h 4096657"/>
              <a:gd name="connsiteX2" fmla="*/ 4336341 w 4662117"/>
              <a:gd name="connsiteY2" fmla="*/ 110179 h 4096657"/>
              <a:gd name="connsiteX3" fmla="*/ 4662117 w 4662117"/>
              <a:gd name="connsiteY3" fmla="*/ 1396997 h 4096657"/>
              <a:gd name="connsiteX4" fmla="*/ 1962937 w 4662117"/>
              <a:gd name="connsiteY4" fmla="*/ 4096657 h 4096657"/>
              <a:gd name="connsiteX5" fmla="*/ 54329 w 4662117"/>
              <a:gd name="connsiteY5" fmla="*/ 3305945 h 4096657"/>
              <a:gd name="connsiteX6" fmla="*/ 0 w 4662117"/>
              <a:gd name="connsiteY6" fmla="*/ 3246158 h 40966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662117" h="4096657">
                <a:moveTo>
                  <a:pt x="0" y="0"/>
                </a:moveTo>
                <a:lnTo>
                  <a:pt x="4269417" y="0"/>
                </a:lnTo>
                <a:lnTo>
                  <a:pt x="4336341" y="110179"/>
                </a:lnTo>
                <a:cubicBezTo>
                  <a:pt x="4544103" y="492703"/>
                  <a:pt x="4662117" y="931066"/>
                  <a:pt x="4662117" y="1396997"/>
                </a:cubicBezTo>
                <a:cubicBezTo>
                  <a:pt x="4662117" y="2887978"/>
                  <a:pt x="3453653" y="4096657"/>
                  <a:pt x="1962937" y="4096657"/>
                </a:cubicBezTo>
                <a:cubicBezTo>
                  <a:pt x="1217579" y="4096657"/>
                  <a:pt x="542784" y="3794487"/>
                  <a:pt x="54329" y="3305945"/>
                </a:cubicBezTo>
                <a:lnTo>
                  <a:pt x="0" y="3246158"/>
                </a:lnTo>
                <a:close/>
              </a:path>
            </a:pathLst>
          </a:custGeom>
          <a:solidFill>
            <a:srgbClr val="D78F8D">
              <a:alpha val="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25400" cap="flat" cmpd="sng">
                <a:solidFill>
                  <a:srgbClr val="395E8A"/>
                </a:solidFill>
                <a:round/>
                <a:headEnd/>
                <a:tailEnd/>
              </a14:hiddenLine>
            </a:ext>
          </a:extLst>
        </p:spPr>
        <p:txBody>
          <a:bodyPr wrap="square" anchor="ctr">
            <a:noAutofit/>
          </a:bodyPr>
          <a:lstStyle/>
          <a:p>
            <a:pPr algn="ctr"/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34" name="椭圆 4"/>
          <p:cNvSpPr>
            <a:spLocks noChangeArrowheads="1"/>
          </p:cNvSpPr>
          <p:nvPr/>
        </p:nvSpPr>
        <p:spPr bwMode="auto">
          <a:xfrm>
            <a:off x="9937750" y="2166942"/>
            <a:ext cx="625475" cy="625475"/>
          </a:xfrm>
          <a:prstGeom prst="ellipse">
            <a:avLst/>
          </a:prstGeom>
          <a:solidFill>
            <a:srgbClr val="ECCBCA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cap="flat" cmpd="sng">
                <a:solidFill>
                  <a:srgbClr val="395E8A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35" name="椭圆 5"/>
          <p:cNvSpPr>
            <a:spLocks noChangeArrowheads="1"/>
          </p:cNvSpPr>
          <p:nvPr/>
        </p:nvSpPr>
        <p:spPr bwMode="auto">
          <a:xfrm>
            <a:off x="10061357" y="2290549"/>
            <a:ext cx="378260" cy="378260"/>
          </a:xfrm>
          <a:prstGeom prst="ellipse">
            <a:avLst/>
          </a:prstGeom>
          <a:solidFill>
            <a:srgbClr val="D78F8D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cap="flat" cmpd="sng">
                <a:solidFill>
                  <a:srgbClr val="395E8A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36" name="椭圆 8"/>
          <p:cNvSpPr>
            <a:spLocks noChangeArrowheads="1"/>
          </p:cNvSpPr>
          <p:nvPr/>
        </p:nvSpPr>
        <p:spPr bwMode="auto">
          <a:xfrm>
            <a:off x="7072313" y="4116392"/>
            <a:ext cx="625475" cy="625475"/>
          </a:xfrm>
          <a:prstGeom prst="ellipse">
            <a:avLst/>
          </a:prstGeom>
          <a:solidFill>
            <a:srgbClr val="ECCBCA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cap="flat" cmpd="sng">
                <a:solidFill>
                  <a:srgbClr val="395E8A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37" name="椭圆 7"/>
          <p:cNvSpPr>
            <a:spLocks noChangeArrowheads="1"/>
          </p:cNvSpPr>
          <p:nvPr/>
        </p:nvSpPr>
        <p:spPr bwMode="auto">
          <a:xfrm>
            <a:off x="7342188" y="1954217"/>
            <a:ext cx="2860675" cy="2860675"/>
          </a:xfrm>
          <a:prstGeom prst="ellipse">
            <a:avLst/>
          </a:prstGeom>
          <a:solidFill>
            <a:srgbClr val="D78F8E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cap="flat" cmpd="sng">
                <a:solidFill>
                  <a:srgbClr val="395E8A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38" name="椭圆 9"/>
          <p:cNvSpPr>
            <a:spLocks noChangeArrowheads="1"/>
          </p:cNvSpPr>
          <p:nvPr/>
        </p:nvSpPr>
        <p:spPr bwMode="auto">
          <a:xfrm>
            <a:off x="7542213" y="4741867"/>
            <a:ext cx="312737" cy="312737"/>
          </a:xfrm>
          <a:prstGeom prst="ellipse">
            <a:avLst/>
          </a:prstGeom>
          <a:solidFill>
            <a:srgbClr val="ECCBCA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cap="flat" cmpd="sng">
                <a:solidFill>
                  <a:srgbClr val="395E8A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40" name="椭圆 29"/>
          <p:cNvSpPr>
            <a:spLocks noChangeArrowheads="1"/>
          </p:cNvSpPr>
          <p:nvPr/>
        </p:nvSpPr>
        <p:spPr bwMode="auto">
          <a:xfrm>
            <a:off x="10453688" y="5392742"/>
            <a:ext cx="341312" cy="341312"/>
          </a:xfrm>
          <a:prstGeom prst="ellipse">
            <a:avLst/>
          </a:prstGeom>
          <a:solidFill>
            <a:srgbClr val="E5B8B7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cap="flat" cmpd="sng">
                <a:solidFill>
                  <a:srgbClr val="395E8A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41" name="椭圆 30"/>
          <p:cNvSpPr>
            <a:spLocks noChangeArrowheads="1"/>
          </p:cNvSpPr>
          <p:nvPr/>
        </p:nvSpPr>
        <p:spPr bwMode="auto">
          <a:xfrm>
            <a:off x="10521139" y="5460193"/>
            <a:ext cx="206410" cy="206410"/>
          </a:xfrm>
          <a:prstGeom prst="ellipse">
            <a:avLst/>
          </a:prstGeom>
          <a:solidFill>
            <a:srgbClr val="D78F8D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cap="flat" cmpd="sng">
                <a:solidFill>
                  <a:srgbClr val="395E8A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43" name="椭圆 32"/>
          <p:cNvSpPr>
            <a:spLocks noChangeArrowheads="1"/>
          </p:cNvSpPr>
          <p:nvPr/>
        </p:nvSpPr>
        <p:spPr bwMode="auto">
          <a:xfrm>
            <a:off x="9353550" y="5314954"/>
            <a:ext cx="169863" cy="171450"/>
          </a:xfrm>
          <a:prstGeom prst="ellipse">
            <a:avLst/>
          </a:prstGeom>
          <a:solidFill>
            <a:srgbClr val="E5B8B7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cap="flat" cmpd="sng">
                <a:solidFill>
                  <a:srgbClr val="395E8A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44" name="椭圆 33"/>
          <p:cNvSpPr>
            <a:spLocks noChangeArrowheads="1"/>
          </p:cNvSpPr>
          <p:nvPr/>
        </p:nvSpPr>
        <p:spPr bwMode="auto">
          <a:xfrm>
            <a:off x="9387119" y="5348836"/>
            <a:ext cx="102726" cy="103685"/>
          </a:xfrm>
          <a:prstGeom prst="ellipse">
            <a:avLst/>
          </a:prstGeom>
          <a:solidFill>
            <a:srgbClr val="D78F8D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cap="flat" cmpd="sng">
                <a:solidFill>
                  <a:srgbClr val="395E8A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46" name="椭圆 39"/>
          <p:cNvSpPr>
            <a:spLocks noChangeArrowheads="1"/>
          </p:cNvSpPr>
          <p:nvPr/>
        </p:nvSpPr>
        <p:spPr bwMode="auto">
          <a:xfrm>
            <a:off x="4803775" y="4756154"/>
            <a:ext cx="298450" cy="298450"/>
          </a:xfrm>
          <a:prstGeom prst="ellipse">
            <a:avLst/>
          </a:prstGeom>
          <a:solidFill>
            <a:srgbClr val="E5B8B7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cap="flat" cmpd="sng">
                <a:solidFill>
                  <a:srgbClr val="395E8A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47" name="椭圆 40"/>
          <p:cNvSpPr>
            <a:spLocks noChangeArrowheads="1"/>
          </p:cNvSpPr>
          <p:nvPr/>
        </p:nvSpPr>
        <p:spPr bwMode="auto">
          <a:xfrm>
            <a:off x="4862755" y="4815134"/>
            <a:ext cx="180489" cy="180489"/>
          </a:xfrm>
          <a:prstGeom prst="ellipse">
            <a:avLst/>
          </a:prstGeom>
          <a:solidFill>
            <a:srgbClr val="D78F8D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cap="flat" cmpd="sng">
                <a:solidFill>
                  <a:srgbClr val="395E8A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65460904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4967">
          <p15:clr>
            <a:srgbClr val="FBAE40"/>
          </p15:clr>
        </p15:guide>
        <p15:guide id="2" orient="horz" pos="2160">
          <p15:clr>
            <a:srgbClr val="FBAE40"/>
          </p15:clr>
        </p15:guide>
        <p15:guide id="3" pos="6623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57633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080217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Welc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13"/>
          <p:cNvSpPr>
            <a:spLocks noGrp="1"/>
          </p:cNvSpPr>
          <p:nvPr>
            <p:ph type="pic" sz="quarter" idx="57"/>
          </p:nvPr>
        </p:nvSpPr>
        <p:spPr>
          <a:xfrm>
            <a:off x="4037794" y="2136095"/>
            <a:ext cx="5376287" cy="3729447"/>
          </a:xfrm>
          <a:prstGeom prst="rect">
            <a:avLst/>
          </a:prstGeom>
          <a:effectLst/>
        </p:spPr>
        <p:txBody>
          <a:bodyPr>
            <a:normAutofit/>
          </a:bodyPr>
          <a:lstStyle>
            <a:lvl1pPr marL="0" indent="0">
              <a:buNone/>
              <a:defRPr sz="1300">
                <a:ln>
                  <a:noFill/>
                </a:ln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Picture Placeholder 13"/>
          <p:cNvSpPr>
            <a:spLocks noGrp="1"/>
          </p:cNvSpPr>
          <p:nvPr>
            <p:ph type="pic" sz="quarter" idx="58"/>
          </p:nvPr>
        </p:nvSpPr>
        <p:spPr>
          <a:xfrm>
            <a:off x="1263867" y="1288603"/>
            <a:ext cx="4658973" cy="3339154"/>
          </a:xfrm>
          <a:prstGeom prst="rect">
            <a:avLst/>
          </a:prstGeom>
          <a:effectLst/>
        </p:spPr>
        <p:txBody>
          <a:bodyPr>
            <a:normAutofit/>
          </a:bodyPr>
          <a:lstStyle>
            <a:lvl1pPr marL="0" indent="0">
              <a:buNone/>
              <a:defRPr sz="1300">
                <a:ln>
                  <a:noFill/>
                </a:ln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82061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General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049444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Welc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icture Placeholder 13"/>
          <p:cNvSpPr>
            <a:spLocks noGrp="1"/>
          </p:cNvSpPr>
          <p:nvPr>
            <p:ph type="pic" sz="quarter" idx="57"/>
          </p:nvPr>
        </p:nvSpPr>
        <p:spPr>
          <a:xfrm>
            <a:off x="7839969" y="5434663"/>
            <a:ext cx="1663363" cy="2917453"/>
          </a:xfrm>
          <a:prstGeom prst="rect">
            <a:avLst/>
          </a:prstGeom>
          <a:effectLst/>
        </p:spPr>
        <p:txBody>
          <a:bodyPr>
            <a:normAutofit/>
          </a:bodyPr>
          <a:lstStyle>
            <a:lvl1pPr marL="0" indent="0">
              <a:buNone/>
              <a:defRPr sz="1300">
                <a:ln>
                  <a:noFill/>
                </a:ln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26" name="Picture Placeholder 13"/>
          <p:cNvSpPr>
            <a:spLocks noGrp="1"/>
          </p:cNvSpPr>
          <p:nvPr>
            <p:ph type="pic" sz="quarter" idx="58"/>
          </p:nvPr>
        </p:nvSpPr>
        <p:spPr>
          <a:xfrm>
            <a:off x="2729838" y="5434663"/>
            <a:ext cx="1663363" cy="2917453"/>
          </a:xfrm>
          <a:prstGeom prst="rect">
            <a:avLst/>
          </a:prstGeom>
          <a:effectLst/>
        </p:spPr>
        <p:txBody>
          <a:bodyPr>
            <a:normAutofit/>
          </a:bodyPr>
          <a:lstStyle>
            <a:lvl1pPr marL="0" indent="0">
              <a:buNone/>
              <a:defRPr sz="1300">
                <a:ln>
                  <a:noFill/>
                </a:ln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27" name="Picture Placeholder 13"/>
          <p:cNvSpPr>
            <a:spLocks noGrp="1"/>
          </p:cNvSpPr>
          <p:nvPr>
            <p:ph type="pic" sz="quarter" idx="59"/>
          </p:nvPr>
        </p:nvSpPr>
        <p:spPr>
          <a:xfrm>
            <a:off x="5184492" y="4220821"/>
            <a:ext cx="1862057" cy="3256271"/>
          </a:xfrm>
          <a:prstGeom prst="rect">
            <a:avLst/>
          </a:prstGeom>
          <a:effectLst/>
        </p:spPr>
        <p:txBody>
          <a:bodyPr>
            <a:normAutofit/>
          </a:bodyPr>
          <a:lstStyle>
            <a:lvl1pPr marL="0" indent="0">
              <a:buNone/>
              <a:defRPr sz="1300">
                <a:ln>
                  <a:noFill/>
                </a:ln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54679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General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icture Placeholder 13"/>
          <p:cNvSpPr>
            <a:spLocks noGrp="1"/>
          </p:cNvSpPr>
          <p:nvPr>
            <p:ph type="pic" sz="quarter" idx="50"/>
          </p:nvPr>
        </p:nvSpPr>
        <p:spPr>
          <a:xfrm>
            <a:off x="1332877" y="2093854"/>
            <a:ext cx="3764973" cy="2388274"/>
          </a:xfrm>
          <a:prstGeom prst="rect">
            <a:avLst/>
          </a:prstGeom>
          <a:effectLst/>
        </p:spPr>
        <p:txBody>
          <a:bodyPr>
            <a:normAutofit/>
          </a:bodyPr>
          <a:lstStyle>
            <a:lvl1pPr marL="0" indent="0">
              <a:buNone/>
              <a:defRPr sz="1300">
                <a:ln>
                  <a:noFill/>
                </a:ln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8" name="Picture Placeholder 13"/>
          <p:cNvSpPr>
            <a:spLocks noGrp="1"/>
          </p:cNvSpPr>
          <p:nvPr>
            <p:ph type="pic" sz="quarter" idx="51"/>
          </p:nvPr>
        </p:nvSpPr>
        <p:spPr>
          <a:xfrm>
            <a:off x="4893345" y="3156388"/>
            <a:ext cx="893111" cy="1556374"/>
          </a:xfrm>
          <a:prstGeom prst="rect">
            <a:avLst/>
          </a:prstGeom>
          <a:effectLst/>
        </p:spPr>
        <p:txBody>
          <a:bodyPr>
            <a:normAutofit/>
          </a:bodyPr>
          <a:lstStyle>
            <a:lvl1pPr marL="0" indent="0">
              <a:buNone/>
              <a:defRPr sz="1300">
                <a:ln>
                  <a:noFill/>
                </a:ln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90179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68697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8" r:id="rId5"/>
    <p:sldLayoutId id="2147483669" r:id="rId6"/>
    <p:sldLayoutId id="2147483670" r:id="rId7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200" b="1" i="0" kern="1200" baseline="0">
          <a:solidFill>
            <a:schemeClr val="accent1"/>
          </a:solidFill>
          <a:effectLst/>
          <a:latin typeface="+mj-ea"/>
          <a:ea typeface="+mj-ea"/>
          <a:cs typeface="+mj-cs"/>
        </a:defRPr>
      </a:lvl1pPr>
    </p:titleStyle>
    <p:bodyStyle>
      <a:lvl1pPr marL="361950" indent="-361950" algn="just" defTabSz="685800" rtl="0" eaLnBrk="1" latinLnBrk="0" hangingPunct="1">
        <a:lnSpc>
          <a:spcPct val="110000"/>
        </a:lnSpc>
        <a:spcBef>
          <a:spcPts val="1200"/>
        </a:spcBef>
        <a:spcAft>
          <a:spcPts val="0"/>
        </a:spcAft>
        <a:buClr>
          <a:schemeClr val="accent1"/>
        </a:buClr>
        <a:buSzPct val="50000"/>
        <a:buFont typeface="Wingdings 2" panose="05020102010507070707" pitchFamily="18" charset="2"/>
        <a:buChar char=""/>
        <a:defRPr lang="zh-CN" altLang="en-US" sz="2800" kern="1200" baseline="0" dirty="0" smtClean="0">
          <a:solidFill>
            <a:schemeClr val="accent2">
              <a:lumMod val="75000"/>
            </a:schemeClr>
          </a:solidFill>
          <a:latin typeface="+mn-ea"/>
          <a:ea typeface="+mn-ea"/>
          <a:cs typeface="+mn-cs"/>
        </a:defRPr>
      </a:lvl1pPr>
      <a:lvl2pPr marL="361950" indent="-361950" algn="just" defTabSz="685800" rtl="0" eaLnBrk="1" latinLnBrk="0" hangingPunct="1">
        <a:lnSpc>
          <a:spcPct val="120000"/>
        </a:lnSpc>
        <a:spcBef>
          <a:spcPts val="0"/>
        </a:spcBef>
        <a:spcAft>
          <a:spcPts val="1200"/>
        </a:spcAft>
        <a:buClr>
          <a:schemeClr val="accent2">
            <a:lumMod val="60000"/>
            <a:lumOff val="40000"/>
          </a:schemeClr>
        </a:buClr>
        <a:buFont typeface="幼圆" panose="02010509060101010101" pitchFamily="49" charset="-122"/>
        <a:buChar char=" "/>
        <a:defRPr sz="1800" kern="1200" baseline="0">
          <a:solidFill>
            <a:schemeClr val="tx1"/>
          </a:solidFill>
          <a:latin typeface="+mn-ea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5" Type="http://schemas.openxmlformats.org/officeDocument/2006/relationships/slideLayout" Target="../slideLayouts/slideLayout3.xml"/><Relationship Id="rId4" Type="http://schemas.openxmlformats.org/officeDocument/2006/relationships/tags" Target="../tags/tag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4.xml"/><Relationship Id="rId1" Type="http://schemas.openxmlformats.org/officeDocument/2006/relationships/themeOverride" Target="../theme/themeOverride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6.xml"/><Relationship Id="rId1" Type="http://schemas.openxmlformats.org/officeDocument/2006/relationships/themeOverride" Target="../theme/themeOverride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4" Type="http://schemas.microsoft.com/office/2007/relationships/hdphoto" Target="../media/hdphoto3.wdp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chart" Target="../charts/chart5.xml"/><Relationship Id="rId2" Type="http://schemas.microsoft.com/office/2014/relationships/chartEx" Target="../charts/chartEx1.xml"/><Relationship Id="rId1" Type="http://schemas.openxmlformats.org/officeDocument/2006/relationships/slideLayout" Target="../slideLayouts/slideLayout3.xml"/><Relationship Id="rId6" Type="http://schemas.openxmlformats.org/officeDocument/2006/relationships/chart" Target="../charts/chart4.xml"/><Relationship Id="rId5" Type="http://schemas.openxmlformats.org/officeDocument/2006/relationships/image" Target="../media/image9.png"/><Relationship Id="rId4" Type="http://schemas.microsoft.com/office/2014/relationships/chartEx" Target="../charts/chartEx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microsoft.com/office/2007/relationships/hdphoto" Target="../media/hdphoto4.wdp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microsoft.com/office/2007/relationships/hdphoto" Target="../media/hdphoto5.wdp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microsoft.com/office/2007/relationships/hdphoto" Target="../media/hdphoto6.wdp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7.png"/><Relationship Id="rId2" Type="http://schemas.microsoft.com/office/2014/relationships/chartEx" Target="../charts/chartEx3.xml"/><Relationship Id="rId1" Type="http://schemas.openxmlformats.org/officeDocument/2006/relationships/slideLayout" Target="../slideLayouts/slideLayout3.xml"/><Relationship Id="rId6" Type="http://schemas.microsoft.com/office/2014/relationships/chartEx" Target="../charts/chartEx5.xml"/><Relationship Id="rId5" Type="http://schemas.openxmlformats.org/officeDocument/2006/relationships/image" Target="../media/image16.png"/><Relationship Id="rId4" Type="http://schemas.microsoft.com/office/2014/relationships/chartEx" Target="../charts/chartEx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3.xml"/><Relationship Id="rId4" Type="http://schemas.openxmlformats.org/officeDocument/2006/relationships/chart" Target="../charts/chart8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9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1.xml"/><Relationship Id="rId2" Type="http://schemas.openxmlformats.org/officeDocument/2006/relationships/chart" Target="../charts/chart10.xml"/><Relationship Id="rId1" Type="http://schemas.openxmlformats.org/officeDocument/2006/relationships/slideLayout" Target="../slideLayouts/slideLayout3.xml"/><Relationship Id="rId4" Type="http://schemas.openxmlformats.org/officeDocument/2006/relationships/chart" Target="../charts/chart1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椭圆 18"/>
          <p:cNvSpPr/>
          <p:nvPr/>
        </p:nvSpPr>
        <p:spPr>
          <a:xfrm>
            <a:off x="10146278" y="603916"/>
            <a:ext cx="402696" cy="402696"/>
          </a:xfrm>
          <a:prstGeom prst="ellipse">
            <a:avLst/>
          </a:prstGeom>
          <a:solidFill>
            <a:srgbClr val="D78F8E"/>
          </a:solidFill>
          <a:ln>
            <a:noFill/>
          </a:ln>
          <a:effectLst>
            <a:reflection stA="45000" endPos="30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 17"/>
          <p:cNvSpPr/>
          <p:nvPr/>
        </p:nvSpPr>
        <p:spPr>
          <a:xfrm rot="10800000" flipV="1">
            <a:off x="-11575" y="1249680"/>
            <a:ext cx="7251614" cy="5654361"/>
          </a:xfrm>
          <a:custGeom>
            <a:avLst/>
            <a:gdLst>
              <a:gd name="connsiteX0" fmla="*/ 4052585 w 7495569"/>
              <a:gd name="connsiteY0" fmla="*/ 0 h 5760400"/>
              <a:gd name="connsiteX1" fmla="*/ 7413052 w 7495569"/>
              <a:gd name="connsiteY1" fmla="*/ 1786746 h 5760400"/>
              <a:gd name="connsiteX2" fmla="*/ 7495569 w 7495569"/>
              <a:gd name="connsiteY2" fmla="*/ 1922573 h 5760400"/>
              <a:gd name="connsiteX3" fmla="*/ 7495569 w 7495569"/>
              <a:gd name="connsiteY3" fmla="*/ 5760400 h 5760400"/>
              <a:gd name="connsiteX4" fmla="*/ 381273 w 7495569"/>
              <a:gd name="connsiteY4" fmla="*/ 5760400 h 5760400"/>
              <a:gd name="connsiteX5" fmla="*/ 318473 w 7495569"/>
              <a:gd name="connsiteY5" fmla="*/ 5630034 h 5760400"/>
              <a:gd name="connsiteX6" fmla="*/ 0 w 7495569"/>
              <a:gd name="connsiteY6" fmla="*/ 4052585 h 5760400"/>
              <a:gd name="connsiteX7" fmla="*/ 4052585 w 7495569"/>
              <a:gd name="connsiteY7" fmla="*/ 0 h 5760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495569" h="5760400">
                <a:moveTo>
                  <a:pt x="4052585" y="0"/>
                </a:moveTo>
                <a:cubicBezTo>
                  <a:pt x="5451448" y="0"/>
                  <a:pt x="6684773" y="708752"/>
                  <a:pt x="7413052" y="1786746"/>
                </a:cubicBezTo>
                <a:lnTo>
                  <a:pt x="7495569" y="1922573"/>
                </a:lnTo>
                <a:lnTo>
                  <a:pt x="7495569" y="5760400"/>
                </a:lnTo>
                <a:lnTo>
                  <a:pt x="381273" y="5760400"/>
                </a:lnTo>
                <a:lnTo>
                  <a:pt x="318473" y="5630034"/>
                </a:lnTo>
                <a:cubicBezTo>
                  <a:pt x="113401" y="5145190"/>
                  <a:pt x="0" y="4612131"/>
                  <a:pt x="0" y="4052585"/>
                </a:cubicBezTo>
                <a:cubicBezTo>
                  <a:pt x="0" y="1814404"/>
                  <a:pt x="1814404" y="0"/>
                  <a:pt x="4052585" y="0"/>
                </a:cubicBezTo>
                <a:close/>
              </a:path>
            </a:pathLst>
          </a:custGeom>
          <a:solidFill>
            <a:srgbClr val="F6E8E7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1366162" y="3141485"/>
            <a:ext cx="4977408" cy="16927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1150624">
              <a:spcBef>
                <a:spcPct val="20000"/>
              </a:spcBef>
            </a:pPr>
            <a:r>
              <a:rPr lang="en-US" altLang="zh-CN" sz="8000" kern="0" dirty="0">
                <a:solidFill>
                  <a:schemeClr val="accent1">
                    <a:lumMod val="5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Project1</a:t>
            </a:r>
          </a:p>
          <a:p>
            <a:pPr defTabSz="1150624">
              <a:spcBef>
                <a:spcPct val="20000"/>
              </a:spcBef>
            </a:pPr>
            <a:r>
              <a:rPr lang="en-US" altLang="zh-CN" kern="0" dirty="0">
                <a:solidFill>
                  <a:schemeClr val="accent1">
                    <a:lumMod val="5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105306002</a:t>
            </a:r>
            <a:r>
              <a:rPr lang="zh-TW" altLang="en-US" kern="0" dirty="0">
                <a:solidFill>
                  <a:schemeClr val="accent1">
                    <a:lumMod val="5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林貞妮</a:t>
            </a:r>
            <a:endParaRPr lang="en-US" altLang="zh-CN" kern="0" dirty="0">
              <a:solidFill>
                <a:schemeClr val="accent1">
                  <a:lumMod val="50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11" name="椭圆 4"/>
          <p:cNvSpPr>
            <a:spLocks noChangeArrowheads="1"/>
          </p:cNvSpPr>
          <p:nvPr/>
        </p:nvSpPr>
        <p:spPr bwMode="auto">
          <a:xfrm>
            <a:off x="8852147" y="1923873"/>
            <a:ext cx="625475" cy="625475"/>
          </a:xfrm>
          <a:prstGeom prst="ellipse">
            <a:avLst/>
          </a:prstGeom>
          <a:solidFill>
            <a:srgbClr val="ECCBCA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cap="flat" cmpd="sng">
                <a:solidFill>
                  <a:srgbClr val="395E8A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13" name="椭圆 5"/>
          <p:cNvSpPr>
            <a:spLocks noChangeArrowheads="1"/>
          </p:cNvSpPr>
          <p:nvPr/>
        </p:nvSpPr>
        <p:spPr bwMode="auto">
          <a:xfrm>
            <a:off x="8975754" y="2047480"/>
            <a:ext cx="378260" cy="378260"/>
          </a:xfrm>
          <a:prstGeom prst="ellipse">
            <a:avLst/>
          </a:prstGeom>
          <a:solidFill>
            <a:srgbClr val="D78F8D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cap="flat" cmpd="sng">
                <a:solidFill>
                  <a:srgbClr val="395E8A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14" name="椭圆 8"/>
          <p:cNvSpPr>
            <a:spLocks noChangeArrowheads="1"/>
          </p:cNvSpPr>
          <p:nvPr/>
        </p:nvSpPr>
        <p:spPr bwMode="auto">
          <a:xfrm>
            <a:off x="8663016" y="4159073"/>
            <a:ext cx="625475" cy="625475"/>
          </a:xfrm>
          <a:prstGeom prst="ellipse">
            <a:avLst/>
          </a:prstGeom>
          <a:solidFill>
            <a:srgbClr val="ECCBCA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cap="flat" cmpd="sng">
                <a:solidFill>
                  <a:srgbClr val="395E8A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15" name="椭圆 7"/>
          <p:cNvSpPr>
            <a:spLocks noChangeArrowheads="1"/>
          </p:cNvSpPr>
          <p:nvPr/>
        </p:nvSpPr>
        <p:spPr bwMode="auto">
          <a:xfrm>
            <a:off x="6256585" y="1711148"/>
            <a:ext cx="2860675" cy="2860675"/>
          </a:xfrm>
          <a:prstGeom prst="ellipse">
            <a:avLst/>
          </a:prstGeom>
          <a:solidFill>
            <a:srgbClr val="D78F8E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cap="flat" cmpd="sng">
                <a:solidFill>
                  <a:srgbClr val="395E8A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17" name="椭圆 9"/>
          <p:cNvSpPr>
            <a:spLocks noChangeArrowheads="1"/>
          </p:cNvSpPr>
          <p:nvPr/>
        </p:nvSpPr>
        <p:spPr bwMode="auto">
          <a:xfrm>
            <a:off x="6466563" y="4693852"/>
            <a:ext cx="312737" cy="312737"/>
          </a:xfrm>
          <a:prstGeom prst="ellipse">
            <a:avLst/>
          </a:prstGeom>
          <a:solidFill>
            <a:srgbClr val="ECCBCA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cap="flat" cmpd="sng">
                <a:solidFill>
                  <a:srgbClr val="395E8A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21" name="椭圆 29"/>
          <p:cNvSpPr>
            <a:spLocks noChangeArrowheads="1"/>
          </p:cNvSpPr>
          <p:nvPr/>
        </p:nvSpPr>
        <p:spPr bwMode="auto">
          <a:xfrm>
            <a:off x="9368085" y="5149673"/>
            <a:ext cx="341312" cy="341312"/>
          </a:xfrm>
          <a:prstGeom prst="ellipse">
            <a:avLst/>
          </a:prstGeom>
          <a:solidFill>
            <a:srgbClr val="E5B8B7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cap="flat" cmpd="sng">
                <a:solidFill>
                  <a:srgbClr val="395E8A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22" name="椭圆 30"/>
          <p:cNvSpPr>
            <a:spLocks noChangeArrowheads="1"/>
          </p:cNvSpPr>
          <p:nvPr/>
        </p:nvSpPr>
        <p:spPr bwMode="auto">
          <a:xfrm>
            <a:off x="9435536" y="5217124"/>
            <a:ext cx="206410" cy="206410"/>
          </a:xfrm>
          <a:prstGeom prst="ellipse">
            <a:avLst/>
          </a:prstGeom>
          <a:solidFill>
            <a:srgbClr val="D78F8D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cap="flat" cmpd="sng">
                <a:solidFill>
                  <a:srgbClr val="395E8A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23" name="椭圆 32"/>
          <p:cNvSpPr>
            <a:spLocks noChangeArrowheads="1"/>
          </p:cNvSpPr>
          <p:nvPr/>
        </p:nvSpPr>
        <p:spPr bwMode="auto">
          <a:xfrm>
            <a:off x="8267947" y="5071885"/>
            <a:ext cx="169863" cy="171450"/>
          </a:xfrm>
          <a:prstGeom prst="ellipse">
            <a:avLst/>
          </a:prstGeom>
          <a:solidFill>
            <a:srgbClr val="E5B8B7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cap="flat" cmpd="sng">
                <a:solidFill>
                  <a:srgbClr val="395E8A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24" name="椭圆 33"/>
          <p:cNvSpPr>
            <a:spLocks noChangeArrowheads="1"/>
          </p:cNvSpPr>
          <p:nvPr/>
        </p:nvSpPr>
        <p:spPr bwMode="auto">
          <a:xfrm>
            <a:off x="8301516" y="5105767"/>
            <a:ext cx="102726" cy="103685"/>
          </a:xfrm>
          <a:prstGeom prst="ellipse">
            <a:avLst/>
          </a:prstGeom>
          <a:solidFill>
            <a:srgbClr val="D78F8D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cap="flat" cmpd="sng">
                <a:solidFill>
                  <a:srgbClr val="395E8A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25" name="椭圆 39"/>
          <p:cNvSpPr>
            <a:spLocks noChangeArrowheads="1"/>
          </p:cNvSpPr>
          <p:nvPr/>
        </p:nvSpPr>
        <p:spPr bwMode="auto">
          <a:xfrm>
            <a:off x="1053221" y="5423534"/>
            <a:ext cx="298450" cy="298450"/>
          </a:xfrm>
          <a:prstGeom prst="ellipse">
            <a:avLst/>
          </a:prstGeom>
          <a:solidFill>
            <a:srgbClr val="E5B8B7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cap="flat" cmpd="sng">
                <a:solidFill>
                  <a:srgbClr val="395E8A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26" name="椭圆 40"/>
          <p:cNvSpPr>
            <a:spLocks noChangeArrowheads="1"/>
          </p:cNvSpPr>
          <p:nvPr/>
        </p:nvSpPr>
        <p:spPr bwMode="auto">
          <a:xfrm>
            <a:off x="1112202" y="5490985"/>
            <a:ext cx="180489" cy="180489"/>
          </a:xfrm>
          <a:prstGeom prst="ellipse">
            <a:avLst/>
          </a:prstGeom>
          <a:solidFill>
            <a:srgbClr val="D78F8D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cap="flat" cmpd="sng">
                <a:solidFill>
                  <a:srgbClr val="395E8A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6430554" y="3000267"/>
            <a:ext cx="2646878" cy="70788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TW" altLang="en-US" sz="4000" spc="600" dirty="0">
                <a:solidFill>
                  <a:schemeClr val="bg1"/>
                </a:solidFill>
                <a:latin typeface="造字工房悦黑（非商用）常规体" pitchFamily="50" charset="-122"/>
                <a:ea typeface="造字工房悦黑（非商用）常规体" pitchFamily="50" charset="-122"/>
              </a:rPr>
              <a:t>人壽保險</a:t>
            </a:r>
            <a:endParaRPr lang="zh-CN" altLang="en-US" sz="4000" spc="600" dirty="0">
              <a:solidFill>
                <a:schemeClr val="bg1"/>
              </a:solidFill>
              <a:latin typeface="造字工房悦黑（非商用）常规体" pitchFamily="50" charset="-122"/>
              <a:ea typeface="造字工房悦黑（非商用）常规体" pitchFamily="50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314901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任意多边形 25"/>
          <p:cNvSpPr/>
          <p:nvPr/>
        </p:nvSpPr>
        <p:spPr>
          <a:xfrm rot="10800000">
            <a:off x="0" y="0"/>
            <a:ext cx="5090160" cy="3911825"/>
          </a:xfrm>
          <a:custGeom>
            <a:avLst/>
            <a:gdLst>
              <a:gd name="connsiteX0" fmla="*/ 4052585 w 7495569"/>
              <a:gd name="connsiteY0" fmla="*/ 0 h 5760400"/>
              <a:gd name="connsiteX1" fmla="*/ 7413052 w 7495569"/>
              <a:gd name="connsiteY1" fmla="*/ 1786746 h 5760400"/>
              <a:gd name="connsiteX2" fmla="*/ 7495569 w 7495569"/>
              <a:gd name="connsiteY2" fmla="*/ 1922573 h 5760400"/>
              <a:gd name="connsiteX3" fmla="*/ 7495569 w 7495569"/>
              <a:gd name="connsiteY3" fmla="*/ 5760400 h 5760400"/>
              <a:gd name="connsiteX4" fmla="*/ 381273 w 7495569"/>
              <a:gd name="connsiteY4" fmla="*/ 5760400 h 5760400"/>
              <a:gd name="connsiteX5" fmla="*/ 318473 w 7495569"/>
              <a:gd name="connsiteY5" fmla="*/ 5630034 h 5760400"/>
              <a:gd name="connsiteX6" fmla="*/ 0 w 7495569"/>
              <a:gd name="connsiteY6" fmla="*/ 4052585 h 5760400"/>
              <a:gd name="connsiteX7" fmla="*/ 4052585 w 7495569"/>
              <a:gd name="connsiteY7" fmla="*/ 0 h 5760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495569" h="5760400">
                <a:moveTo>
                  <a:pt x="4052585" y="0"/>
                </a:moveTo>
                <a:cubicBezTo>
                  <a:pt x="5451448" y="0"/>
                  <a:pt x="6684773" y="708752"/>
                  <a:pt x="7413052" y="1786746"/>
                </a:cubicBezTo>
                <a:lnTo>
                  <a:pt x="7495569" y="1922573"/>
                </a:lnTo>
                <a:lnTo>
                  <a:pt x="7495569" y="5760400"/>
                </a:lnTo>
                <a:lnTo>
                  <a:pt x="381273" y="5760400"/>
                </a:lnTo>
                <a:lnTo>
                  <a:pt x="318473" y="5630034"/>
                </a:lnTo>
                <a:cubicBezTo>
                  <a:pt x="113401" y="5145190"/>
                  <a:pt x="0" y="4612131"/>
                  <a:pt x="0" y="4052585"/>
                </a:cubicBezTo>
                <a:cubicBezTo>
                  <a:pt x="0" y="1814404"/>
                  <a:pt x="1814404" y="0"/>
                  <a:pt x="4052585" y="0"/>
                </a:cubicBezTo>
                <a:close/>
              </a:path>
            </a:pathLst>
          </a:custGeom>
          <a:solidFill>
            <a:srgbClr val="F6E8E7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椭圆 24"/>
          <p:cNvSpPr/>
          <p:nvPr/>
        </p:nvSpPr>
        <p:spPr>
          <a:xfrm>
            <a:off x="7043624" y="1718598"/>
            <a:ext cx="191910" cy="191910"/>
          </a:xfrm>
          <a:prstGeom prst="ellipse">
            <a:avLst/>
          </a:prstGeom>
          <a:solidFill>
            <a:srgbClr val="F8ED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523A2C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4" name="椭圆 3"/>
          <p:cNvSpPr/>
          <p:nvPr/>
        </p:nvSpPr>
        <p:spPr>
          <a:xfrm>
            <a:off x="6349731" y="992816"/>
            <a:ext cx="952500" cy="952500"/>
          </a:xfrm>
          <a:prstGeom prst="ellipse">
            <a:avLst/>
          </a:prstGeom>
          <a:solidFill>
            <a:srgbClr val="EDD1CF"/>
          </a:solidFill>
          <a:ln>
            <a:noFill/>
          </a:ln>
          <a:effectLst>
            <a:reflection stA="40000" endPos="30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523A2C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725733" y="2000786"/>
            <a:ext cx="258115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dirty="0">
                <a:solidFill>
                  <a:srgbClr val="523A2C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Project</a:t>
            </a:r>
            <a:r>
              <a:rPr lang="zh-TW" altLang="en-US" dirty="0">
                <a:solidFill>
                  <a:srgbClr val="523A2C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摘要、變數內容</a:t>
            </a:r>
            <a:endParaRPr lang="en-US" altLang="zh-TW" dirty="0">
              <a:solidFill>
                <a:srgbClr val="523A2C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  <a:p>
            <a:pPr algn="ctr"/>
            <a:endParaRPr lang="zh-CN" altLang="en-US" dirty="0">
              <a:solidFill>
                <a:srgbClr val="523A2C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8853225" y="2018110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dirty="0">
                <a:solidFill>
                  <a:srgbClr val="523A2C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採用分析的方法</a:t>
            </a:r>
            <a:endParaRPr lang="en-US" altLang="zh-TW" dirty="0">
              <a:solidFill>
                <a:srgbClr val="523A2C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7422329" y="4844812"/>
            <a:ext cx="2371162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dirty="0">
                <a:solidFill>
                  <a:srgbClr val="523A2C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分析的結果</a:t>
            </a:r>
            <a:endParaRPr lang="en-US" altLang="zh-TW" dirty="0">
              <a:solidFill>
                <a:srgbClr val="523A2C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zh-TW" altLang="en-US" sz="1600" dirty="0">
                <a:solidFill>
                  <a:srgbClr val="523A2C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觀察變數</a:t>
            </a:r>
            <a:endParaRPr lang="en-US" altLang="zh-TW" sz="1600" dirty="0">
              <a:solidFill>
                <a:srgbClr val="523A2C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zh-TW" altLang="en-US" sz="1600" dirty="0">
                <a:solidFill>
                  <a:srgbClr val="523A2C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採用主成分個數</a:t>
            </a:r>
            <a:endParaRPr lang="en-US" altLang="zh-TW" sz="1600" dirty="0">
              <a:solidFill>
                <a:srgbClr val="523A2C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zh-TW" altLang="en-US" sz="1600" dirty="0">
                <a:solidFill>
                  <a:srgbClr val="523A2C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定義主成分</a:t>
            </a:r>
            <a:endParaRPr lang="en-US" altLang="zh-TW" sz="1600" dirty="0">
              <a:solidFill>
                <a:srgbClr val="523A2C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  <a:p>
            <a:endParaRPr lang="en-US" altLang="zh-TW" dirty="0"/>
          </a:p>
        </p:txBody>
      </p:sp>
      <p:sp>
        <p:nvSpPr>
          <p:cNvPr id="23" name="椭圆 22"/>
          <p:cNvSpPr/>
          <p:nvPr/>
        </p:nvSpPr>
        <p:spPr>
          <a:xfrm>
            <a:off x="3469227" y="3480927"/>
            <a:ext cx="908689" cy="908689"/>
          </a:xfrm>
          <a:prstGeom prst="ellipse">
            <a:avLst/>
          </a:prstGeom>
          <a:solidFill>
            <a:srgbClr val="EDD1CF"/>
          </a:solidFill>
          <a:ln>
            <a:noFill/>
          </a:ln>
          <a:effectLst>
            <a:reflection stA="40000" endPos="30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椭圆 8"/>
          <p:cNvSpPr/>
          <p:nvPr/>
        </p:nvSpPr>
        <p:spPr>
          <a:xfrm>
            <a:off x="8893541" y="1011551"/>
            <a:ext cx="952500" cy="952500"/>
          </a:xfrm>
          <a:prstGeom prst="ellipse">
            <a:avLst/>
          </a:prstGeom>
          <a:solidFill>
            <a:srgbClr val="F6E8E7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523A2C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33" name="椭圆 32"/>
          <p:cNvSpPr/>
          <p:nvPr/>
        </p:nvSpPr>
        <p:spPr>
          <a:xfrm>
            <a:off x="9601581" y="1718598"/>
            <a:ext cx="191910" cy="191910"/>
          </a:xfrm>
          <a:prstGeom prst="ellipse">
            <a:avLst/>
          </a:prstGeom>
          <a:solidFill>
            <a:srgbClr val="EDD1C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523A2C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14" name="椭圆 13"/>
          <p:cNvSpPr/>
          <p:nvPr/>
        </p:nvSpPr>
        <p:spPr>
          <a:xfrm>
            <a:off x="8046943" y="3824236"/>
            <a:ext cx="952500" cy="952500"/>
          </a:xfrm>
          <a:prstGeom prst="ellipse">
            <a:avLst/>
          </a:prstGeom>
          <a:solidFill>
            <a:srgbClr val="F6E8E7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523A2C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34" name="椭圆 33"/>
          <p:cNvSpPr/>
          <p:nvPr/>
        </p:nvSpPr>
        <p:spPr>
          <a:xfrm>
            <a:off x="8788165" y="4531283"/>
            <a:ext cx="191910" cy="191910"/>
          </a:xfrm>
          <a:prstGeom prst="ellipse">
            <a:avLst/>
          </a:prstGeom>
          <a:solidFill>
            <a:srgbClr val="EDD1C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523A2C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27" name="MH_Others_1"/>
          <p:cNvSpPr txBox="1"/>
          <p:nvPr>
            <p:custDataLst>
              <p:tags r:id="rId1"/>
            </p:custDataLst>
          </p:nvPr>
        </p:nvSpPr>
        <p:spPr>
          <a:xfrm>
            <a:off x="6549545" y="1035095"/>
            <a:ext cx="427382" cy="955985"/>
          </a:xfrm>
          <a:prstGeom prst="rect">
            <a:avLst/>
          </a:prstGeom>
          <a:noFill/>
          <a:effectLst>
            <a:reflection endPos="0" dist="50800" dir="5400000" sy="-100000" algn="bl" rotWithShape="0"/>
          </a:effectLst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 sz="37500">
                <a:solidFill>
                  <a:schemeClr val="bg1"/>
                </a:solidFill>
                <a:latin typeface="ISOCP" panose="00000400000000000000" pitchFamily="2" charset="0"/>
                <a:ea typeface="造字工房悦黑（非商用）常规体" pitchFamily="50" charset="-122"/>
                <a:cs typeface="ISOCP" panose="00000400000000000000" pitchFamily="2" charset="0"/>
              </a:defRPr>
            </a:lvl1pPr>
          </a:lstStyle>
          <a:p>
            <a:r>
              <a:rPr lang="en-US" altLang="zh-CN" sz="6000" dirty="0">
                <a:solidFill>
                  <a:srgbClr val="523A2C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1</a:t>
            </a:r>
            <a:endParaRPr lang="zh-CN" altLang="en-US" sz="6000" dirty="0">
              <a:solidFill>
                <a:srgbClr val="523A2C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28" name="MH_Others_1"/>
          <p:cNvSpPr txBox="1"/>
          <p:nvPr>
            <p:custDataLst>
              <p:tags r:id="rId2"/>
            </p:custDataLst>
          </p:nvPr>
        </p:nvSpPr>
        <p:spPr>
          <a:xfrm>
            <a:off x="9165971" y="1062493"/>
            <a:ext cx="427382" cy="955985"/>
          </a:xfrm>
          <a:prstGeom prst="rect">
            <a:avLst/>
          </a:prstGeom>
          <a:noFill/>
          <a:effectLst>
            <a:reflection endPos="0" dist="50800" dir="5400000" sy="-100000" algn="bl" rotWithShape="0"/>
          </a:effectLst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 sz="37500">
                <a:solidFill>
                  <a:schemeClr val="bg1"/>
                </a:solidFill>
                <a:latin typeface="ISOCP" panose="00000400000000000000" pitchFamily="2" charset="0"/>
                <a:ea typeface="造字工房悦黑（非商用）常规体" pitchFamily="50" charset="-122"/>
                <a:cs typeface="ISOCP" panose="00000400000000000000" pitchFamily="2" charset="0"/>
              </a:defRPr>
            </a:lvl1pPr>
          </a:lstStyle>
          <a:p>
            <a:r>
              <a:rPr lang="en-US" altLang="zh-CN" sz="6000" dirty="0">
                <a:solidFill>
                  <a:srgbClr val="523A2C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2</a:t>
            </a:r>
            <a:endParaRPr lang="zh-CN" altLang="en-US" sz="6000" dirty="0">
              <a:solidFill>
                <a:srgbClr val="523A2C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29" name="MH_Others_1"/>
          <p:cNvSpPr txBox="1"/>
          <p:nvPr>
            <p:custDataLst>
              <p:tags r:id="rId3"/>
            </p:custDataLst>
          </p:nvPr>
        </p:nvSpPr>
        <p:spPr>
          <a:xfrm>
            <a:off x="8329382" y="3888605"/>
            <a:ext cx="427382" cy="955985"/>
          </a:xfrm>
          <a:prstGeom prst="rect">
            <a:avLst/>
          </a:prstGeom>
          <a:noFill/>
          <a:effectLst>
            <a:reflection endPos="0" dist="50800" dir="5400000" sy="-100000" algn="bl" rotWithShape="0"/>
          </a:effectLst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 sz="37500">
                <a:solidFill>
                  <a:schemeClr val="bg1"/>
                </a:solidFill>
                <a:latin typeface="ISOCP" panose="00000400000000000000" pitchFamily="2" charset="0"/>
                <a:ea typeface="造字工房悦黑（非商用）常规体" pitchFamily="50" charset="-122"/>
                <a:cs typeface="ISOCP" panose="00000400000000000000" pitchFamily="2" charset="0"/>
              </a:defRPr>
            </a:lvl1pPr>
          </a:lstStyle>
          <a:p>
            <a:r>
              <a:rPr lang="en-US" altLang="zh-CN" sz="6000" dirty="0">
                <a:solidFill>
                  <a:srgbClr val="523A2C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3</a:t>
            </a:r>
            <a:endParaRPr lang="zh-CN" altLang="en-US" sz="6000" dirty="0">
              <a:solidFill>
                <a:srgbClr val="523A2C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31" name="任意多边形 30"/>
          <p:cNvSpPr/>
          <p:nvPr/>
        </p:nvSpPr>
        <p:spPr>
          <a:xfrm rot="10800000">
            <a:off x="-8229" y="0"/>
            <a:ext cx="4799018" cy="3688080"/>
          </a:xfrm>
          <a:custGeom>
            <a:avLst/>
            <a:gdLst>
              <a:gd name="connsiteX0" fmla="*/ 4052585 w 7495569"/>
              <a:gd name="connsiteY0" fmla="*/ 0 h 5760400"/>
              <a:gd name="connsiteX1" fmla="*/ 7413052 w 7495569"/>
              <a:gd name="connsiteY1" fmla="*/ 1786746 h 5760400"/>
              <a:gd name="connsiteX2" fmla="*/ 7495569 w 7495569"/>
              <a:gd name="connsiteY2" fmla="*/ 1922573 h 5760400"/>
              <a:gd name="connsiteX3" fmla="*/ 7495569 w 7495569"/>
              <a:gd name="connsiteY3" fmla="*/ 5760400 h 5760400"/>
              <a:gd name="connsiteX4" fmla="*/ 381273 w 7495569"/>
              <a:gd name="connsiteY4" fmla="*/ 5760400 h 5760400"/>
              <a:gd name="connsiteX5" fmla="*/ 318473 w 7495569"/>
              <a:gd name="connsiteY5" fmla="*/ 5630034 h 5760400"/>
              <a:gd name="connsiteX6" fmla="*/ 0 w 7495569"/>
              <a:gd name="connsiteY6" fmla="*/ 4052585 h 5760400"/>
              <a:gd name="connsiteX7" fmla="*/ 4052585 w 7495569"/>
              <a:gd name="connsiteY7" fmla="*/ 0 h 5760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495569" h="5760400">
                <a:moveTo>
                  <a:pt x="4052585" y="0"/>
                </a:moveTo>
                <a:cubicBezTo>
                  <a:pt x="5451448" y="0"/>
                  <a:pt x="6684773" y="708752"/>
                  <a:pt x="7413052" y="1786746"/>
                </a:cubicBezTo>
                <a:lnTo>
                  <a:pt x="7495569" y="1922573"/>
                </a:lnTo>
                <a:lnTo>
                  <a:pt x="7495569" y="5760400"/>
                </a:lnTo>
                <a:lnTo>
                  <a:pt x="381273" y="5760400"/>
                </a:lnTo>
                <a:lnTo>
                  <a:pt x="318473" y="5630034"/>
                </a:lnTo>
                <a:cubicBezTo>
                  <a:pt x="113401" y="5145190"/>
                  <a:pt x="0" y="4612131"/>
                  <a:pt x="0" y="4052585"/>
                </a:cubicBezTo>
                <a:cubicBezTo>
                  <a:pt x="0" y="1814404"/>
                  <a:pt x="1814404" y="0"/>
                  <a:pt x="4052585" y="0"/>
                </a:cubicBezTo>
                <a:close/>
              </a:path>
            </a:pathLst>
          </a:custGeom>
          <a:solidFill>
            <a:srgbClr val="EDD1CF"/>
          </a:solidFill>
          <a:ln>
            <a:noFill/>
          </a:ln>
          <a:effectLst>
            <a:reflection stA="40000" endPos="30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MH_Others_1"/>
          <p:cNvSpPr txBox="1"/>
          <p:nvPr>
            <p:custDataLst>
              <p:tags r:id="rId4"/>
            </p:custDataLst>
          </p:nvPr>
        </p:nvSpPr>
        <p:spPr>
          <a:xfrm>
            <a:off x="-60413" y="1373573"/>
            <a:ext cx="5427212" cy="847938"/>
          </a:xfrm>
          <a:prstGeom prst="rect">
            <a:avLst/>
          </a:prstGeom>
          <a:noFill/>
          <a:effectLst>
            <a:reflection endPos="0" dist="50800" dir="5400000" sy="-100000" algn="bl" rotWithShape="0"/>
          </a:effectLst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 sz="9600" b="1">
                <a:solidFill>
                  <a:schemeClr val="bg1"/>
                </a:solidFill>
                <a:latin typeface="ISOCP" panose="00000400000000000000" pitchFamily="2" charset="0"/>
                <a:ea typeface="造字工房悦黑（非商用）常规体" pitchFamily="50" charset="-122"/>
                <a:cs typeface="ISOCP" panose="00000400000000000000" pitchFamily="2" charset="0"/>
              </a:defRPr>
            </a:lvl1pPr>
          </a:lstStyle>
          <a:p>
            <a:r>
              <a:rPr lang="en-US" altLang="zh-CN" sz="6600" b="0" spc="-300" dirty="0">
                <a:solidFill>
                  <a:srgbClr val="523A2C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Contents</a:t>
            </a:r>
            <a:endParaRPr lang="zh-CN" altLang="en-US" sz="6600" b="0" spc="-300" dirty="0">
              <a:solidFill>
                <a:srgbClr val="523A2C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360327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/>
        </p:nvSpPr>
        <p:spPr>
          <a:xfrm>
            <a:off x="1191309" y="1728827"/>
            <a:ext cx="3301902" cy="3301902"/>
          </a:xfrm>
          <a:prstGeom prst="ellipse">
            <a:avLst/>
          </a:prstGeom>
          <a:solidFill>
            <a:srgbClr val="EDD1CF"/>
          </a:solidFill>
          <a:ln>
            <a:noFill/>
          </a:ln>
          <a:effectLst>
            <a:reflection stA="40000" endPos="30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523A2C"/>
              </a:solidFill>
            </a:endParaRPr>
          </a:p>
        </p:txBody>
      </p:sp>
      <p:sp>
        <p:nvSpPr>
          <p:cNvPr id="5" name="椭圆 4"/>
          <p:cNvSpPr/>
          <p:nvPr/>
        </p:nvSpPr>
        <p:spPr>
          <a:xfrm>
            <a:off x="3511006" y="4480455"/>
            <a:ext cx="792585" cy="792585"/>
          </a:xfrm>
          <a:prstGeom prst="ellipse">
            <a:avLst/>
          </a:prstGeom>
          <a:solidFill>
            <a:srgbClr val="F6E8E7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523A2C"/>
              </a:solidFill>
            </a:endParaRPr>
          </a:p>
        </p:txBody>
      </p:sp>
      <p:sp>
        <p:nvSpPr>
          <p:cNvPr id="6" name="MH_Others_1"/>
          <p:cNvSpPr txBox="1"/>
          <p:nvPr>
            <p:custDataLst>
              <p:tags r:id="rId1"/>
            </p:custDataLst>
          </p:nvPr>
        </p:nvSpPr>
        <p:spPr>
          <a:xfrm>
            <a:off x="2038026" y="2068831"/>
            <a:ext cx="954114" cy="3139229"/>
          </a:xfrm>
          <a:prstGeom prst="rect">
            <a:avLst/>
          </a:prstGeom>
          <a:noFill/>
          <a:effectLst>
            <a:reflection endPos="0" dist="50800" dir="5400000" sy="-100000" algn="bl" rotWithShape="0"/>
          </a:effectLst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 sz="37500">
                <a:solidFill>
                  <a:schemeClr val="bg1"/>
                </a:solidFill>
                <a:latin typeface="ISOCP" panose="00000400000000000000" pitchFamily="2" charset="0"/>
                <a:ea typeface="造字工房悦黑（非商用）常规体" pitchFamily="50" charset="-122"/>
                <a:cs typeface="ISOCP" panose="00000400000000000000" pitchFamily="2" charset="0"/>
              </a:defRPr>
            </a:lvl1pPr>
          </a:lstStyle>
          <a:p>
            <a:r>
              <a:rPr lang="en-US" altLang="zh-CN" sz="39000" dirty="0">
                <a:solidFill>
                  <a:srgbClr val="523A2C"/>
                </a:solidFill>
              </a:rPr>
              <a:t>1</a:t>
            </a:r>
            <a:endParaRPr lang="zh-CN" altLang="en-US" sz="39000" dirty="0">
              <a:solidFill>
                <a:srgbClr val="523A2C"/>
              </a:solidFill>
            </a:endParaRPr>
          </a:p>
        </p:txBody>
      </p:sp>
      <p:sp>
        <p:nvSpPr>
          <p:cNvPr id="7" name="任意多边形 6"/>
          <p:cNvSpPr/>
          <p:nvPr/>
        </p:nvSpPr>
        <p:spPr>
          <a:xfrm rot="10800000" flipH="1">
            <a:off x="6461760" y="0"/>
            <a:ext cx="5730240" cy="3911825"/>
          </a:xfrm>
          <a:custGeom>
            <a:avLst/>
            <a:gdLst>
              <a:gd name="connsiteX0" fmla="*/ 4052585 w 7495569"/>
              <a:gd name="connsiteY0" fmla="*/ 0 h 5760400"/>
              <a:gd name="connsiteX1" fmla="*/ 7413052 w 7495569"/>
              <a:gd name="connsiteY1" fmla="*/ 1786746 h 5760400"/>
              <a:gd name="connsiteX2" fmla="*/ 7495569 w 7495569"/>
              <a:gd name="connsiteY2" fmla="*/ 1922573 h 5760400"/>
              <a:gd name="connsiteX3" fmla="*/ 7495569 w 7495569"/>
              <a:gd name="connsiteY3" fmla="*/ 5760400 h 5760400"/>
              <a:gd name="connsiteX4" fmla="*/ 381273 w 7495569"/>
              <a:gd name="connsiteY4" fmla="*/ 5760400 h 5760400"/>
              <a:gd name="connsiteX5" fmla="*/ 318473 w 7495569"/>
              <a:gd name="connsiteY5" fmla="*/ 5630034 h 5760400"/>
              <a:gd name="connsiteX6" fmla="*/ 0 w 7495569"/>
              <a:gd name="connsiteY6" fmla="*/ 4052585 h 5760400"/>
              <a:gd name="connsiteX7" fmla="*/ 4052585 w 7495569"/>
              <a:gd name="connsiteY7" fmla="*/ 0 h 5760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495569" h="5760400">
                <a:moveTo>
                  <a:pt x="4052585" y="0"/>
                </a:moveTo>
                <a:cubicBezTo>
                  <a:pt x="5451448" y="0"/>
                  <a:pt x="6684773" y="708752"/>
                  <a:pt x="7413052" y="1786746"/>
                </a:cubicBezTo>
                <a:lnTo>
                  <a:pt x="7495569" y="1922573"/>
                </a:lnTo>
                <a:lnTo>
                  <a:pt x="7495569" y="5760400"/>
                </a:lnTo>
                <a:lnTo>
                  <a:pt x="381273" y="5760400"/>
                </a:lnTo>
                <a:lnTo>
                  <a:pt x="318473" y="5630034"/>
                </a:lnTo>
                <a:cubicBezTo>
                  <a:pt x="113401" y="5145190"/>
                  <a:pt x="0" y="4612131"/>
                  <a:pt x="0" y="4052585"/>
                </a:cubicBezTo>
                <a:cubicBezTo>
                  <a:pt x="0" y="1814404"/>
                  <a:pt x="1814404" y="0"/>
                  <a:pt x="4052585" y="0"/>
                </a:cubicBezTo>
                <a:close/>
              </a:path>
            </a:pathLst>
          </a:custGeom>
          <a:solidFill>
            <a:srgbClr val="F6E8E7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523A2C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3509988" y="2879196"/>
            <a:ext cx="4773230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600" b="1" dirty="0">
                <a:solidFill>
                  <a:srgbClr val="523A2C"/>
                </a:solidFill>
              </a:rPr>
              <a:t>Project</a:t>
            </a:r>
            <a:r>
              <a:rPr lang="zh-TW" altLang="en-US" sz="3600" b="1" dirty="0">
                <a:solidFill>
                  <a:srgbClr val="523A2C"/>
                </a:solidFill>
              </a:rPr>
              <a:t>摘要、變數內容</a:t>
            </a:r>
            <a:endParaRPr lang="en-US" altLang="zh-TW" sz="3600" b="1" dirty="0">
              <a:solidFill>
                <a:srgbClr val="523A2C"/>
              </a:solidFill>
            </a:endParaRPr>
          </a:p>
          <a:p>
            <a:endParaRPr lang="zh-CN" altLang="en-US" sz="3600" b="1" dirty="0">
              <a:solidFill>
                <a:srgbClr val="523A2C"/>
              </a:solidFill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7748895" y="1192192"/>
            <a:ext cx="521395" cy="521395"/>
            <a:chOff x="9937750" y="2166942"/>
            <a:chExt cx="625475" cy="625475"/>
          </a:xfrm>
        </p:grpSpPr>
        <p:sp>
          <p:nvSpPr>
            <p:cNvPr id="13" name="椭圆 4"/>
            <p:cNvSpPr>
              <a:spLocks noChangeArrowheads="1"/>
            </p:cNvSpPr>
            <p:nvPr/>
          </p:nvSpPr>
          <p:spPr bwMode="auto">
            <a:xfrm>
              <a:off x="9937750" y="2166942"/>
              <a:ext cx="625475" cy="625475"/>
            </a:xfrm>
            <a:prstGeom prst="ellipse">
              <a:avLst/>
            </a:prstGeom>
            <a:solidFill>
              <a:srgbClr val="ECCB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flat" cmpd="sng">
                  <a:solidFill>
                    <a:srgbClr val="395E8A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lang="zh-CN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4" name="椭圆 5"/>
            <p:cNvSpPr>
              <a:spLocks noChangeArrowheads="1"/>
            </p:cNvSpPr>
            <p:nvPr/>
          </p:nvSpPr>
          <p:spPr bwMode="auto">
            <a:xfrm>
              <a:off x="10061357" y="2290549"/>
              <a:ext cx="378260" cy="378260"/>
            </a:xfrm>
            <a:prstGeom prst="ellipse">
              <a:avLst/>
            </a:prstGeom>
            <a:solidFill>
              <a:srgbClr val="D78F8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flat" cmpd="sng">
                  <a:solidFill>
                    <a:srgbClr val="395E8A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lang="zh-CN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332256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 48"/>
          <p:cNvSpPr/>
          <p:nvPr/>
        </p:nvSpPr>
        <p:spPr>
          <a:xfrm>
            <a:off x="930481" y="1938652"/>
            <a:ext cx="10823369" cy="1880874"/>
          </a:xfrm>
          <a:prstGeom prst="rect">
            <a:avLst/>
          </a:prstGeom>
          <a:solidFill>
            <a:srgbClr val="F6E8E7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" name="Rectangle 51"/>
          <p:cNvSpPr/>
          <p:nvPr/>
        </p:nvSpPr>
        <p:spPr>
          <a:xfrm>
            <a:off x="1238249" y="2247900"/>
            <a:ext cx="10258425" cy="1247776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solidFill>
                <a:srgbClr val="523A2C"/>
              </a:solidFill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907DB8D-AC29-4C04-992D-D246D734BBBE}"/>
              </a:ext>
            </a:extLst>
          </p:cNvPr>
          <p:cNvSpPr/>
          <p:nvPr/>
        </p:nvSpPr>
        <p:spPr>
          <a:xfrm>
            <a:off x="1238249" y="2460498"/>
            <a:ext cx="10023269" cy="8728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50000"/>
              </a:lnSpc>
            </a:pPr>
            <a:r>
              <a:rPr lang="zh-TW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本次</a:t>
            </a:r>
            <a:r>
              <a:rPr lang="en-US" altLang="zh-TW" dirty="0">
                <a:latin typeface="华文细黑" panose="02010600040101010101" pitchFamily="2" charset="-122"/>
                <a:ea typeface="华文细黑" panose="02010600040101010101" pitchFamily="2" charset="-122"/>
              </a:rPr>
              <a:t>project</a:t>
            </a:r>
            <a:r>
              <a:rPr lang="zh-TW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透過</a:t>
            </a:r>
            <a:r>
              <a:rPr lang="en-US" altLang="zh-TW" dirty="0">
                <a:latin typeface="华文细黑" panose="02010600040101010101" pitchFamily="2" charset="-122"/>
                <a:ea typeface="华文细黑" panose="02010600040101010101" pitchFamily="2" charset="-122"/>
              </a:rPr>
              <a:t>10</a:t>
            </a:r>
            <a:r>
              <a:rPr lang="zh-TW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個品牌問題</a:t>
            </a:r>
            <a:r>
              <a:rPr lang="en-US" altLang="zh-TW" dirty="0">
                <a:latin typeface="华文细黑" panose="02010600040101010101" pitchFamily="2" charset="-122"/>
                <a:ea typeface="华文细黑" panose="02010600040101010101" pitchFamily="2" charset="-122"/>
              </a:rPr>
              <a:t>(</a:t>
            </a:r>
            <a:r>
              <a:rPr lang="zh-TW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變數、變量</a:t>
            </a:r>
            <a:r>
              <a:rPr lang="en-US" altLang="zh-TW" dirty="0">
                <a:latin typeface="华文细黑" panose="02010600040101010101" pitchFamily="2" charset="-122"/>
                <a:ea typeface="华文细黑" panose="02010600040101010101" pitchFamily="2" charset="-122"/>
              </a:rPr>
              <a:t>)</a:t>
            </a:r>
            <a:r>
              <a:rPr lang="zh-TW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，調查</a:t>
            </a:r>
            <a:r>
              <a:rPr lang="en-US" altLang="zh-TW" dirty="0">
                <a:latin typeface="华文细黑" panose="02010600040101010101" pitchFamily="2" charset="-122"/>
                <a:ea typeface="华文细黑" panose="02010600040101010101" pitchFamily="2" charset="-122"/>
              </a:rPr>
              <a:t>30</a:t>
            </a:r>
            <a:r>
              <a:rPr lang="zh-TW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家人壽保險公司的品牌力，並且擬將多個變量歸納為某幾項信息進行分析，即降低數據結果的維度。針對這種情況，我們可以進行主成分分析</a:t>
            </a:r>
            <a:endParaRPr lang="en-US" altLang="zh-TW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15" name="椭圆 30">
            <a:extLst>
              <a:ext uri="{FF2B5EF4-FFF2-40B4-BE49-F238E27FC236}">
                <a16:creationId xmlns:a16="http://schemas.microsoft.com/office/drawing/2014/main" id="{399D37A6-530F-46A3-96C0-77CC5C1B1CB3}"/>
              </a:ext>
            </a:extLst>
          </p:cNvPr>
          <p:cNvSpPr/>
          <p:nvPr/>
        </p:nvSpPr>
        <p:spPr>
          <a:xfrm>
            <a:off x="428525" y="57885"/>
            <a:ext cx="1299101" cy="1299101"/>
          </a:xfrm>
          <a:prstGeom prst="ellipse">
            <a:avLst/>
          </a:prstGeom>
          <a:solidFill>
            <a:srgbClr val="F6E8E7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椭圆 31">
            <a:extLst>
              <a:ext uri="{FF2B5EF4-FFF2-40B4-BE49-F238E27FC236}">
                <a16:creationId xmlns:a16="http://schemas.microsoft.com/office/drawing/2014/main" id="{6DDCF165-8E6F-438C-A54D-6A762EC34D12}"/>
              </a:ext>
            </a:extLst>
          </p:cNvPr>
          <p:cNvSpPr/>
          <p:nvPr/>
        </p:nvSpPr>
        <p:spPr>
          <a:xfrm>
            <a:off x="231231" y="794205"/>
            <a:ext cx="524547" cy="524547"/>
          </a:xfrm>
          <a:prstGeom prst="ellipse">
            <a:avLst/>
          </a:prstGeom>
          <a:solidFill>
            <a:srgbClr val="EDD1CF"/>
          </a:solidFill>
          <a:ln>
            <a:noFill/>
          </a:ln>
          <a:effectLst>
            <a:reflection stA="40000" endPos="30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66298B2-3EE2-4E7E-AA48-7F183D38400D}"/>
              </a:ext>
            </a:extLst>
          </p:cNvPr>
          <p:cNvSpPr/>
          <p:nvPr/>
        </p:nvSpPr>
        <p:spPr>
          <a:xfrm>
            <a:off x="1078075" y="388212"/>
            <a:ext cx="4948662" cy="127727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</a:pPr>
            <a:r>
              <a:rPr lang="en-US" altLang="zh-TW" sz="3600" dirty="0">
                <a:solidFill>
                  <a:srgbClr val="4F392B"/>
                </a:solidFill>
                <a:latin typeface="微软雅黑" charset="0"/>
                <a:ea typeface="微软雅黑" charset="0"/>
                <a:cs typeface="微软雅黑" charset="0"/>
              </a:rPr>
              <a:t>Project</a:t>
            </a:r>
            <a:r>
              <a:rPr lang="zh-TW" altLang="en-US" sz="3600" dirty="0">
                <a:solidFill>
                  <a:srgbClr val="4F392B"/>
                </a:solidFill>
                <a:latin typeface="微软雅黑" charset="0"/>
                <a:ea typeface="微软雅黑" charset="0"/>
                <a:cs typeface="微软雅黑" charset="0"/>
              </a:rPr>
              <a:t>摘要、變數內容</a:t>
            </a:r>
            <a:endParaRPr lang="en-US" altLang="zh-TW" sz="3600" dirty="0">
              <a:solidFill>
                <a:srgbClr val="4F392B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>
              <a:spcBef>
                <a:spcPts val="600"/>
              </a:spcBef>
            </a:pPr>
            <a:endParaRPr lang="en-US" altLang="zh-CN" sz="3600" dirty="0">
              <a:solidFill>
                <a:srgbClr val="4F392B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EC2BBDB-46F5-4AE3-99D6-082E15616F7F}"/>
              </a:ext>
            </a:extLst>
          </p:cNvPr>
          <p:cNvSpPr/>
          <p:nvPr/>
        </p:nvSpPr>
        <p:spPr>
          <a:xfrm>
            <a:off x="1476410" y="3606532"/>
            <a:ext cx="954694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br>
              <a:rPr lang="zh-TW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</a:br>
            <a:endParaRPr lang="en-US" altLang="zh-TW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21" name="Rectangle 48">
            <a:extLst>
              <a:ext uri="{FF2B5EF4-FFF2-40B4-BE49-F238E27FC236}">
                <a16:creationId xmlns:a16="http://schemas.microsoft.com/office/drawing/2014/main" id="{1CC69DD1-D403-4259-8FD4-028C10BCAED0}"/>
              </a:ext>
            </a:extLst>
          </p:cNvPr>
          <p:cNvSpPr/>
          <p:nvPr/>
        </p:nvSpPr>
        <p:spPr>
          <a:xfrm>
            <a:off x="930481" y="4401192"/>
            <a:ext cx="10823369" cy="1880874"/>
          </a:xfrm>
          <a:prstGeom prst="rect">
            <a:avLst/>
          </a:prstGeom>
          <a:solidFill>
            <a:srgbClr val="F6E8E7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975990DD-6729-4B21-BE7E-7BA100C48EE1}"/>
              </a:ext>
            </a:extLst>
          </p:cNvPr>
          <p:cNvSpPr/>
          <p:nvPr/>
        </p:nvSpPr>
        <p:spPr>
          <a:xfrm>
            <a:off x="1366837" y="4729721"/>
            <a:ext cx="10258425" cy="15265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將多個變量減少，使其改變為較少數幾個互相獨立的線性組合關係。</a:t>
            </a:r>
            <a:endParaRPr lang="en-US" altLang="zh-TW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  <a:p>
            <a:r>
              <a:rPr lang="en-US" altLang="zh-TW" dirty="0">
                <a:latin typeface="华文细黑" panose="02010600040101010101" pitchFamily="2" charset="-122"/>
                <a:ea typeface="华文细黑" panose="02010600040101010101" pitchFamily="2" charset="-122"/>
              </a:rPr>
              <a:t>10</a:t>
            </a:r>
            <a:r>
              <a:rPr lang="zh-TW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個變數分別為  </a:t>
            </a:r>
            <a:r>
              <a:rPr lang="en-US" altLang="zh-TW" dirty="0">
                <a:latin typeface="华文细黑" panose="02010600040101010101" pitchFamily="2" charset="-122"/>
                <a:ea typeface="华文细黑" panose="02010600040101010101" pitchFamily="2" charset="-122"/>
              </a:rPr>
              <a:t>recall</a:t>
            </a:r>
            <a:r>
              <a:rPr lang="zh-TW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、</a:t>
            </a:r>
            <a:r>
              <a:rPr lang="en-US" altLang="zh-TW" dirty="0" err="1">
                <a:latin typeface="华文细黑" panose="02010600040101010101" pitchFamily="2" charset="-122"/>
                <a:ea typeface="华文细黑" panose="02010600040101010101" pitchFamily="2" charset="-122"/>
              </a:rPr>
              <a:t>recog</a:t>
            </a:r>
            <a:r>
              <a:rPr lang="zh-TW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、</a:t>
            </a:r>
            <a:r>
              <a:rPr lang="en-US" altLang="zh-TW" dirty="0">
                <a:latin typeface="华文细黑" panose="02010600040101010101" pitchFamily="2" charset="-122"/>
                <a:ea typeface="华文细黑" panose="02010600040101010101" pitchFamily="2" charset="-122"/>
              </a:rPr>
              <a:t>prefer</a:t>
            </a:r>
            <a:r>
              <a:rPr lang="zh-TW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、</a:t>
            </a:r>
            <a:r>
              <a:rPr lang="en-US" altLang="zh-TW" dirty="0" err="1">
                <a:latin typeface="华文细黑" panose="02010600040101010101" pitchFamily="2" charset="-122"/>
                <a:ea typeface="华文细黑" panose="02010600040101010101" pitchFamily="2" charset="-122"/>
              </a:rPr>
              <a:t>mostprefer</a:t>
            </a:r>
            <a:r>
              <a:rPr lang="zh-TW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、</a:t>
            </a:r>
            <a:r>
              <a:rPr lang="en-US" altLang="zh-TW" dirty="0">
                <a:latin typeface="华文细黑" panose="02010600040101010101" pitchFamily="2" charset="-122"/>
                <a:ea typeface="华文细黑" panose="02010600040101010101" pitchFamily="2" charset="-122"/>
              </a:rPr>
              <a:t>trust</a:t>
            </a:r>
            <a:r>
              <a:rPr lang="zh-TW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、</a:t>
            </a:r>
            <a:r>
              <a:rPr lang="en-US" altLang="zh-TW" dirty="0" err="1">
                <a:latin typeface="华文细黑" panose="02010600040101010101" pitchFamily="2" charset="-122"/>
                <a:ea typeface="华文细黑" panose="02010600040101010101" pitchFamily="2" charset="-122"/>
              </a:rPr>
              <a:t>mosttrust</a:t>
            </a:r>
            <a:r>
              <a:rPr lang="zh-TW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、</a:t>
            </a:r>
            <a:r>
              <a:rPr lang="en-US" altLang="zh-TW" dirty="0" err="1">
                <a:latin typeface="华文细黑" panose="02010600040101010101" pitchFamily="2" charset="-122"/>
                <a:ea typeface="华文细黑" panose="02010600040101010101" pitchFamily="2" charset="-122"/>
              </a:rPr>
              <a:t>charact</a:t>
            </a:r>
            <a:r>
              <a:rPr lang="zh-TW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、</a:t>
            </a:r>
            <a:r>
              <a:rPr lang="en-US" altLang="zh-TW" dirty="0">
                <a:latin typeface="华文细黑" panose="02010600040101010101" pitchFamily="2" charset="-122"/>
                <a:ea typeface="华文细黑" panose="02010600040101010101" pitchFamily="2" charset="-122"/>
              </a:rPr>
              <a:t>used</a:t>
            </a:r>
            <a:r>
              <a:rPr lang="zh-TW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、</a:t>
            </a:r>
            <a:r>
              <a:rPr lang="en-US" altLang="zh-TW" dirty="0" err="1">
                <a:latin typeface="华文细黑" panose="02010600040101010101" pitchFamily="2" charset="-122"/>
                <a:ea typeface="华文细黑" panose="02010600040101010101" pitchFamily="2" charset="-122"/>
              </a:rPr>
              <a:t>mostused</a:t>
            </a:r>
            <a:r>
              <a:rPr lang="zh-TW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、</a:t>
            </a:r>
            <a:r>
              <a:rPr lang="en-US" altLang="zh-TW" dirty="0">
                <a:latin typeface="华文细黑" panose="02010600040101010101" pitchFamily="2" charset="-122"/>
                <a:ea typeface="华文细黑" panose="02010600040101010101" pitchFamily="2" charset="-122"/>
              </a:rPr>
              <a:t>next</a:t>
            </a:r>
          </a:p>
          <a:p>
            <a:r>
              <a:rPr lang="en-US" altLang="zh-TW" dirty="0">
                <a:latin typeface="华文细黑" panose="02010600040101010101" pitchFamily="2" charset="-122"/>
                <a:ea typeface="华文细黑" panose="02010600040101010101" pitchFamily="2" charset="-122"/>
              </a:rPr>
              <a:t>Recall</a:t>
            </a:r>
            <a:r>
              <a:rPr lang="zh-TW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 </a:t>
            </a:r>
            <a:r>
              <a:rPr lang="en-US" altLang="zh-TW" dirty="0">
                <a:latin typeface="华文细黑" panose="02010600040101010101" pitchFamily="2" charset="-122"/>
                <a:ea typeface="华文细黑" panose="02010600040101010101" pitchFamily="2" charset="-122"/>
              </a:rPr>
              <a:t>0.68</a:t>
            </a:r>
            <a:r>
              <a:rPr lang="zh-TW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代表一千人中有</a:t>
            </a:r>
            <a:r>
              <a:rPr lang="en-US" altLang="zh-TW" dirty="0">
                <a:latin typeface="华文细黑" panose="02010600040101010101" pitchFamily="2" charset="-122"/>
                <a:ea typeface="华文细黑" panose="02010600040101010101" pitchFamily="2" charset="-122"/>
              </a:rPr>
              <a:t>658</a:t>
            </a:r>
            <a:r>
              <a:rPr lang="zh-TW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人看過或聽過該家人力壽險公司。</a:t>
            </a:r>
            <a:endParaRPr lang="en-US" altLang="zh-TW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  <a:p>
            <a:endParaRPr lang="zh-TW" altLang="en-US" dirty="0"/>
          </a:p>
        </p:txBody>
      </p:sp>
      <p:sp>
        <p:nvSpPr>
          <p:cNvPr id="22" name="Rectangle 51">
            <a:extLst>
              <a:ext uri="{FF2B5EF4-FFF2-40B4-BE49-F238E27FC236}">
                <a16:creationId xmlns:a16="http://schemas.microsoft.com/office/drawing/2014/main" id="{ECCFBA34-83A5-4985-AA18-6B7EBCB97F67}"/>
              </a:ext>
            </a:extLst>
          </p:cNvPr>
          <p:cNvSpPr/>
          <p:nvPr/>
        </p:nvSpPr>
        <p:spPr>
          <a:xfrm>
            <a:off x="1238249" y="4710440"/>
            <a:ext cx="10258425" cy="1247776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solidFill>
                <a:srgbClr val="523A2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785885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/>
        </p:nvSpPr>
        <p:spPr>
          <a:xfrm>
            <a:off x="7724675" y="1288991"/>
            <a:ext cx="3301902" cy="3301902"/>
          </a:xfrm>
          <a:prstGeom prst="ellipse">
            <a:avLst/>
          </a:prstGeom>
          <a:solidFill>
            <a:srgbClr val="EDD1CF"/>
          </a:solidFill>
          <a:ln>
            <a:noFill/>
          </a:ln>
          <a:effectLst>
            <a:reflection stA="40000" endPos="30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/>
          <p:cNvSpPr/>
          <p:nvPr/>
        </p:nvSpPr>
        <p:spPr>
          <a:xfrm>
            <a:off x="10044372" y="4040619"/>
            <a:ext cx="792585" cy="792585"/>
          </a:xfrm>
          <a:prstGeom prst="ellipse">
            <a:avLst/>
          </a:prstGeom>
          <a:solidFill>
            <a:srgbClr val="F6E8E7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MH_Others_1"/>
          <p:cNvSpPr txBox="1"/>
          <p:nvPr>
            <p:custDataLst>
              <p:tags r:id="rId1"/>
            </p:custDataLst>
          </p:nvPr>
        </p:nvSpPr>
        <p:spPr>
          <a:xfrm>
            <a:off x="8930209" y="1536397"/>
            <a:ext cx="954114" cy="3139229"/>
          </a:xfrm>
          <a:prstGeom prst="rect">
            <a:avLst/>
          </a:prstGeom>
          <a:noFill/>
          <a:effectLst>
            <a:reflection endPos="0" dist="50800" dir="5400000" sy="-100000" algn="bl" rotWithShape="0"/>
          </a:effectLst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zh-CN" sz="37500" dirty="0">
                <a:solidFill>
                  <a:srgbClr val="523A2C"/>
                </a:solidFill>
                <a:latin typeface="ISOCP" panose="00000400000000000000" pitchFamily="2" charset="0"/>
                <a:ea typeface="造字工房悦黑（非商用）常规体" pitchFamily="50" charset="-122"/>
                <a:cs typeface="ISOCP" panose="00000400000000000000" pitchFamily="2" charset="0"/>
              </a:rPr>
              <a:t>2</a:t>
            </a:r>
            <a:endParaRPr lang="zh-CN" altLang="en-US" sz="37500" dirty="0">
              <a:solidFill>
                <a:srgbClr val="523A2C"/>
              </a:solidFill>
              <a:latin typeface="ISOCP" panose="00000400000000000000" pitchFamily="2" charset="0"/>
              <a:ea typeface="造字工房悦黑（非商用）常规体" pitchFamily="50" charset="-122"/>
              <a:cs typeface="ISOCP" panose="00000400000000000000" pitchFamily="2" charset="0"/>
            </a:endParaRPr>
          </a:p>
        </p:txBody>
      </p:sp>
      <p:sp>
        <p:nvSpPr>
          <p:cNvPr id="7" name="任意多边形 6"/>
          <p:cNvSpPr/>
          <p:nvPr/>
        </p:nvSpPr>
        <p:spPr>
          <a:xfrm flipH="1">
            <a:off x="0" y="2957750"/>
            <a:ext cx="4884516" cy="3911825"/>
          </a:xfrm>
          <a:custGeom>
            <a:avLst/>
            <a:gdLst>
              <a:gd name="connsiteX0" fmla="*/ 4052585 w 7495569"/>
              <a:gd name="connsiteY0" fmla="*/ 0 h 5760400"/>
              <a:gd name="connsiteX1" fmla="*/ 7413052 w 7495569"/>
              <a:gd name="connsiteY1" fmla="*/ 1786746 h 5760400"/>
              <a:gd name="connsiteX2" fmla="*/ 7495569 w 7495569"/>
              <a:gd name="connsiteY2" fmla="*/ 1922573 h 5760400"/>
              <a:gd name="connsiteX3" fmla="*/ 7495569 w 7495569"/>
              <a:gd name="connsiteY3" fmla="*/ 5760400 h 5760400"/>
              <a:gd name="connsiteX4" fmla="*/ 381273 w 7495569"/>
              <a:gd name="connsiteY4" fmla="*/ 5760400 h 5760400"/>
              <a:gd name="connsiteX5" fmla="*/ 318473 w 7495569"/>
              <a:gd name="connsiteY5" fmla="*/ 5630034 h 5760400"/>
              <a:gd name="connsiteX6" fmla="*/ 0 w 7495569"/>
              <a:gd name="connsiteY6" fmla="*/ 4052585 h 5760400"/>
              <a:gd name="connsiteX7" fmla="*/ 4052585 w 7495569"/>
              <a:gd name="connsiteY7" fmla="*/ 0 h 5760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495569" h="5760400">
                <a:moveTo>
                  <a:pt x="4052585" y="0"/>
                </a:moveTo>
                <a:cubicBezTo>
                  <a:pt x="5451448" y="0"/>
                  <a:pt x="6684773" y="708752"/>
                  <a:pt x="7413052" y="1786746"/>
                </a:cubicBezTo>
                <a:lnTo>
                  <a:pt x="7495569" y="1922573"/>
                </a:lnTo>
                <a:lnTo>
                  <a:pt x="7495569" y="5760400"/>
                </a:lnTo>
                <a:lnTo>
                  <a:pt x="381273" y="5760400"/>
                </a:lnTo>
                <a:lnTo>
                  <a:pt x="318473" y="5630034"/>
                </a:lnTo>
                <a:cubicBezTo>
                  <a:pt x="113401" y="5145190"/>
                  <a:pt x="0" y="4612131"/>
                  <a:pt x="0" y="4052585"/>
                </a:cubicBezTo>
                <a:cubicBezTo>
                  <a:pt x="0" y="1814404"/>
                  <a:pt x="1814404" y="0"/>
                  <a:pt x="4052585" y="0"/>
                </a:cubicBezTo>
                <a:close/>
              </a:path>
            </a:pathLst>
          </a:custGeom>
          <a:solidFill>
            <a:srgbClr val="F6E8E7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3810446" y="2257956"/>
            <a:ext cx="3416383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zh-TW" altLang="en-US" sz="3600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採用分析的方法</a:t>
            </a:r>
            <a:endParaRPr lang="en-US" altLang="zh-TW" sz="3600" b="1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  <a:p>
            <a:pPr algn="r"/>
            <a:endParaRPr lang="zh-CN" altLang="en-US" sz="3600" b="1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3423678" y="1837029"/>
            <a:ext cx="420927" cy="420927"/>
            <a:chOff x="9937750" y="2166942"/>
            <a:chExt cx="625475" cy="625475"/>
          </a:xfrm>
        </p:grpSpPr>
        <p:sp>
          <p:nvSpPr>
            <p:cNvPr id="15" name="椭圆 4"/>
            <p:cNvSpPr>
              <a:spLocks noChangeArrowheads="1"/>
            </p:cNvSpPr>
            <p:nvPr/>
          </p:nvSpPr>
          <p:spPr bwMode="auto">
            <a:xfrm>
              <a:off x="9937750" y="2166942"/>
              <a:ext cx="625475" cy="625475"/>
            </a:xfrm>
            <a:prstGeom prst="ellipse">
              <a:avLst/>
            </a:prstGeom>
            <a:solidFill>
              <a:srgbClr val="ECCB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flat" cmpd="sng">
                  <a:solidFill>
                    <a:srgbClr val="395E8A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lang="zh-CN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6" name="椭圆 5"/>
            <p:cNvSpPr>
              <a:spLocks noChangeArrowheads="1"/>
            </p:cNvSpPr>
            <p:nvPr/>
          </p:nvSpPr>
          <p:spPr bwMode="auto">
            <a:xfrm>
              <a:off x="10061357" y="2290549"/>
              <a:ext cx="378260" cy="378260"/>
            </a:xfrm>
            <a:prstGeom prst="ellipse">
              <a:avLst/>
            </a:prstGeom>
            <a:solidFill>
              <a:srgbClr val="D78F8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flat" cmpd="sng">
                  <a:solidFill>
                    <a:srgbClr val="395E8A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lang="zh-CN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376067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4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 tmFilter="0,0; .5, 1; 1, 1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/>
      <p:bldP spid="7" grpId="0" animBg="1"/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椭圆 30">
            <a:extLst>
              <a:ext uri="{FF2B5EF4-FFF2-40B4-BE49-F238E27FC236}">
                <a16:creationId xmlns:a16="http://schemas.microsoft.com/office/drawing/2014/main" id="{96509621-B5C7-44E5-99B0-2CDDDB278B88}"/>
              </a:ext>
            </a:extLst>
          </p:cNvPr>
          <p:cNvSpPr/>
          <p:nvPr/>
        </p:nvSpPr>
        <p:spPr>
          <a:xfrm>
            <a:off x="428525" y="57885"/>
            <a:ext cx="1299101" cy="1299101"/>
          </a:xfrm>
          <a:prstGeom prst="ellipse">
            <a:avLst/>
          </a:prstGeom>
          <a:solidFill>
            <a:srgbClr val="F6E8E7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Oval 62"/>
          <p:cNvSpPr>
            <a:spLocks noChangeArrowheads="1"/>
          </p:cNvSpPr>
          <p:nvPr/>
        </p:nvSpPr>
        <p:spPr bwMode="auto">
          <a:xfrm>
            <a:off x="6475072" y="5535738"/>
            <a:ext cx="9050" cy="7761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45720" tIns="22860" rIns="45720" bIns="22860" numCol="1" anchor="t" anchorCtr="0" compatLnSpc="1">
            <a:prstTxWarp prst="textNoShape">
              <a:avLst/>
            </a:prstTxWarp>
          </a:bodyPr>
          <a:lstStyle/>
          <a:p>
            <a:endParaRPr lang="id-ID" sz="900">
              <a:latin typeface="Roboto Light"/>
            </a:endParaRPr>
          </a:p>
        </p:txBody>
      </p:sp>
      <p:sp>
        <p:nvSpPr>
          <p:cNvPr id="41" name="Oval 64"/>
          <p:cNvSpPr>
            <a:spLocks noChangeArrowheads="1"/>
          </p:cNvSpPr>
          <p:nvPr/>
        </p:nvSpPr>
        <p:spPr bwMode="auto">
          <a:xfrm>
            <a:off x="6475072" y="5533151"/>
            <a:ext cx="9050" cy="7761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45720" tIns="22860" rIns="45720" bIns="22860" numCol="1" anchor="t" anchorCtr="0" compatLnSpc="1">
            <a:prstTxWarp prst="textNoShape">
              <a:avLst/>
            </a:prstTxWarp>
          </a:bodyPr>
          <a:lstStyle/>
          <a:p>
            <a:endParaRPr lang="id-ID" sz="900">
              <a:latin typeface="Roboto Light"/>
            </a:endParaRPr>
          </a:p>
        </p:txBody>
      </p:sp>
      <p:sp>
        <p:nvSpPr>
          <p:cNvPr id="42" name="Oval 65"/>
          <p:cNvSpPr>
            <a:spLocks noChangeArrowheads="1"/>
          </p:cNvSpPr>
          <p:nvPr/>
        </p:nvSpPr>
        <p:spPr bwMode="auto">
          <a:xfrm>
            <a:off x="6469039" y="5527977"/>
            <a:ext cx="24131" cy="20693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45720" tIns="22860" rIns="45720" bIns="22860" numCol="1" anchor="t" anchorCtr="0" compatLnSpc="1">
            <a:prstTxWarp prst="textNoShape">
              <a:avLst/>
            </a:prstTxWarp>
          </a:bodyPr>
          <a:lstStyle/>
          <a:p>
            <a:endParaRPr lang="id-ID" sz="900">
              <a:latin typeface="Roboto Light"/>
            </a:endParaRPr>
          </a:p>
        </p:txBody>
      </p:sp>
      <p:sp>
        <p:nvSpPr>
          <p:cNvPr id="43" name="Oval 66"/>
          <p:cNvSpPr>
            <a:spLocks noChangeArrowheads="1"/>
          </p:cNvSpPr>
          <p:nvPr/>
        </p:nvSpPr>
        <p:spPr bwMode="auto">
          <a:xfrm>
            <a:off x="6469039" y="5527977"/>
            <a:ext cx="24131" cy="20693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45720" tIns="22860" rIns="45720" bIns="22860" numCol="1" anchor="t" anchorCtr="0" compatLnSpc="1">
            <a:prstTxWarp prst="textNoShape">
              <a:avLst/>
            </a:prstTxWarp>
          </a:bodyPr>
          <a:lstStyle/>
          <a:p>
            <a:endParaRPr lang="id-ID" sz="900">
              <a:latin typeface="Roboto Light"/>
            </a:endParaRPr>
          </a:p>
        </p:txBody>
      </p:sp>
      <p:sp>
        <p:nvSpPr>
          <p:cNvPr id="44" name="Oval 67"/>
          <p:cNvSpPr>
            <a:spLocks noChangeArrowheads="1"/>
          </p:cNvSpPr>
          <p:nvPr/>
        </p:nvSpPr>
        <p:spPr bwMode="auto">
          <a:xfrm>
            <a:off x="6475072" y="5533151"/>
            <a:ext cx="12065" cy="10347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45720" tIns="22860" rIns="45720" bIns="22860" numCol="1" anchor="t" anchorCtr="0" compatLnSpc="1">
            <a:prstTxWarp prst="textNoShape">
              <a:avLst/>
            </a:prstTxWarp>
          </a:bodyPr>
          <a:lstStyle/>
          <a:p>
            <a:endParaRPr lang="id-ID" sz="900">
              <a:latin typeface="Roboto Light"/>
            </a:endParaRPr>
          </a:p>
        </p:txBody>
      </p:sp>
      <p:sp>
        <p:nvSpPr>
          <p:cNvPr id="45" name="Oval 68"/>
          <p:cNvSpPr>
            <a:spLocks noChangeArrowheads="1"/>
          </p:cNvSpPr>
          <p:nvPr/>
        </p:nvSpPr>
        <p:spPr bwMode="auto">
          <a:xfrm>
            <a:off x="6475072" y="5533151"/>
            <a:ext cx="12065" cy="10347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45720" tIns="22860" rIns="45720" bIns="22860" numCol="1" anchor="t" anchorCtr="0" compatLnSpc="1">
            <a:prstTxWarp prst="textNoShape">
              <a:avLst/>
            </a:prstTxWarp>
          </a:bodyPr>
          <a:lstStyle/>
          <a:p>
            <a:endParaRPr lang="id-ID" sz="900">
              <a:latin typeface="Roboto Light"/>
            </a:endParaRPr>
          </a:p>
        </p:txBody>
      </p:sp>
      <p:sp>
        <p:nvSpPr>
          <p:cNvPr id="46" name="Freeform 69"/>
          <p:cNvSpPr>
            <a:spLocks/>
          </p:cNvSpPr>
          <p:nvPr/>
        </p:nvSpPr>
        <p:spPr bwMode="auto">
          <a:xfrm>
            <a:off x="6478090" y="5535738"/>
            <a:ext cx="3017" cy="2587"/>
          </a:xfrm>
          <a:custGeom>
            <a:avLst/>
            <a:gdLst>
              <a:gd name="T0" fmla="*/ 1 w 1"/>
              <a:gd name="T1" fmla="*/ 1 h 1"/>
              <a:gd name="T2" fmla="*/ 1 w 1"/>
              <a:gd name="T3" fmla="*/ 1 h 1"/>
              <a:gd name="T4" fmla="*/ 0 w 1"/>
              <a:gd name="T5" fmla="*/ 1 h 1"/>
              <a:gd name="T6" fmla="*/ 1 w 1"/>
              <a:gd name="T7" fmla="*/ 0 h 1"/>
              <a:gd name="T8" fmla="*/ 1 w 1"/>
              <a:gd name="T9" fmla="*/ 1 h 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" h="1">
                <a:moveTo>
                  <a:pt x="1" y="1"/>
                </a:moveTo>
                <a:lnTo>
                  <a:pt x="1" y="1"/>
                </a:lnTo>
                <a:lnTo>
                  <a:pt x="0" y="1"/>
                </a:lnTo>
                <a:lnTo>
                  <a:pt x="1" y="0"/>
                </a:lnTo>
                <a:lnTo>
                  <a:pt x="1" y="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45720" tIns="22860" rIns="45720" bIns="22860" numCol="1" anchor="t" anchorCtr="0" compatLnSpc="1">
            <a:prstTxWarp prst="textNoShape">
              <a:avLst/>
            </a:prstTxWarp>
          </a:bodyPr>
          <a:lstStyle/>
          <a:p>
            <a:endParaRPr lang="id-ID" sz="900">
              <a:latin typeface="Roboto Light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953072" y="539680"/>
            <a:ext cx="6674545" cy="50905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>
              <a:lnSpc>
                <a:spcPts val="3530"/>
              </a:lnSpc>
            </a:pPr>
            <a:r>
              <a:rPr lang="en-US" altLang="zh-TW" sz="2700" b="1" spc="100" dirty="0">
                <a:solidFill>
                  <a:srgbClr val="523A2C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Principal Component Analysis</a:t>
            </a:r>
            <a:endParaRPr lang="en-US" sz="2700" b="1" spc="100" dirty="0">
              <a:solidFill>
                <a:srgbClr val="523A2C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76" name="Subtitle 2"/>
          <p:cNvSpPr txBox="1">
            <a:spLocks/>
          </p:cNvSpPr>
          <p:nvPr/>
        </p:nvSpPr>
        <p:spPr>
          <a:xfrm>
            <a:off x="1552309" y="2839213"/>
            <a:ext cx="11341953" cy="769156"/>
          </a:xfrm>
          <a:prstGeom prst="rect">
            <a:avLst/>
          </a:prstGeom>
        </p:spPr>
        <p:txBody>
          <a:bodyPr vert="horz" wrap="square" lIns="108745" tIns="54373" rIns="108745" bIns="54373" rtlCol="0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</a:pPr>
            <a:endParaRPr lang="en-US" altLang="zh-TW" sz="1800" dirty="0">
              <a:solidFill>
                <a:schemeClr val="tx1"/>
              </a:solidFill>
              <a:latin typeface="华文细黑" panose="02010600040101010101" pitchFamily="2" charset="-122"/>
              <a:ea typeface="华文细黑" panose="02010600040101010101" pitchFamily="2" charset="-122"/>
              <a:cs typeface="+mn-cs"/>
            </a:endParaRPr>
          </a:p>
          <a:p>
            <a:pPr algn="r">
              <a:lnSpc>
                <a:spcPct val="150000"/>
              </a:lnSpc>
            </a:pPr>
            <a:endParaRPr lang="en-US" sz="1400" dirty="0">
              <a:solidFill>
                <a:srgbClr val="523A2C"/>
              </a:solidFill>
              <a:latin typeface="华文细黑" panose="02010600040101010101" pitchFamily="2" charset="-122"/>
              <a:ea typeface="华文细黑" panose="02010600040101010101" pitchFamily="2" charset="-122"/>
              <a:cs typeface="Source Sans Pro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DD89261-E3B1-4F3F-A4B3-E61329256AB3}"/>
              </a:ext>
            </a:extLst>
          </p:cNvPr>
          <p:cNvSpPr/>
          <p:nvPr/>
        </p:nvSpPr>
        <p:spPr>
          <a:xfrm>
            <a:off x="953072" y="2839213"/>
            <a:ext cx="10601512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此次</a:t>
            </a:r>
            <a:r>
              <a:rPr lang="en-US" altLang="zh-TW" dirty="0">
                <a:latin typeface="华文细黑" panose="02010600040101010101" pitchFamily="2" charset="-122"/>
                <a:ea typeface="华文细黑" panose="02010600040101010101" pitchFamily="2" charset="-122"/>
              </a:rPr>
              <a:t>project</a:t>
            </a:r>
            <a:r>
              <a:rPr lang="zh-TW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利用</a:t>
            </a:r>
            <a:r>
              <a:rPr lang="en-US" altLang="zh-TW" dirty="0">
                <a:latin typeface="华文细黑" panose="02010600040101010101" pitchFamily="2" charset="-122"/>
                <a:ea typeface="华文细黑" panose="02010600040101010101" pitchFamily="2" charset="-122"/>
              </a:rPr>
              <a:t>SPSS</a:t>
            </a:r>
            <a:r>
              <a:rPr lang="zh-TW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執行主成分分析。</a:t>
            </a:r>
            <a:endParaRPr lang="en-US" altLang="zh-TW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  <a:p>
            <a:r>
              <a:rPr lang="zh-TW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將變數減少成少數幾個互相獨立的線性組合變數，就必須使用主成分分析法。主成分分析法是將資料中原有的</a:t>
            </a:r>
            <a:r>
              <a:rPr lang="en-US" altLang="zh-TW" dirty="0">
                <a:latin typeface="华文细黑" panose="02010600040101010101" pitchFamily="2" charset="-122"/>
                <a:ea typeface="华文细黑" panose="02010600040101010101" pitchFamily="2" charset="-122"/>
              </a:rPr>
              <a:t>p</a:t>
            </a:r>
            <a:r>
              <a:rPr lang="zh-TW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個變數做線性組合得到</a:t>
            </a:r>
            <a:r>
              <a:rPr lang="en-US" altLang="zh-TW" dirty="0">
                <a:latin typeface="华文细黑" panose="02010600040101010101" pitchFamily="2" charset="-122"/>
                <a:ea typeface="华文细黑" panose="02010600040101010101" pitchFamily="2" charset="-122"/>
              </a:rPr>
              <a:t>K</a:t>
            </a:r>
            <a:r>
              <a:rPr lang="zh-TW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個新變數，此外原本有相關關係的</a:t>
            </a:r>
            <a:r>
              <a:rPr lang="en-US" altLang="zh-TW" dirty="0">
                <a:latin typeface="华文细黑" panose="02010600040101010101" pitchFamily="2" charset="-122"/>
                <a:ea typeface="华文细黑" panose="02010600040101010101" pitchFamily="2" charset="-122"/>
              </a:rPr>
              <a:t>p</a:t>
            </a:r>
            <a:r>
              <a:rPr lang="zh-TW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個變數，會成為</a:t>
            </a:r>
            <a:r>
              <a:rPr lang="en-US" altLang="zh-TW" dirty="0">
                <a:latin typeface="华文细黑" panose="02010600040101010101" pitchFamily="2" charset="-122"/>
                <a:ea typeface="华文细黑" panose="02010600040101010101" pitchFamily="2" charset="-122"/>
              </a:rPr>
              <a:t>K</a:t>
            </a:r>
            <a:r>
              <a:rPr lang="zh-TW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個彼此相關係數為</a:t>
            </a:r>
            <a:r>
              <a:rPr lang="en-US" altLang="zh-TW" dirty="0">
                <a:latin typeface="华文细黑" panose="02010600040101010101" pitchFamily="2" charset="-122"/>
                <a:ea typeface="华文细黑" panose="02010600040101010101" pitchFamily="2" charset="-122"/>
              </a:rPr>
              <a:t>0</a:t>
            </a:r>
            <a:r>
              <a:rPr lang="zh-TW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的新變數。</a:t>
            </a:r>
            <a:endParaRPr lang="en-US" altLang="zh-TW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  <a:p>
            <a:pPr>
              <a:spcBef>
                <a:spcPts val="0"/>
              </a:spcBef>
            </a:pPr>
            <a:r>
              <a:rPr lang="zh-TW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經由線性組合得到的成分之變異數最大，使這些成分能夠顯示出個別差異來。</a:t>
            </a:r>
            <a:endParaRPr lang="en-US" altLang="zh-TW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  <a:p>
            <a:pPr>
              <a:spcBef>
                <a:spcPts val="0"/>
              </a:spcBef>
            </a:pPr>
            <a:r>
              <a:rPr lang="zh-TW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主成份分析的基本假設是希望資料可以在特徵空間找到一個投影軸</a:t>
            </a:r>
            <a:r>
              <a:rPr lang="en-US" altLang="zh-TW" dirty="0">
                <a:latin typeface="华文细黑" panose="02010600040101010101" pitchFamily="2" charset="-122"/>
                <a:ea typeface="华文细黑" panose="02010600040101010101" pitchFamily="2" charset="-122"/>
              </a:rPr>
              <a:t>(</a:t>
            </a:r>
            <a:r>
              <a:rPr lang="zh-TW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向量</a:t>
            </a:r>
            <a:r>
              <a:rPr lang="en-US" altLang="zh-TW" dirty="0">
                <a:latin typeface="华文细黑" panose="02010600040101010101" pitchFamily="2" charset="-122"/>
                <a:ea typeface="华文细黑" panose="02010600040101010101" pitchFamily="2" charset="-122"/>
              </a:rPr>
              <a:t>)</a:t>
            </a:r>
            <a:r>
              <a:rPr lang="zh-TW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投影後可以得到這組資料的最大變異量</a:t>
            </a:r>
            <a:endParaRPr lang="en-US" altLang="zh-TW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15" name="椭圆 31">
            <a:extLst>
              <a:ext uri="{FF2B5EF4-FFF2-40B4-BE49-F238E27FC236}">
                <a16:creationId xmlns:a16="http://schemas.microsoft.com/office/drawing/2014/main" id="{E07567DF-C83D-4D61-AF4A-9079AF763C14}"/>
              </a:ext>
            </a:extLst>
          </p:cNvPr>
          <p:cNvSpPr/>
          <p:nvPr/>
        </p:nvSpPr>
        <p:spPr>
          <a:xfrm>
            <a:off x="231231" y="794205"/>
            <a:ext cx="524547" cy="524547"/>
          </a:xfrm>
          <a:prstGeom prst="ellipse">
            <a:avLst/>
          </a:prstGeom>
          <a:solidFill>
            <a:srgbClr val="EDD1CF"/>
          </a:solidFill>
          <a:ln>
            <a:noFill/>
          </a:ln>
          <a:effectLst>
            <a:reflection stA="40000" endPos="30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921148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圖片 12">
            <a:extLst>
              <a:ext uri="{FF2B5EF4-FFF2-40B4-BE49-F238E27FC236}">
                <a16:creationId xmlns:a16="http://schemas.microsoft.com/office/drawing/2014/main" id="{7B26DF0E-E6D9-464B-96D4-05DE810A51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726" y="1126922"/>
            <a:ext cx="11555262" cy="4159892"/>
          </a:xfrm>
          <a:prstGeom prst="rect">
            <a:avLst/>
          </a:prstGeom>
        </p:spPr>
      </p:pic>
      <p:sp>
        <p:nvSpPr>
          <p:cNvPr id="39" name="Oval 62"/>
          <p:cNvSpPr>
            <a:spLocks noChangeArrowheads="1"/>
          </p:cNvSpPr>
          <p:nvPr/>
        </p:nvSpPr>
        <p:spPr bwMode="auto">
          <a:xfrm>
            <a:off x="6475072" y="5535738"/>
            <a:ext cx="9050" cy="7761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45720" tIns="22860" rIns="45720" bIns="22860" numCol="1" anchor="t" anchorCtr="0" compatLnSpc="1">
            <a:prstTxWarp prst="textNoShape">
              <a:avLst/>
            </a:prstTxWarp>
          </a:bodyPr>
          <a:lstStyle/>
          <a:p>
            <a:endParaRPr lang="id-ID" sz="900">
              <a:latin typeface="Roboto Light"/>
            </a:endParaRPr>
          </a:p>
        </p:txBody>
      </p:sp>
      <p:sp>
        <p:nvSpPr>
          <p:cNvPr id="41" name="Oval 64"/>
          <p:cNvSpPr>
            <a:spLocks noChangeArrowheads="1"/>
          </p:cNvSpPr>
          <p:nvPr/>
        </p:nvSpPr>
        <p:spPr bwMode="auto">
          <a:xfrm>
            <a:off x="6475072" y="5533151"/>
            <a:ext cx="9050" cy="7761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45720" tIns="22860" rIns="45720" bIns="22860" numCol="1" anchor="t" anchorCtr="0" compatLnSpc="1">
            <a:prstTxWarp prst="textNoShape">
              <a:avLst/>
            </a:prstTxWarp>
          </a:bodyPr>
          <a:lstStyle/>
          <a:p>
            <a:endParaRPr lang="id-ID" sz="900">
              <a:latin typeface="Roboto Light"/>
            </a:endParaRPr>
          </a:p>
        </p:txBody>
      </p:sp>
      <p:sp>
        <p:nvSpPr>
          <p:cNvPr id="42" name="Oval 65"/>
          <p:cNvSpPr>
            <a:spLocks noChangeArrowheads="1"/>
          </p:cNvSpPr>
          <p:nvPr/>
        </p:nvSpPr>
        <p:spPr bwMode="auto">
          <a:xfrm>
            <a:off x="6469039" y="5527977"/>
            <a:ext cx="24131" cy="20693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45720" tIns="22860" rIns="45720" bIns="22860" numCol="1" anchor="t" anchorCtr="0" compatLnSpc="1">
            <a:prstTxWarp prst="textNoShape">
              <a:avLst/>
            </a:prstTxWarp>
          </a:bodyPr>
          <a:lstStyle/>
          <a:p>
            <a:endParaRPr lang="id-ID" sz="900">
              <a:latin typeface="Roboto Light"/>
            </a:endParaRPr>
          </a:p>
        </p:txBody>
      </p:sp>
      <p:sp>
        <p:nvSpPr>
          <p:cNvPr id="43" name="Oval 66"/>
          <p:cNvSpPr>
            <a:spLocks noChangeArrowheads="1"/>
          </p:cNvSpPr>
          <p:nvPr/>
        </p:nvSpPr>
        <p:spPr bwMode="auto">
          <a:xfrm>
            <a:off x="6469039" y="5527977"/>
            <a:ext cx="24131" cy="20693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45720" tIns="22860" rIns="45720" bIns="22860" numCol="1" anchor="t" anchorCtr="0" compatLnSpc="1">
            <a:prstTxWarp prst="textNoShape">
              <a:avLst/>
            </a:prstTxWarp>
          </a:bodyPr>
          <a:lstStyle/>
          <a:p>
            <a:endParaRPr lang="id-ID" sz="900">
              <a:latin typeface="Roboto Light"/>
            </a:endParaRPr>
          </a:p>
        </p:txBody>
      </p:sp>
      <p:sp>
        <p:nvSpPr>
          <p:cNvPr id="44" name="Oval 67"/>
          <p:cNvSpPr>
            <a:spLocks noChangeArrowheads="1"/>
          </p:cNvSpPr>
          <p:nvPr/>
        </p:nvSpPr>
        <p:spPr bwMode="auto">
          <a:xfrm>
            <a:off x="6475072" y="5533151"/>
            <a:ext cx="12065" cy="10347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45720" tIns="22860" rIns="45720" bIns="22860" numCol="1" anchor="t" anchorCtr="0" compatLnSpc="1">
            <a:prstTxWarp prst="textNoShape">
              <a:avLst/>
            </a:prstTxWarp>
          </a:bodyPr>
          <a:lstStyle/>
          <a:p>
            <a:endParaRPr lang="id-ID" sz="900">
              <a:latin typeface="Roboto Light"/>
            </a:endParaRPr>
          </a:p>
        </p:txBody>
      </p:sp>
      <p:sp>
        <p:nvSpPr>
          <p:cNvPr id="45" name="Oval 68"/>
          <p:cNvSpPr>
            <a:spLocks noChangeArrowheads="1"/>
          </p:cNvSpPr>
          <p:nvPr/>
        </p:nvSpPr>
        <p:spPr bwMode="auto">
          <a:xfrm>
            <a:off x="6475072" y="5533151"/>
            <a:ext cx="12065" cy="10347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45720" tIns="22860" rIns="45720" bIns="22860" numCol="1" anchor="t" anchorCtr="0" compatLnSpc="1">
            <a:prstTxWarp prst="textNoShape">
              <a:avLst/>
            </a:prstTxWarp>
          </a:bodyPr>
          <a:lstStyle/>
          <a:p>
            <a:endParaRPr lang="id-ID" sz="900">
              <a:latin typeface="Roboto Light"/>
            </a:endParaRPr>
          </a:p>
        </p:txBody>
      </p:sp>
      <p:sp>
        <p:nvSpPr>
          <p:cNvPr id="46" name="Freeform 69"/>
          <p:cNvSpPr>
            <a:spLocks/>
          </p:cNvSpPr>
          <p:nvPr/>
        </p:nvSpPr>
        <p:spPr bwMode="auto">
          <a:xfrm>
            <a:off x="6478090" y="5535738"/>
            <a:ext cx="3017" cy="2587"/>
          </a:xfrm>
          <a:custGeom>
            <a:avLst/>
            <a:gdLst>
              <a:gd name="T0" fmla="*/ 1 w 1"/>
              <a:gd name="T1" fmla="*/ 1 h 1"/>
              <a:gd name="T2" fmla="*/ 1 w 1"/>
              <a:gd name="T3" fmla="*/ 1 h 1"/>
              <a:gd name="T4" fmla="*/ 0 w 1"/>
              <a:gd name="T5" fmla="*/ 1 h 1"/>
              <a:gd name="T6" fmla="*/ 1 w 1"/>
              <a:gd name="T7" fmla="*/ 0 h 1"/>
              <a:gd name="T8" fmla="*/ 1 w 1"/>
              <a:gd name="T9" fmla="*/ 1 h 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" h="1">
                <a:moveTo>
                  <a:pt x="1" y="1"/>
                </a:moveTo>
                <a:lnTo>
                  <a:pt x="1" y="1"/>
                </a:lnTo>
                <a:lnTo>
                  <a:pt x="0" y="1"/>
                </a:lnTo>
                <a:lnTo>
                  <a:pt x="1" y="0"/>
                </a:lnTo>
                <a:lnTo>
                  <a:pt x="1" y="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45720" tIns="22860" rIns="45720" bIns="22860" numCol="1" anchor="t" anchorCtr="0" compatLnSpc="1">
            <a:prstTxWarp prst="textNoShape">
              <a:avLst/>
            </a:prstTxWarp>
          </a:bodyPr>
          <a:lstStyle/>
          <a:p>
            <a:endParaRPr lang="id-ID" sz="900">
              <a:latin typeface="Roboto Light"/>
            </a:endParaRPr>
          </a:p>
        </p:txBody>
      </p:sp>
      <p:sp>
        <p:nvSpPr>
          <p:cNvPr id="15" name="椭圆 30">
            <a:extLst>
              <a:ext uri="{FF2B5EF4-FFF2-40B4-BE49-F238E27FC236}">
                <a16:creationId xmlns:a16="http://schemas.microsoft.com/office/drawing/2014/main" id="{55D8C95C-75C8-4F59-8EDA-50A09B988EDE}"/>
              </a:ext>
            </a:extLst>
          </p:cNvPr>
          <p:cNvSpPr/>
          <p:nvPr/>
        </p:nvSpPr>
        <p:spPr>
          <a:xfrm>
            <a:off x="428525" y="57885"/>
            <a:ext cx="1299101" cy="1299101"/>
          </a:xfrm>
          <a:prstGeom prst="ellipse">
            <a:avLst/>
          </a:prstGeom>
          <a:solidFill>
            <a:srgbClr val="F6E8E7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椭圆 31">
            <a:extLst>
              <a:ext uri="{FF2B5EF4-FFF2-40B4-BE49-F238E27FC236}">
                <a16:creationId xmlns:a16="http://schemas.microsoft.com/office/drawing/2014/main" id="{7AA366D6-BC88-4B49-824D-83790A4FD0A3}"/>
              </a:ext>
            </a:extLst>
          </p:cNvPr>
          <p:cNvSpPr/>
          <p:nvPr/>
        </p:nvSpPr>
        <p:spPr>
          <a:xfrm>
            <a:off x="231231" y="794205"/>
            <a:ext cx="524547" cy="524547"/>
          </a:xfrm>
          <a:prstGeom prst="ellipse">
            <a:avLst/>
          </a:prstGeom>
          <a:solidFill>
            <a:srgbClr val="EDD1CF"/>
          </a:solidFill>
          <a:ln>
            <a:noFill/>
          </a:ln>
          <a:effectLst>
            <a:reflection stA="40000" endPos="30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TextBox 72">
            <a:extLst>
              <a:ext uri="{FF2B5EF4-FFF2-40B4-BE49-F238E27FC236}">
                <a16:creationId xmlns:a16="http://schemas.microsoft.com/office/drawing/2014/main" id="{80E1CAA6-2DAD-4010-9D35-6CA8125243A7}"/>
              </a:ext>
            </a:extLst>
          </p:cNvPr>
          <p:cNvSpPr txBox="1"/>
          <p:nvPr/>
        </p:nvSpPr>
        <p:spPr>
          <a:xfrm>
            <a:off x="1078075" y="452910"/>
            <a:ext cx="6674545" cy="50905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>
              <a:lnSpc>
                <a:spcPts val="3530"/>
              </a:lnSpc>
            </a:pPr>
            <a:r>
              <a:rPr lang="en-US" altLang="zh-TW" sz="2700" b="1" spc="100" dirty="0">
                <a:solidFill>
                  <a:srgbClr val="523A2C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Principal Component Analysis</a:t>
            </a:r>
            <a:endParaRPr lang="en-US" sz="2700" b="1" spc="100" dirty="0">
              <a:solidFill>
                <a:srgbClr val="523A2C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505130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圖片 13">
            <a:extLst>
              <a:ext uri="{FF2B5EF4-FFF2-40B4-BE49-F238E27FC236}">
                <a16:creationId xmlns:a16="http://schemas.microsoft.com/office/drawing/2014/main" id="{FCEDF742-8BA4-49A4-AC5E-5D458FD137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7626" y="1464321"/>
            <a:ext cx="8410675" cy="4079177"/>
          </a:xfrm>
          <a:prstGeom prst="rect">
            <a:avLst/>
          </a:prstGeom>
        </p:spPr>
      </p:pic>
      <p:sp>
        <p:nvSpPr>
          <p:cNvPr id="39" name="Oval 62"/>
          <p:cNvSpPr>
            <a:spLocks noChangeArrowheads="1"/>
          </p:cNvSpPr>
          <p:nvPr/>
        </p:nvSpPr>
        <p:spPr bwMode="auto">
          <a:xfrm>
            <a:off x="6475072" y="5535738"/>
            <a:ext cx="9050" cy="7761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45720" tIns="22860" rIns="45720" bIns="22860" numCol="1" anchor="t" anchorCtr="0" compatLnSpc="1">
            <a:prstTxWarp prst="textNoShape">
              <a:avLst/>
            </a:prstTxWarp>
          </a:bodyPr>
          <a:lstStyle/>
          <a:p>
            <a:endParaRPr lang="id-ID" sz="900">
              <a:latin typeface="Roboto Light"/>
            </a:endParaRPr>
          </a:p>
        </p:txBody>
      </p:sp>
      <p:sp>
        <p:nvSpPr>
          <p:cNvPr id="41" name="Oval 64"/>
          <p:cNvSpPr>
            <a:spLocks noChangeArrowheads="1"/>
          </p:cNvSpPr>
          <p:nvPr/>
        </p:nvSpPr>
        <p:spPr bwMode="auto">
          <a:xfrm>
            <a:off x="6475072" y="5533151"/>
            <a:ext cx="9050" cy="7761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45720" tIns="22860" rIns="45720" bIns="22860" numCol="1" anchor="t" anchorCtr="0" compatLnSpc="1">
            <a:prstTxWarp prst="textNoShape">
              <a:avLst/>
            </a:prstTxWarp>
          </a:bodyPr>
          <a:lstStyle/>
          <a:p>
            <a:endParaRPr lang="id-ID" sz="900">
              <a:latin typeface="Roboto Light"/>
            </a:endParaRPr>
          </a:p>
        </p:txBody>
      </p:sp>
      <p:sp>
        <p:nvSpPr>
          <p:cNvPr id="42" name="Oval 65"/>
          <p:cNvSpPr>
            <a:spLocks noChangeArrowheads="1"/>
          </p:cNvSpPr>
          <p:nvPr/>
        </p:nvSpPr>
        <p:spPr bwMode="auto">
          <a:xfrm>
            <a:off x="6469039" y="5527977"/>
            <a:ext cx="24131" cy="20693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45720" tIns="22860" rIns="45720" bIns="22860" numCol="1" anchor="t" anchorCtr="0" compatLnSpc="1">
            <a:prstTxWarp prst="textNoShape">
              <a:avLst/>
            </a:prstTxWarp>
          </a:bodyPr>
          <a:lstStyle/>
          <a:p>
            <a:endParaRPr lang="id-ID" sz="900">
              <a:latin typeface="Roboto Light"/>
            </a:endParaRPr>
          </a:p>
        </p:txBody>
      </p:sp>
      <p:sp>
        <p:nvSpPr>
          <p:cNvPr id="43" name="Oval 66"/>
          <p:cNvSpPr>
            <a:spLocks noChangeArrowheads="1"/>
          </p:cNvSpPr>
          <p:nvPr/>
        </p:nvSpPr>
        <p:spPr bwMode="auto">
          <a:xfrm>
            <a:off x="6469039" y="5527977"/>
            <a:ext cx="24131" cy="20693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45720" tIns="22860" rIns="45720" bIns="22860" numCol="1" anchor="t" anchorCtr="0" compatLnSpc="1">
            <a:prstTxWarp prst="textNoShape">
              <a:avLst/>
            </a:prstTxWarp>
          </a:bodyPr>
          <a:lstStyle/>
          <a:p>
            <a:endParaRPr lang="id-ID" sz="900">
              <a:latin typeface="Roboto Light"/>
            </a:endParaRPr>
          </a:p>
        </p:txBody>
      </p:sp>
      <p:sp>
        <p:nvSpPr>
          <p:cNvPr id="44" name="Oval 67"/>
          <p:cNvSpPr>
            <a:spLocks noChangeArrowheads="1"/>
          </p:cNvSpPr>
          <p:nvPr/>
        </p:nvSpPr>
        <p:spPr bwMode="auto">
          <a:xfrm>
            <a:off x="6475072" y="5533151"/>
            <a:ext cx="12065" cy="10347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45720" tIns="22860" rIns="45720" bIns="22860" numCol="1" anchor="t" anchorCtr="0" compatLnSpc="1">
            <a:prstTxWarp prst="textNoShape">
              <a:avLst/>
            </a:prstTxWarp>
          </a:bodyPr>
          <a:lstStyle/>
          <a:p>
            <a:endParaRPr lang="id-ID" sz="900">
              <a:latin typeface="Roboto Light"/>
            </a:endParaRPr>
          </a:p>
        </p:txBody>
      </p:sp>
      <p:sp>
        <p:nvSpPr>
          <p:cNvPr id="45" name="Oval 68"/>
          <p:cNvSpPr>
            <a:spLocks noChangeArrowheads="1"/>
          </p:cNvSpPr>
          <p:nvPr/>
        </p:nvSpPr>
        <p:spPr bwMode="auto">
          <a:xfrm>
            <a:off x="6475072" y="5533151"/>
            <a:ext cx="12065" cy="10347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45720" tIns="22860" rIns="45720" bIns="22860" numCol="1" anchor="t" anchorCtr="0" compatLnSpc="1">
            <a:prstTxWarp prst="textNoShape">
              <a:avLst/>
            </a:prstTxWarp>
          </a:bodyPr>
          <a:lstStyle/>
          <a:p>
            <a:endParaRPr lang="id-ID" sz="900">
              <a:latin typeface="Roboto Light"/>
            </a:endParaRPr>
          </a:p>
        </p:txBody>
      </p:sp>
      <p:sp>
        <p:nvSpPr>
          <p:cNvPr id="46" name="Freeform 69"/>
          <p:cNvSpPr>
            <a:spLocks/>
          </p:cNvSpPr>
          <p:nvPr/>
        </p:nvSpPr>
        <p:spPr bwMode="auto">
          <a:xfrm>
            <a:off x="6478090" y="5535738"/>
            <a:ext cx="3017" cy="2587"/>
          </a:xfrm>
          <a:custGeom>
            <a:avLst/>
            <a:gdLst>
              <a:gd name="T0" fmla="*/ 1 w 1"/>
              <a:gd name="T1" fmla="*/ 1 h 1"/>
              <a:gd name="T2" fmla="*/ 1 w 1"/>
              <a:gd name="T3" fmla="*/ 1 h 1"/>
              <a:gd name="T4" fmla="*/ 0 w 1"/>
              <a:gd name="T5" fmla="*/ 1 h 1"/>
              <a:gd name="T6" fmla="*/ 1 w 1"/>
              <a:gd name="T7" fmla="*/ 0 h 1"/>
              <a:gd name="T8" fmla="*/ 1 w 1"/>
              <a:gd name="T9" fmla="*/ 1 h 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" h="1">
                <a:moveTo>
                  <a:pt x="1" y="1"/>
                </a:moveTo>
                <a:lnTo>
                  <a:pt x="1" y="1"/>
                </a:lnTo>
                <a:lnTo>
                  <a:pt x="0" y="1"/>
                </a:lnTo>
                <a:lnTo>
                  <a:pt x="1" y="0"/>
                </a:lnTo>
                <a:lnTo>
                  <a:pt x="1" y="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45720" tIns="22860" rIns="45720" bIns="22860" numCol="1" anchor="t" anchorCtr="0" compatLnSpc="1">
            <a:prstTxWarp prst="textNoShape">
              <a:avLst/>
            </a:prstTxWarp>
          </a:bodyPr>
          <a:lstStyle/>
          <a:p>
            <a:endParaRPr lang="id-ID" sz="900">
              <a:latin typeface="Roboto Light"/>
            </a:endParaRPr>
          </a:p>
        </p:txBody>
      </p:sp>
      <p:sp>
        <p:nvSpPr>
          <p:cNvPr id="13" name="椭圆 30">
            <a:extLst>
              <a:ext uri="{FF2B5EF4-FFF2-40B4-BE49-F238E27FC236}">
                <a16:creationId xmlns:a16="http://schemas.microsoft.com/office/drawing/2014/main" id="{256E0C3D-2EFC-4038-B0F1-66E61F191EE6}"/>
              </a:ext>
            </a:extLst>
          </p:cNvPr>
          <p:cNvSpPr/>
          <p:nvPr/>
        </p:nvSpPr>
        <p:spPr>
          <a:xfrm>
            <a:off x="428525" y="57885"/>
            <a:ext cx="1299101" cy="1299101"/>
          </a:xfrm>
          <a:prstGeom prst="ellipse">
            <a:avLst/>
          </a:prstGeom>
          <a:solidFill>
            <a:srgbClr val="F6E8E7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椭圆 31">
            <a:extLst>
              <a:ext uri="{FF2B5EF4-FFF2-40B4-BE49-F238E27FC236}">
                <a16:creationId xmlns:a16="http://schemas.microsoft.com/office/drawing/2014/main" id="{7D38F026-9D7B-47DC-81F7-78E531DDCB84}"/>
              </a:ext>
            </a:extLst>
          </p:cNvPr>
          <p:cNvSpPr/>
          <p:nvPr/>
        </p:nvSpPr>
        <p:spPr>
          <a:xfrm>
            <a:off x="231231" y="794205"/>
            <a:ext cx="524547" cy="524547"/>
          </a:xfrm>
          <a:prstGeom prst="ellipse">
            <a:avLst/>
          </a:prstGeom>
          <a:solidFill>
            <a:srgbClr val="EDD1CF"/>
          </a:solidFill>
          <a:ln>
            <a:noFill/>
          </a:ln>
          <a:effectLst>
            <a:reflection stA="40000" endPos="30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TextBox 72">
            <a:extLst>
              <a:ext uri="{FF2B5EF4-FFF2-40B4-BE49-F238E27FC236}">
                <a16:creationId xmlns:a16="http://schemas.microsoft.com/office/drawing/2014/main" id="{AD34F76C-556B-4F34-A3C6-D4DED412DB20}"/>
              </a:ext>
            </a:extLst>
          </p:cNvPr>
          <p:cNvSpPr txBox="1"/>
          <p:nvPr/>
        </p:nvSpPr>
        <p:spPr>
          <a:xfrm>
            <a:off x="1078075" y="452910"/>
            <a:ext cx="6674545" cy="50905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>
              <a:lnSpc>
                <a:spcPts val="3530"/>
              </a:lnSpc>
            </a:pPr>
            <a:r>
              <a:rPr lang="en-US" altLang="zh-TW" sz="2700" b="1" spc="100" dirty="0">
                <a:solidFill>
                  <a:srgbClr val="523A2C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Principal Component Analysis</a:t>
            </a:r>
            <a:endParaRPr lang="en-US" sz="2700" b="1" spc="100" dirty="0">
              <a:solidFill>
                <a:srgbClr val="523A2C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237798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/>
        </p:nvSpPr>
        <p:spPr>
          <a:xfrm>
            <a:off x="4402355" y="415443"/>
            <a:ext cx="3301902" cy="3301902"/>
          </a:xfrm>
          <a:prstGeom prst="ellipse">
            <a:avLst/>
          </a:prstGeom>
          <a:solidFill>
            <a:srgbClr val="EDD1CF"/>
          </a:solidFill>
          <a:ln>
            <a:noFill/>
          </a:ln>
          <a:effectLst>
            <a:reflection stA="40000" endPos="30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523A2C"/>
              </a:solidFill>
            </a:endParaRPr>
          </a:p>
        </p:txBody>
      </p:sp>
      <p:sp>
        <p:nvSpPr>
          <p:cNvPr id="5" name="椭圆 4"/>
          <p:cNvSpPr/>
          <p:nvPr/>
        </p:nvSpPr>
        <p:spPr>
          <a:xfrm>
            <a:off x="3783601" y="3004660"/>
            <a:ext cx="414118" cy="414118"/>
          </a:xfrm>
          <a:prstGeom prst="ellipse">
            <a:avLst/>
          </a:prstGeom>
          <a:solidFill>
            <a:srgbClr val="F6E8E7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523A2C"/>
              </a:solidFill>
            </a:endParaRPr>
          </a:p>
        </p:txBody>
      </p:sp>
      <p:sp>
        <p:nvSpPr>
          <p:cNvPr id="6" name="MH_Others_1"/>
          <p:cNvSpPr txBox="1"/>
          <p:nvPr>
            <p:custDataLst>
              <p:tags r:id="rId1"/>
            </p:custDataLst>
          </p:nvPr>
        </p:nvSpPr>
        <p:spPr>
          <a:xfrm>
            <a:off x="5607889" y="723809"/>
            <a:ext cx="954114" cy="3139229"/>
          </a:xfrm>
          <a:prstGeom prst="rect">
            <a:avLst/>
          </a:prstGeom>
          <a:noFill/>
          <a:effectLst>
            <a:reflection endPos="0" dist="50800" dir="5400000" sy="-100000" algn="bl" rotWithShape="0"/>
          </a:effectLst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zh-CN" sz="37500" dirty="0">
                <a:solidFill>
                  <a:srgbClr val="523A2C"/>
                </a:solidFill>
                <a:latin typeface="ISOCP" panose="00000400000000000000" pitchFamily="2" charset="0"/>
                <a:ea typeface="造字工房悦黑（非商用）常规体" pitchFamily="50" charset="-122"/>
                <a:cs typeface="ISOCP" panose="00000400000000000000" pitchFamily="2" charset="0"/>
              </a:rPr>
              <a:t>3</a:t>
            </a:r>
            <a:endParaRPr lang="zh-CN" altLang="en-US" sz="37500" dirty="0">
              <a:solidFill>
                <a:srgbClr val="523A2C"/>
              </a:solidFill>
              <a:latin typeface="ISOCP" panose="00000400000000000000" pitchFamily="2" charset="0"/>
              <a:ea typeface="造字工房悦黑（非商用）常规体" pitchFamily="50" charset="-122"/>
              <a:cs typeface="ISOCP" panose="00000400000000000000" pitchFamily="2" charset="0"/>
            </a:endParaRPr>
          </a:p>
        </p:txBody>
      </p:sp>
      <p:sp>
        <p:nvSpPr>
          <p:cNvPr id="7" name="任意多边形 6"/>
          <p:cNvSpPr/>
          <p:nvPr/>
        </p:nvSpPr>
        <p:spPr>
          <a:xfrm>
            <a:off x="6431280" y="2957750"/>
            <a:ext cx="5760720" cy="3911825"/>
          </a:xfrm>
          <a:custGeom>
            <a:avLst/>
            <a:gdLst>
              <a:gd name="connsiteX0" fmla="*/ 4052585 w 7495569"/>
              <a:gd name="connsiteY0" fmla="*/ 0 h 5760400"/>
              <a:gd name="connsiteX1" fmla="*/ 7413052 w 7495569"/>
              <a:gd name="connsiteY1" fmla="*/ 1786746 h 5760400"/>
              <a:gd name="connsiteX2" fmla="*/ 7495569 w 7495569"/>
              <a:gd name="connsiteY2" fmla="*/ 1922573 h 5760400"/>
              <a:gd name="connsiteX3" fmla="*/ 7495569 w 7495569"/>
              <a:gd name="connsiteY3" fmla="*/ 5760400 h 5760400"/>
              <a:gd name="connsiteX4" fmla="*/ 381273 w 7495569"/>
              <a:gd name="connsiteY4" fmla="*/ 5760400 h 5760400"/>
              <a:gd name="connsiteX5" fmla="*/ 318473 w 7495569"/>
              <a:gd name="connsiteY5" fmla="*/ 5630034 h 5760400"/>
              <a:gd name="connsiteX6" fmla="*/ 0 w 7495569"/>
              <a:gd name="connsiteY6" fmla="*/ 4052585 h 5760400"/>
              <a:gd name="connsiteX7" fmla="*/ 4052585 w 7495569"/>
              <a:gd name="connsiteY7" fmla="*/ 0 h 5760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495569" h="5760400">
                <a:moveTo>
                  <a:pt x="4052585" y="0"/>
                </a:moveTo>
                <a:cubicBezTo>
                  <a:pt x="5451448" y="0"/>
                  <a:pt x="6684773" y="708752"/>
                  <a:pt x="7413052" y="1786746"/>
                </a:cubicBezTo>
                <a:lnTo>
                  <a:pt x="7495569" y="1922573"/>
                </a:lnTo>
                <a:lnTo>
                  <a:pt x="7495569" y="5760400"/>
                </a:lnTo>
                <a:lnTo>
                  <a:pt x="381273" y="5760400"/>
                </a:lnTo>
                <a:lnTo>
                  <a:pt x="318473" y="5630034"/>
                </a:lnTo>
                <a:cubicBezTo>
                  <a:pt x="113401" y="5145190"/>
                  <a:pt x="0" y="4612131"/>
                  <a:pt x="0" y="4052585"/>
                </a:cubicBezTo>
                <a:cubicBezTo>
                  <a:pt x="0" y="1814404"/>
                  <a:pt x="1814404" y="0"/>
                  <a:pt x="4052585" y="0"/>
                </a:cubicBezTo>
                <a:close/>
              </a:path>
            </a:pathLst>
          </a:custGeom>
          <a:solidFill>
            <a:srgbClr val="F6E8E7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523A2C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827270" y="4912126"/>
            <a:ext cx="6318345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zh-TW" altLang="en-US" sz="2000" dirty="0">
                <a:solidFill>
                  <a:srgbClr val="523A2C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觀察變數</a:t>
            </a:r>
            <a:endParaRPr lang="en-US" altLang="zh-TW" sz="2000" dirty="0">
              <a:solidFill>
                <a:srgbClr val="523A2C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zh-TW" altLang="en-US" sz="2000" dirty="0">
                <a:solidFill>
                  <a:srgbClr val="523A2C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採用主成分個數</a:t>
            </a:r>
            <a:endParaRPr lang="en-US" altLang="zh-TW" sz="2000" dirty="0">
              <a:solidFill>
                <a:srgbClr val="523A2C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zh-TW" altLang="en-US" sz="2000" dirty="0">
                <a:solidFill>
                  <a:srgbClr val="523A2C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定義主成分</a:t>
            </a:r>
            <a:endParaRPr lang="en-US" altLang="zh-TW" sz="2000" dirty="0">
              <a:solidFill>
                <a:srgbClr val="523A2C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  <a:p>
            <a:pPr algn="ctr"/>
            <a:endParaRPr lang="zh-CN" altLang="en-US" sz="1600" dirty="0">
              <a:solidFill>
                <a:srgbClr val="523A2C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5037643" y="4221984"/>
            <a:ext cx="203132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TW" altLang="en-US" sz="3600" b="1" dirty="0">
                <a:solidFill>
                  <a:srgbClr val="523A2C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分析結果</a:t>
            </a:r>
            <a:endParaRPr lang="en-US" altLang="zh-TW" sz="3600" b="1" dirty="0">
              <a:solidFill>
                <a:srgbClr val="523A2C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303790" y="4932027"/>
            <a:ext cx="611041" cy="611041"/>
            <a:chOff x="9937750" y="2166942"/>
            <a:chExt cx="625475" cy="625475"/>
          </a:xfrm>
        </p:grpSpPr>
        <p:sp>
          <p:nvSpPr>
            <p:cNvPr id="12" name="椭圆 4"/>
            <p:cNvSpPr>
              <a:spLocks noChangeArrowheads="1"/>
            </p:cNvSpPr>
            <p:nvPr/>
          </p:nvSpPr>
          <p:spPr bwMode="auto">
            <a:xfrm>
              <a:off x="9937750" y="2166942"/>
              <a:ext cx="625475" cy="625475"/>
            </a:xfrm>
            <a:prstGeom prst="ellipse">
              <a:avLst/>
            </a:prstGeom>
            <a:solidFill>
              <a:srgbClr val="ECCB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flat" cmpd="sng">
                  <a:solidFill>
                    <a:srgbClr val="395E8A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lang="zh-CN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3" name="椭圆 5"/>
            <p:cNvSpPr>
              <a:spLocks noChangeArrowheads="1"/>
            </p:cNvSpPr>
            <p:nvPr/>
          </p:nvSpPr>
          <p:spPr bwMode="auto">
            <a:xfrm>
              <a:off x="10061357" y="2290549"/>
              <a:ext cx="378260" cy="378260"/>
            </a:xfrm>
            <a:prstGeom prst="ellipse">
              <a:avLst/>
            </a:prstGeom>
            <a:solidFill>
              <a:srgbClr val="D78F8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flat" cmpd="sng">
                  <a:solidFill>
                    <a:srgbClr val="395E8A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lang="zh-CN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532614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4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 tmFilter="0,0; .5, 1; 1, 1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41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250" tmFilter="0,0; .5, 1; 1, 1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/>
      <p:bldP spid="7" grpId="0" animBg="1"/>
      <p:bldP spid="8" grpId="0"/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ight Triangle 2"/>
          <p:cNvSpPr/>
          <p:nvPr/>
        </p:nvSpPr>
        <p:spPr>
          <a:xfrm>
            <a:off x="1588" y="3508401"/>
            <a:ext cx="6255834" cy="3356517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solidFill>
                <a:schemeClr val="bg1">
                  <a:lumMod val="95000"/>
                </a:schemeClr>
              </a:solidFill>
              <a:latin typeface="Montserrat" charset="0"/>
              <a:ea typeface="Montserrat" charset="0"/>
              <a:cs typeface="Montserrat" charset="0"/>
            </a:endParaRPr>
          </a:p>
        </p:txBody>
      </p:sp>
      <p:sp>
        <p:nvSpPr>
          <p:cNvPr id="30" name="Oval 29"/>
          <p:cNvSpPr/>
          <p:nvPr/>
        </p:nvSpPr>
        <p:spPr>
          <a:xfrm>
            <a:off x="6664713" y="3204757"/>
            <a:ext cx="561144" cy="561144"/>
          </a:xfrm>
          <a:prstGeom prst="ellipse">
            <a:avLst/>
          </a:prstGeom>
          <a:solidFill>
            <a:srgbClr val="EDD1CF"/>
          </a:solidFill>
          <a:ln>
            <a:noFill/>
          </a:ln>
          <a:effectLst>
            <a:reflection stA="40000" endPos="30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Shape 2629"/>
          <p:cNvSpPr/>
          <p:nvPr/>
        </p:nvSpPr>
        <p:spPr>
          <a:xfrm>
            <a:off x="6810371" y="3356946"/>
            <a:ext cx="279405" cy="279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441" y="20618"/>
                </a:moveTo>
                <a:cubicBezTo>
                  <a:pt x="15826" y="20618"/>
                  <a:pt x="15226" y="20482"/>
                  <a:pt x="14660" y="20214"/>
                </a:cubicBezTo>
                <a:cubicBezTo>
                  <a:pt x="14607" y="20189"/>
                  <a:pt x="14552" y="20170"/>
                  <a:pt x="14497" y="20155"/>
                </a:cubicBezTo>
                <a:cubicBezTo>
                  <a:pt x="8918" y="17308"/>
                  <a:pt x="4295" y="12685"/>
                  <a:pt x="1448" y="7105"/>
                </a:cubicBezTo>
                <a:cubicBezTo>
                  <a:pt x="1432" y="7048"/>
                  <a:pt x="1412" y="6991"/>
                  <a:pt x="1386" y="6936"/>
                </a:cubicBezTo>
                <a:cubicBezTo>
                  <a:pt x="1117" y="6369"/>
                  <a:pt x="982" y="5770"/>
                  <a:pt x="982" y="5155"/>
                </a:cubicBezTo>
                <a:cubicBezTo>
                  <a:pt x="982" y="2774"/>
                  <a:pt x="3066" y="982"/>
                  <a:pt x="4417" y="982"/>
                </a:cubicBezTo>
                <a:cubicBezTo>
                  <a:pt x="4594" y="982"/>
                  <a:pt x="4711" y="1072"/>
                  <a:pt x="4764" y="1126"/>
                </a:cubicBezTo>
                <a:cubicBezTo>
                  <a:pt x="4776" y="1139"/>
                  <a:pt x="4798" y="1164"/>
                  <a:pt x="4831" y="1216"/>
                </a:cubicBezTo>
                <a:cubicBezTo>
                  <a:pt x="4848" y="1244"/>
                  <a:pt x="4867" y="1271"/>
                  <a:pt x="4887" y="1297"/>
                </a:cubicBezTo>
                <a:lnTo>
                  <a:pt x="8118" y="5453"/>
                </a:lnTo>
                <a:cubicBezTo>
                  <a:pt x="8143" y="5485"/>
                  <a:pt x="8170" y="5515"/>
                  <a:pt x="8199" y="5544"/>
                </a:cubicBezTo>
                <a:cubicBezTo>
                  <a:pt x="8253" y="5598"/>
                  <a:pt x="8343" y="5715"/>
                  <a:pt x="8343" y="5891"/>
                </a:cubicBezTo>
                <a:cubicBezTo>
                  <a:pt x="8343" y="5978"/>
                  <a:pt x="8319" y="6060"/>
                  <a:pt x="8272" y="6135"/>
                </a:cubicBezTo>
                <a:lnTo>
                  <a:pt x="7178" y="7221"/>
                </a:lnTo>
                <a:cubicBezTo>
                  <a:pt x="7173" y="7226"/>
                  <a:pt x="7168" y="7231"/>
                  <a:pt x="7163" y="7236"/>
                </a:cubicBezTo>
                <a:cubicBezTo>
                  <a:pt x="6767" y="7609"/>
                  <a:pt x="6541" y="8126"/>
                  <a:pt x="6541" y="8668"/>
                </a:cubicBezTo>
                <a:cubicBezTo>
                  <a:pt x="6541" y="9175"/>
                  <a:pt x="6738" y="9658"/>
                  <a:pt x="7080" y="10020"/>
                </a:cubicBezTo>
                <a:cubicBezTo>
                  <a:pt x="7092" y="10040"/>
                  <a:pt x="7105" y="10059"/>
                  <a:pt x="7119" y="10078"/>
                </a:cubicBezTo>
                <a:cubicBezTo>
                  <a:pt x="8325" y="11745"/>
                  <a:pt x="9807" y="13222"/>
                  <a:pt x="11525" y="14469"/>
                </a:cubicBezTo>
                <a:cubicBezTo>
                  <a:pt x="11538" y="14478"/>
                  <a:pt x="11551" y="14487"/>
                  <a:pt x="11565" y="14496"/>
                </a:cubicBezTo>
                <a:cubicBezTo>
                  <a:pt x="11928" y="14844"/>
                  <a:pt x="12414" y="15045"/>
                  <a:pt x="12924" y="15045"/>
                </a:cubicBezTo>
                <a:cubicBezTo>
                  <a:pt x="13436" y="15045"/>
                  <a:pt x="13930" y="14840"/>
                  <a:pt x="14297" y="14479"/>
                </a:cubicBezTo>
                <a:cubicBezTo>
                  <a:pt x="14316" y="14463"/>
                  <a:pt x="14335" y="14446"/>
                  <a:pt x="14352" y="14427"/>
                </a:cubicBezTo>
                <a:lnTo>
                  <a:pt x="15451" y="13320"/>
                </a:lnTo>
                <a:cubicBezTo>
                  <a:pt x="15529" y="13271"/>
                  <a:pt x="15611" y="13247"/>
                  <a:pt x="15697" y="13247"/>
                </a:cubicBezTo>
                <a:cubicBezTo>
                  <a:pt x="15874" y="13247"/>
                  <a:pt x="15990" y="13337"/>
                  <a:pt x="16044" y="13391"/>
                </a:cubicBezTo>
                <a:cubicBezTo>
                  <a:pt x="16073" y="13420"/>
                  <a:pt x="16103" y="13447"/>
                  <a:pt x="16135" y="13472"/>
                </a:cubicBezTo>
                <a:lnTo>
                  <a:pt x="20291" y="16704"/>
                </a:lnTo>
                <a:cubicBezTo>
                  <a:pt x="20317" y="16725"/>
                  <a:pt x="20345" y="16744"/>
                  <a:pt x="20374" y="16762"/>
                </a:cubicBezTo>
                <a:cubicBezTo>
                  <a:pt x="20426" y="16795"/>
                  <a:pt x="20449" y="16816"/>
                  <a:pt x="20461" y="16827"/>
                </a:cubicBezTo>
                <a:cubicBezTo>
                  <a:pt x="20515" y="16881"/>
                  <a:pt x="20605" y="16997"/>
                  <a:pt x="20605" y="17174"/>
                </a:cubicBezTo>
                <a:cubicBezTo>
                  <a:pt x="20605" y="17207"/>
                  <a:pt x="20606" y="17240"/>
                  <a:pt x="20610" y="17273"/>
                </a:cubicBezTo>
                <a:cubicBezTo>
                  <a:pt x="20533" y="18625"/>
                  <a:pt x="18769" y="20618"/>
                  <a:pt x="16441" y="20618"/>
                </a:cubicBezTo>
                <a:moveTo>
                  <a:pt x="21586" y="17174"/>
                </a:moveTo>
                <a:cubicBezTo>
                  <a:pt x="21586" y="16768"/>
                  <a:pt x="21421" y="16399"/>
                  <a:pt x="21155" y="16133"/>
                </a:cubicBezTo>
                <a:cubicBezTo>
                  <a:pt x="21077" y="16054"/>
                  <a:pt x="20988" y="15988"/>
                  <a:pt x="20893" y="15929"/>
                </a:cubicBezTo>
                <a:lnTo>
                  <a:pt x="16738" y="12697"/>
                </a:lnTo>
                <a:cubicBezTo>
                  <a:pt x="16471" y="12430"/>
                  <a:pt x="16104" y="12265"/>
                  <a:pt x="15697" y="12265"/>
                </a:cubicBezTo>
                <a:cubicBezTo>
                  <a:pt x="15364" y="12265"/>
                  <a:pt x="15060" y="12380"/>
                  <a:pt x="14815" y="12567"/>
                </a:cubicBezTo>
                <a:lnTo>
                  <a:pt x="13655" y="13736"/>
                </a:lnTo>
                <a:lnTo>
                  <a:pt x="13652" y="13733"/>
                </a:lnTo>
                <a:cubicBezTo>
                  <a:pt x="13473" y="13934"/>
                  <a:pt x="13214" y="14063"/>
                  <a:pt x="12924" y="14063"/>
                </a:cubicBezTo>
                <a:cubicBezTo>
                  <a:pt x="12592" y="14063"/>
                  <a:pt x="12300" y="13897"/>
                  <a:pt x="12122" y="13645"/>
                </a:cubicBezTo>
                <a:cubicBezTo>
                  <a:pt x="12116" y="13654"/>
                  <a:pt x="12107" y="13663"/>
                  <a:pt x="12101" y="13674"/>
                </a:cubicBezTo>
                <a:cubicBezTo>
                  <a:pt x="10497" y="12510"/>
                  <a:pt x="9076" y="11108"/>
                  <a:pt x="7914" y="9502"/>
                </a:cubicBezTo>
                <a:cubicBezTo>
                  <a:pt x="7925" y="9495"/>
                  <a:pt x="7935" y="9486"/>
                  <a:pt x="7947" y="9479"/>
                </a:cubicBezTo>
                <a:cubicBezTo>
                  <a:pt x="7691" y="9299"/>
                  <a:pt x="7523" y="9004"/>
                  <a:pt x="7523" y="8668"/>
                </a:cubicBezTo>
                <a:cubicBezTo>
                  <a:pt x="7523" y="8367"/>
                  <a:pt x="7659" y="8101"/>
                  <a:pt x="7871" y="7920"/>
                </a:cubicBezTo>
                <a:lnTo>
                  <a:pt x="7870" y="7918"/>
                </a:lnTo>
                <a:lnTo>
                  <a:pt x="9023" y="6773"/>
                </a:lnTo>
                <a:cubicBezTo>
                  <a:pt x="9211" y="6528"/>
                  <a:pt x="9325" y="6224"/>
                  <a:pt x="9325" y="5891"/>
                </a:cubicBezTo>
                <a:cubicBezTo>
                  <a:pt x="9325" y="5485"/>
                  <a:pt x="9160" y="5116"/>
                  <a:pt x="8893" y="4850"/>
                </a:cubicBezTo>
                <a:lnTo>
                  <a:pt x="5662" y="693"/>
                </a:lnTo>
                <a:cubicBezTo>
                  <a:pt x="5603" y="599"/>
                  <a:pt x="5537" y="510"/>
                  <a:pt x="5458" y="432"/>
                </a:cubicBezTo>
                <a:cubicBezTo>
                  <a:pt x="5191" y="165"/>
                  <a:pt x="4823" y="0"/>
                  <a:pt x="4417" y="0"/>
                </a:cubicBezTo>
                <a:cubicBezTo>
                  <a:pt x="2454" y="0"/>
                  <a:pt x="0" y="2308"/>
                  <a:pt x="0" y="5155"/>
                </a:cubicBezTo>
                <a:cubicBezTo>
                  <a:pt x="0" y="5943"/>
                  <a:pt x="183" y="6688"/>
                  <a:pt x="499" y="7356"/>
                </a:cubicBezTo>
                <a:lnTo>
                  <a:pt x="482" y="7373"/>
                </a:lnTo>
                <a:cubicBezTo>
                  <a:pt x="3435" y="13255"/>
                  <a:pt x="8343" y="18164"/>
                  <a:pt x="14224" y="21117"/>
                </a:cubicBezTo>
                <a:lnTo>
                  <a:pt x="14240" y="21101"/>
                </a:lnTo>
                <a:cubicBezTo>
                  <a:pt x="14908" y="21418"/>
                  <a:pt x="15652" y="21600"/>
                  <a:pt x="16441" y="21600"/>
                </a:cubicBezTo>
                <a:cubicBezTo>
                  <a:pt x="19287" y="21600"/>
                  <a:pt x="21594" y="19145"/>
                  <a:pt x="21594" y="17182"/>
                </a:cubicBezTo>
                <a:cubicBezTo>
                  <a:pt x="21594" y="17179"/>
                  <a:pt x="21594" y="17177"/>
                  <a:pt x="21594" y="17174"/>
                </a:cubicBezTo>
                <a:cubicBezTo>
                  <a:pt x="21594" y="17174"/>
                  <a:pt x="21586" y="17174"/>
                  <a:pt x="21586" y="17174"/>
                </a:cubicBezTo>
                <a:close/>
                <a:moveTo>
                  <a:pt x="11785" y="10800"/>
                </a:moveTo>
                <a:cubicBezTo>
                  <a:pt x="12326" y="10800"/>
                  <a:pt x="12766" y="10360"/>
                  <a:pt x="12766" y="9819"/>
                </a:cubicBezTo>
                <a:cubicBezTo>
                  <a:pt x="12766" y="9276"/>
                  <a:pt x="12326" y="8836"/>
                  <a:pt x="11785" y="8836"/>
                </a:cubicBezTo>
                <a:cubicBezTo>
                  <a:pt x="11242" y="8836"/>
                  <a:pt x="10803" y="9276"/>
                  <a:pt x="10803" y="9819"/>
                </a:cubicBezTo>
                <a:cubicBezTo>
                  <a:pt x="10803" y="10360"/>
                  <a:pt x="11242" y="10800"/>
                  <a:pt x="11785" y="10800"/>
                </a:cubicBezTo>
                <a:moveTo>
                  <a:pt x="11785" y="5891"/>
                </a:moveTo>
                <a:cubicBezTo>
                  <a:pt x="13953" y="5891"/>
                  <a:pt x="15711" y="7649"/>
                  <a:pt x="15711" y="9819"/>
                </a:cubicBezTo>
                <a:cubicBezTo>
                  <a:pt x="15711" y="10090"/>
                  <a:pt x="15930" y="10309"/>
                  <a:pt x="16201" y="10309"/>
                </a:cubicBezTo>
                <a:cubicBezTo>
                  <a:pt x="16472" y="10309"/>
                  <a:pt x="16692" y="10090"/>
                  <a:pt x="16692" y="9819"/>
                </a:cubicBezTo>
                <a:cubicBezTo>
                  <a:pt x="16692" y="7107"/>
                  <a:pt x="14495" y="4909"/>
                  <a:pt x="11785" y="4909"/>
                </a:cubicBezTo>
                <a:cubicBezTo>
                  <a:pt x="11513" y="4909"/>
                  <a:pt x="11294" y="5129"/>
                  <a:pt x="11294" y="5400"/>
                </a:cubicBezTo>
                <a:cubicBezTo>
                  <a:pt x="11294" y="5672"/>
                  <a:pt x="11513" y="5891"/>
                  <a:pt x="11785" y="5891"/>
                </a:cubicBezTo>
                <a:moveTo>
                  <a:pt x="11785" y="982"/>
                </a:moveTo>
                <a:cubicBezTo>
                  <a:pt x="16663" y="982"/>
                  <a:pt x="20618" y="4939"/>
                  <a:pt x="20618" y="9819"/>
                </a:cubicBezTo>
                <a:cubicBezTo>
                  <a:pt x="20618" y="10090"/>
                  <a:pt x="20838" y="10309"/>
                  <a:pt x="21109" y="10309"/>
                </a:cubicBezTo>
                <a:cubicBezTo>
                  <a:pt x="21380" y="10309"/>
                  <a:pt x="21600" y="10090"/>
                  <a:pt x="21600" y="9819"/>
                </a:cubicBezTo>
                <a:cubicBezTo>
                  <a:pt x="21600" y="4396"/>
                  <a:pt x="17206" y="0"/>
                  <a:pt x="11785" y="0"/>
                </a:cubicBezTo>
                <a:cubicBezTo>
                  <a:pt x="11513" y="0"/>
                  <a:pt x="11294" y="220"/>
                  <a:pt x="11294" y="491"/>
                </a:cubicBezTo>
                <a:cubicBezTo>
                  <a:pt x="11294" y="762"/>
                  <a:pt x="11513" y="982"/>
                  <a:pt x="11785" y="982"/>
                </a:cubicBezTo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32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/>
          </a:p>
        </p:txBody>
      </p:sp>
      <p:sp>
        <p:nvSpPr>
          <p:cNvPr id="32" name="Shape 2840"/>
          <p:cNvSpPr/>
          <p:nvPr/>
        </p:nvSpPr>
        <p:spPr>
          <a:xfrm>
            <a:off x="6805621" y="4762188"/>
            <a:ext cx="279328" cy="25393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20520"/>
                </a:moveTo>
                <a:lnTo>
                  <a:pt x="982" y="20520"/>
                </a:lnTo>
                <a:lnTo>
                  <a:pt x="982" y="14040"/>
                </a:lnTo>
                <a:lnTo>
                  <a:pt x="6907" y="14040"/>
                </a:lnTo>
                <a:cubicBezTo>
                  <a:pt x="7149" y="16170"/>
                  <a:pt x="8798" y="17820"/>
                  <a:pt x="10800" y="17820"/>
                </a:cubicBezTo>
                <a:cubicBezTo>
                  <a:pt x="12802" y="17820"/>
                  <a:pt x="14451" y="16170"/>
                  <a:pt x="14693" y="14040"/>
                </a:cubicBezTo>
                <a:lnTo>
                  <a:pt x="20618" y="14040"/>
                </a:lnTo>
                <a:cubicBezTo>
                  <a:pt x="20618" y="14040"/>
                  <a:pt x="20618" y="20520"/>
                  <a:pt x="20618" y="20520"/>
                </a:cubicBezTo>
                <a:close/>
                <a:moveTo>
                  <a:pt x="21544" y="13261"/>
                </a:moveTo>
                <a:lnTo>
                  <a:pt x="21548" y="13259"/>
                </a:lnTo>
                <a:lnTo>
                  <a:pt x="16639" y="2459"/>
                </a:lnTo>
                <a:lnTo>
                  <a:pt x="16635" y="2461"/>
                </a:lnTo>
                <a:cubicBezTo>
                  <a:pt x="16554" y="2284"/>
                  <a:pt x="16392" y="2160"/>
                  <a:pt x="16200" y="2160"/>
                </a:cubicBezTo>
                <a:lnTo>
                  <a:pt x="15709" y="2160"/>
                </a:lnTo>
                <a:cubicBezTo>
                  <a:pt x="15438" y="2160"/>
                  <a:pt x="15218" y="2402"/>
                  <a:pt x="15218" y="2700"/>
                </a:cubicBezTo>
                <a:cubicBezTo>
                  <a:pt x="15218" y="2999"/>
                  <a:pt x="15438" y="3240"/>
                  <a:pt x="15709" y="3240"/>
                </a:cubicBezTo>
                <a:lnTo>
                  <a:pt x="15897" y="3240"/>
                </a:lnTo>
                <a:lnTo>
                  <a:pt x="20315" y="12960"/>
                </a:lnTo>
                <a:lnTo>
                  <a:pt x="14236" y="12960"/>
                </a:lnTo>
                <a:cubicBezTo>
                  <a:pt x="13965" y="12960"/>
                  <a:pt x="13745" y="13202"/>
                  <a:pt x="13745" y="13500"/>
                </a:cubicBezTo>
                <a:cubicBezTo>
                  <a:pt x="13745" y="15290"/>
                  <a:pt x="12426" y="16740"/>
                  <a:pt x="10800" y="16740"/>
                </a:cubicBezTo>
                <a:cubicBezTo>
                  <a:pt x="9173" y="16740"/>
                  <a:pt x="7855" y="15290"/>
                  <a:pt x="7855" y="13500"/>
                </a:cubicBezTo>
                <a:cubicBezTo>
                  <a:pt x="7855" y="13202"/>
                  <a:pt x="7635" y="12960"/>
                  <a:pt x="7364" y="12960"/>
                </a:cubicBezTo>
                <a:lnTo>
                  <a:pt x="1285" y="12960"/>
                </a:lnTo>
                <a:lnTo>
                  <a:pt x="5703" y="3240"/>
                </a:lnTo>
                <a:lnTo>
                  <a:pt x="5891" y="3240"/>
                </a:lnTo>
                <a:cubicBezTo>
                  <a:pt x="6162" y="3240"/>
                  <a:pt x="6382" y="2999"/>
                  <a:pt x="6382" y="2700"/>
                </a:cubicBezTo>
                <a:cubicBezTo>
                  <a:pt x="6382" y="2402"/>
                  <a:pt x="6162" y="2160"/>
                  <a:pt x="5891" y="2160"/>
                </a:cubicBezTo>
                <a:lnTo>
                  <a:pt x="5400" y="2160"/>
                </a:lnTo>
                <a:cubicBezTo>
                  <a:pt x="5208" y="2160"/>
                  <a:pt x="5046" y="2284"/>
                  <a:pt x="4966" y="2461"/>
                </a:cubicBezTo>
                <a:lnTo>
                  <a:pt x="4961" y="2459"/>
                </a:lnTo>
                <a:lnTo>
                  <a:pt x="52" y="13259"/>
                </a:lnTo>
                <a:lnTo>
                  <a:pt x="57" y="13261"/>
                </a:lnTo>
                <a:cubicBezTo>
                  <a:pt x="23" y="13334"/>
                  <a:pt x="0" y="13413"/>
                  <a:pt x="0" y="13500"/>
                </a:cubicBezTo>
                <a:lnTo>
                  <a:pt x="0" y="21060"/>
                </a:lnTo>
                <a:cubicBezTo>
                  <a:pt x="0" y="21359"/>
                  <a:pt x="220" y="21600"/>
                  <a:pt x="491" y="21600"/>
                </a:cubicBezTo>
                <a:lnTo>
                  <a:pt x="21109" y="21600"/>
                </a:lnTo>
                <a:cubicBezTo>
                  <a:pt x="21380" y="21600"/>
                  <a:pt x="21600" y="21359"/>
                  <a:pt x="21600" y="21060"/>
                </a:cubicBezTo>
                <a:lnTo>
                  <a:pt x="21600" y="13500"/>
                </a:lnTo>
                <a:cubicBezTo>
                  <a:pt x="21600" y="13413"/>
                  <a:pt x="21577" y="13334"/>
                  <a:pt x="21544" y="13261"/>
                </a:cubicBezTo>
                <a:moveTo>
                  <a:pt x="7855" y="4320"/>
                </a:moveTo>
                <a:cubicBezTo>
                  <a:pt x="7990" y="4320"/>
                  <a:pt x="8113" y="4260"/>
                  <a:pt x="8202" y="4162"/>
                </a:cubicBezTo>
                <a:lnTo>
                  <a:pt x="10309" y="1844"/>
                </a:lnTo>
                <a:lnTo>
                  <a:pt x="10309" y="12420"/>
                </a:lnTo>
                <a:cubicBezTo>
                  <a:pt x="10309" y="12719"/>
                  <a:pt x="10529" y="12960"/>
                  <a:pt x="10800" y="12960"/>
                </a:cubicBezTo>
                <a:cubicBezTo>
                  <a:pt x="11071" y="12960"/>
                  <a:pt x="11291" y="12719"/>
                  <a:pt x="11291" y="12420"/>
                </a:cubicBezTo>
                <a:lnTo>
                  <a:pt x="11291" y="1844"/>
                </a:lnTo>
                <a:lnTo>
                  <a:pt x="13398" y="4162"/>
                </a:lnTo>
                <a:cubicBezTo>
                  <a:pt x="13487" y="4260"/>
                  <a:pt x="13610" y="4320"/>
                  <a:pt x="13745" y="4320"/>
                </a:cubicBezTo>
                <a:cubicBezTo>
                  <a:pt x="14017" y="4320"/>
                  <a:pt x="14236" y="4079"/>
                  <a:pt x="14236" y="3780"/>
                </a:cubicBezTo>
                <a:cubicBezTo>
                  <a:pt x="14236" y="3631"/>
                  <a:pt x="14181" y="3497"/>
                  <a:pt x="14093" y="3398"/>
                </a:cubicBezTo>
                <a:lnTo>
                  <a:pt x="11147" y="158"/>
                </a:lnTo>
                <a:cubicBezTo>
                  <a:pt x="11058" y="61"/>
                  <a:pt x="10936" y="0"/>
                  <a:pt x="10800" y="0"/>
                </a:cubicBezTo>
                <a:cubicBezTo>
                  <a:pt x="10664" y="0"/>
                  <a:pt x="10542" y="61"/>
                  <a:pt x="10453" y="158"/>
                </a:cubicBezTo>
                <a:lnTo>
                  <a:pt x="7507" y="3398"/>
                </a:lnTo>
                <a:cubicBezTo>
                  <a:pt x="7419" y="3497"/>
                  <a:pt x="7364" y="3631"/>
                  <a:pt x="7364" y="3780"/>
                </a:cubicBezTo>
                <a:cubicBezTo>
                  <a:pt x="7364" y="4079"/>
                  <a:pt x="7583" y="4320"/>
                  <a:pt x="7855" y="4320"/>
                </a:cubicBezTo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32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/>
          </a:p>
        </p:txBody>
      </p:sp>
      <p:sp>
        <p:nvSpPr>
          <p:cNvPr id="73" name="椭圆 72"/>
          <p:cNvSpPr/>
          <p:nvPr/>
        </p:nvSpPr>
        <p:spPr>
          <a:xfrm>
            <a:off x="598717" y="215506"/>
            <a:ext cx="1299101" cy="1299101"/>
          </a:xfrm>
          <a:prstGeom prst="ellipse">
            <a:avLst/>
          </a:prstGeom>
          <a:solidFill>
            <a:srgbClr val="F6E8E7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5" name="椭圆 74"/>
          <p:cNvSpPr/>
          <p:nvPr/>
        </p:nvSpPr>
        <p:spPr>
          <a:xfrm>
            <a:off x="401423" y="951826"/>
            <a:ext cx="524547" cy="524547"/>
          </a:xfrm>
          <a:prstGeom prst="ellipse">
            <a:avLst/>
          </a:prstGeom>
          <a:solidFill>
            <a:srgbClr val="EDD1CF"/>
          </a:solidFill>
          <a:ln>
            <a:noFill/>
          </a:ln>
          <a:effectLst>
            <a:reflection stA="40000" endPos="30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6" name="矩形 75"/>
          <p:cNvSpPr/>
          <p:nvPr/>
        </p:nvSpPr>
        <p:spPr>
          <a:xfrm>
            <a:off x="1289670" y="584937"/>
            <a:ext cx="3621504" cy="190821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</a:pPr>
            <a:r>
              <a:rPr lang="zh-TW" altLang="en-US" sz="3600" b="1" dirty="0">
                <a:solidFill>
                  <a:srgbClr val="523A2C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分析結果</a:t>
            </a:r>
            <a:r>
              <a:rPr lang="en-US" altLang="zh-TW" sz="3600" b="1" dirty="0">
                <a:solidFill>
                  <a:srgbClr val="523A2C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-</a:t>
            </a:r>
            <a:r>
              <a:rPr lang="zh-TW" altLang="en-US" sz="2800" dirty="0">
                <a:solidFill>
                  <a:srgbClr val="523A2C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觀察變數</a:t>
            </a:r>
            <a:endParaRPr lang="en-US" altLang="zh-TW" sz="3600" dirty="0">
              <a:solidFill>
                <a:srgbClr val="523A2C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  <a:p>
            <a:pPr>
              <a:spcBef>
                <a:spcPts val="600"/>
              </a:spcBef>
            </a:pPr>
            <a:endParaRPr lang="en-US" altLang="zh-TW" sz="3600" b="1" dirty="0">
              <a:solidFill>
                <a:srgbClr val="523A2C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  <a:p>
            <a:pPr>
              <a:spcBef>
                <a:spcPts val="600"/>
              </a:spcBef>
            </a:pPr>
            <a:endParaRPr lang="en-US" altLang="zh-CN" sz="3600" dirty="0">
              <a:solidFill>
                <a:srgbClr val="4F392B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pic>
        <p:nvPicPr>
          <p:cNvPr id="53" name="圖片 52">
            <a:extLst>
              <a:ext uri="{FF2B5EF4-FFF2-40B4-BE49-F238E27FC236}">
                <a16:creationId xmlns:a16="http://schemas.microsoft.com/office/drawing/2014/main" id="{443A542E-E1AA-471D-A4E8-EE5E5CC17DB2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rgbClr val="B07982">
                <a:shade val="45000"/>
                <a:satMod val="135000"/>
              </a:srgbClr>
              <a:prstClr val="white"/>
            </a:duotone>
          </a:blip>
          <a:stretch>
            <a:fillRect/>
          </a:stretch>
        </p:blipFill>
        <p:spPr>
          <a:xfrm>
            <a:off x="821781" y="1651729"/>
            <a:ext cx="5212577" cy="4990765"/>
          </a:xfrm>
          <a:prstGeom prst="rect">
            <a:avLst/>
          </a:prstGeom>
        </p:spPr>
      </p:pic>
      <p:sp>
        <p:nvSpPr>
          <p:cNvPr id="71" name="文字方塊 70">
            <a:extLst>
              <a:ext uri="{FF2B5EF4-FFF2-40B4-BE49-F238E27FC236}">
                <a16:creationId xmlns:a16="http://schemas.microsoft.com/office/drawing/2014/main" id="{BB5711CE-7BE6-4E30-B829-B69E56CA6BF0}"/>
              </a:ext>
            </a:extLst>
          </p:cNvPr>
          <p:cNvSpPr txBox="1"/>
          <p:nvPr/>
        </p:nvSpPr>
        <p:spPr>
          <a:xfrm>
            <a:off x="7554964" y="3046736"/>
            <a:ext cx="386935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人壽保險</a:t>
            </a:r>
            <a:r>
              <a:rPr lang="en-US" altLang="zh-TW" dirty="0">
                <a:latin typeface="华文细黑" panose="02010600040101010101" pitchFamily="2" charset="-122"/>
                <a:ea typeface="华文细黑" panose="02010600040101010101" pitchFamily="2" charset="-122"/>
              </a:rPr>
              <a:t>(</a:t>
            </a:r>
            <a:r>
              <a:rPr lang="zh-TW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提示卡</a:t>
            </a:r>
            <a:r>
              <a:rPr lang="en-US" altLang="zh-TW" dirty="0">
                <a:latin typeface="华文细黑" panose="02010600040101010101" pitchFamily="2" charset="-122"/>
                <a:ea typeface="华文细黑" panose="02010600040101010101" pitchFamily="2" charset="-122"/>
              </a:rPr>
              <a:t>)</a:t>
            </a:r>
            <a:r>
              <a:rPr lang="zh-TW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的標準差比其他的變數還大，離散程度較大，且平均值較大</a:t>
            </a:r>
          </a:p>
        </p:txBody>
      </p:sp>
    </p:spTree>
    <p:extLst>
      <p:ext uri="{BB962C8B-B14F-4D97-AF65-F5344CB8AC3E}">
        <p14:creationId xmlns:p14="http://schemas.microsoft.com/office/powerpoint/2010/main" val="24684638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1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 tmFilter="0,0; .5, 1; 1, 1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" grpId="0" animBg="1"/>
      <p:bldP spid="75" grpId="0" animBg="1"/>
      <p:bldP spid="7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ight Triangle 2"/>
          <p:cNvSpPr/>
          <p:nvPr/>
        </p:nvSpPr>
        <p:spPr>
          <a:xfrm>
            <a:off x="1588" y="3508401"/>
            <a:ext cx="6255834" cy="3356517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solidFill>
                <a:schemeClr val="bg1">
                  <a:lumMod val="95000"/>
                </a:schemeClr>
              </a:solidFill>
              <a:latin typeface="Montserrat" charset="0"/>
              <a:ea typeface="Montserrat" charset="0"/>
              <a:cs typeface="Montserrat" charset="0"/>
            </a:endParaRPr>
          </a:p>
        </p:txBody>
      </p:sp>
      <p:sp>
        <p:nvSpPr>
          <p:cNvPr id="27" name="Oval 26"/>
          <p:cNvSpPr/>
          <p:nvPr/>
        </p:nvSpPr>
        <p:spPr>
          <a:xfrm>
            <a:off x="7089776" y="2617858"/>
            <a:ext cx="561144" cy="561144"/>
          </a:xfrm>
          <a:prstGeom prst="ellipse">
            <a:avLst/>
          </a:prstGeom>
          <a:solidFill>
            <a:srgbClr val="EDD1CF"/>
          </a:solidFill>
          <a:ln>
            <a:noFill/>
          </a:ln>
          <a:effectLst>
            <a:reflection stA="40000" endPos="30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Shape 2629"/>
          <p:cNvSpPr/>
          <p:nvPr/>
        </p:nvSpPr>
        <p:spPr>
          <a:xfrm>
            <a:off x="6810371" y="3356946"/>
            <a:ext cx="279405" cy="279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441" y="20618"/>
                </a:moveTo>
                <a:cubicBezTo>
                  <a:pt x="15826" y="20618"/>
                  <a:pt x="15226" y="20482"/>
                  <a:pt x="14660" y="20214"/>
                </a:cubicBezTo>
                <a:cubicBezTo>
                  <a:pt x="14607" y="20189"/>
                  <a:pt x="14552" y="20170"/>
                  <a:pt x="14497" y="20155"/>
                </a:cubicBezTo>
                <a:cubicBezTo>
                  <a:pt x="8918" y="17308"/>
                  <a:pt x="4295" y="12685"/>
                  <a:pt x="1448" y="7105"/>
                </a:cubicBezTo>
                <a:cubicBezTo>
                  <a:pt x="1432" y="7048"/>
                  <a:pt x="1412" y="6991"/>
                  <a:pt x="1386" y="6936"/>
                </a:cubicBezTo>
                <a:cubicBezTo>
                  <a:pt x="1117" y="6369"/>
                  <a:pt x="982" y="5770"/>
                  <a:pt x="982" y="5155"/>
                </a:cubicBezTo>
                <a:cubicBezTo>
                  <a:pt x="982" y="2774"/>
                  <a:pt x="3066" y="982"/>
                  <a:pt x="4417" y="982"/>
                </a:cubicBezTo>
                <a:cubicBezTo>
                  <a:pt x="4594" y="982"/>
                  <a:pt x="4711" y="1072"/>
                  <a:pt x="4764" y="1126"/>
                </a:cubicBezTo>
                <a:cubicBezTo>
                  <a:pt x="4776" y="1139"/>
                  <a:pt x="4798" y="1164"/>
                  <a:pt x="4831" y="1216"/>
                </a:cubicBezTo>
                <a:cubicBezTo>
                  <a:pt x="4848" y="1244"/>
                  <a:pt x="4867" y="1271"/>
                  <a:pt x="4887" y="1297"/>
                </a:cubicBezTo>
                <a:lnTo>
                  <a:pt x="8118" y="5453"/>
                </a:lnTo>
                <a:cubicBezTo>
                  <a:pt x="8143" y="5485"/>
                  <a:pt x="8170" y="5515"/>
                  <a:pt x="8199" y="5544"/>
                </a:cubicBezTo>
                <a:cubicBezTo>
                  <a:pt x="8253" y="5598"/>
                  <a:pt x="8343" y="5715"/>
                  <a:pt x="8343" y="5891"/>
                </a:cubicBezTo>
                <a:cubicBezTo>
                  <a:pt x="8343" y="5978"/>
                  <a:pt x="8319" y="6060"/>
                  <a:pt x="8272" y="6135"/>
                </a:cubicBezTo>
                <a:lnTo>
                  <a:pt x="7178" y="7221"/>
                </a:lnTo>
                <a:cubicBezTo>
                  <a:pt x="7173" y="7226"/>
                  <a:pt x="7168" y="7231"/>
                  <a:pt x="7163" y="7236"/>
                </a:cubicBezTo>
                <a:cubicBezTo>
                  <a:pt x="6767" y="7609"/>
                  <a:pt x="6541" y="8126"/>
                  <a:pt x="6541" y="8668"/>
                </a:cubicBezTo>
                <a:cubicBezTo>
                  <a:pt x="6541" y="9175"/>
                  <a:pt x="6738" y="9658"/>
                  <a:pt x="7080" y="10020"/>
                </a:cubicBezTo>
                <a:cubicBezTo>
                  <a:pt x="7092" y="10040"/>
                  <a:pt x="7105" y="10059"/>
                  <a:pt x="7119" y="10078"/>
                </a:cubicBezTo>
                <a:cubicBezTo>
                  <a:pt x="8325" y="11745"/>
                  <a:pt x="9807" y="13222"/>
                  <a:pt x="11525" y="14469"/>
                </a:cubicBezTo>
                <a:cubicBezTo>
                  <a:pt x="11538" y="14478"/>
                  <a:pt x="11551" y="14487"/>
                  <a:pt x="11565" y="14496"/>
                </a:cubicBezTo>
                <a:cubicBezTo>
                  <a:pt x="11928" y="14844"/>
                  <a:pt x="12414" y="15045"/>
                  <a:pt x="12924" y="15045"/>
                </a:cubicBezTo>
                <a:cubicBezTo>
                  <a:pt x="13436" y="15045"/>
                  <a:pt x="13930" y="14840"/>
                  <a:pt x="14297" y="14479"/>
                </a:cubicBezTo>
                <a:cubicBezTo>
                  <a:pt x="14316" y="14463"/>
                  <a:pt x="14335" y="14446"/>
                  <a:pt x="14352" y="14427"/>
                </a:cubicBezTo>
                <a:lnTo>
                  <a:pt x="15451" y="13320"/>
                </a:lnTo>
                <a:cubicBezTo>
                  <a:pt x="15529" y="13271"/>
                  <a:pt x="15611" y="13247"/>
                  <a:pt x="15697" y="13247"/>
                </a:cubicBezTo>
                <a:cubicBezTo>
                  <a:pt x="15874" y="13247"/>
                  <a:pt x="15990" y="13337"/>
                  <a:pt x="16044" y="13391"/>
                </a:cubicBezTo>
                <a:cubicBezTo>
                  <a:pt x="16073" y="13420"/>
                  <a:pt x="16103" y="13447"/>
                  <a:pt x="16135" y="13472"/>
                </a:cubicBezTo>
                <a:lnTo>
                  <a:pt x="20291" y="16704"/>
                </a:lnTo>
                <a:cubicBezTo>
                  <a:pt x="20317" y="16725"/>
                  <a:pt x="20345" y="16744"/>
                  <a:pt x="20374" y="16762"/>
                </a:cubicBezTo>
                <a:cubicBezTo>
                  <a:pt x="20426" y="16795"/>
                  <a:pt x="20449" y="16816"/>
                  <a:pt x="20461" y="16827"/>
                </a:cubicBezTo>
                <a:cubicBezTo>
                  <a:pt x="20515" y="16881"/>
                  <a:pt x="20605" y="16997"/>
                  <a:pt x="20605" y="17174"/>
                </a:cubicBezTo>
                <a:cubicBezTo>
                  <a:pt x="20605" y="17207"/>
                  <a:pt x="20606" y="17240"/>
                  <a:pt x="20610" y="17273"/>
                </a:cubicBezTo>
                <a:cubicBezTo>
                  <a:pt x="20533" y="18625"/>
                  <a:pt x="18769" y="20618"/>
                  <a:pt x="16441" y="20618"/>
                </a:cubicBezTo>
                <a:moveTo>
                  <a:pt x="21586" y="17174"/>
                </a:moveTo>
                <a:cubicBezTo>
                  <a:pt x="21586" y="16768"/>
                  <a:pt x="21421" y="16399"/>
                  <a:pt x="21155" y="16133"/>
                </a:cubicBezTo>
                <a:cubicBezTo>
                  <a:pt x="21077" y="16054"/>
                  <a:pt x="20988" y="15988"/>
                  <a:pt x="20893" y="15929"/>
                </a:cubicBezTo>
                <a:lnTo>
                  <a:pt x="16738" y="12697"/>
                </a:lnTo>
                <a:cubicBezTo>
                  <a:pt x="16471" y="12430"/>
                  <a:pt x="16104" y="12265"/>
                  <a:pt x="15697" y="12265"/>
                </a:cubicBezTo>
                <a:cubicBezTo>
                  <a:pt x="15364" y="12265"/>
                  <a:pt x="15060" y="12380"/>
                  <a:pt x="14815" y="12567"/>
                </a:cubicBezTo>
                <a:lnTo>
                  <a:pt x="13655" y="13736"/>
                </a:lnTo>
                <a:lnTo>
                  <a:pt x="13652" y="13733"/>
                </a:lnTo>
                <a:cubicBezTo>
                  <a:pt x="13473" y="13934"/>
                  <a:pt x="13214" y="14063"/>
                  <a:pt x="12924" y="14063"/>
                </a:cubicBezTo>
                <a:cubicBezTo>
                  <a:pt x="12592" y="14063"/>
                  <a:pt x="12300" y="13897"/>
                  <a:pt x="12122" y="13645"/>
                </a:cubicBezTo>
                <a:cubicBezTo>
                  <a:pt x="12116" y="13654"/>
                  <a:pt x="12107" y="13663"/>
                  <a:pt x="12101" y="13674"/>
                </a:cubicBezTo>
                <a:cubicBezTo>
                  <a:pt x="10497" y="12510"/>
                  <a:pt x="9076" y="11108"/>
                  <a:pt x="7914" y="9502"/>
                </a:cubicBezTo>
                <a:cubicBezTo>
                  <a:pt x="7925" y="9495"/>
                  <a:pt x="7935" y="9486"/>
                  <a:pt x="7947" y="9479"/>
                </a:cubicBezTo>
                <a:cubicBezTo>
                  <a:pt x="7691" y="9299"/>
                  <a:pt x="7523" y="9004"/>
                  <a:pt x="7523" y="8668"/>
                </a:cubicBezTo>
                <a:cubicBezTo>
                  <a:pt x="7523" y="8367"/>
                  <a:pt x="7659" y="8101"/>
                  <a:pt x="7871" y="7920"/>
                </a:cubicBezTo>
                <a:lnTo>
                  <a:pt x="7870" y="7918"/>
                </a:lnTo>
                <a:lnTo>
                  <a:pt x="9023" y="6773"/>
                </a:lnTo>
                <a:cubicBezTo>
                  <a:pt x="9211" y="6528"/>
                  <a:pt x="9325" y="6224"/>
                  <a:pt x="9325" y="5891"/>
                </a:cubicBezTo>
                <a:cubicBezTo>
                  <a:pt x="9325" y="5485"/>
                  <a:pt x="9160" y="5116"/>
                  <a:pt x="8893" y="4850"/>
                </a:cubicBezTo>
                <a:lnTo>
                  <a:pt x="5662" y="693"/>
                </a:lnTo>
                <a:cubicBezTo>
                  <a:pt x="5603" y="599"/>
                  <a:pt x="5537" y="510"/>
                  <a:pt x="5458" y="432"/>
                </a:cubicBezTo>
                <a:cubicBezTo>
                  <a:pt x="5191" y="165"/>
                  <a:pt x="4823" y="0"/>
                  <a:pt x="4417" y="0"/>
                </a:cubicBezTo>
                <a:cubicBezTo>
                  <a:pt x="2454" y="0"/>
                  <a:pt x="0" y="2308"/>
                  <a:pt x="0" y="5155"/>
                </a:cubicBezTo>
                <a:cubicBezTo>
                  <a:pt x="0" y="5943"/>
                  <a:pt x="183" y="6688"/>
                  <a:pt x="499" y="7356"/>
                </a:cubicBezTo>
                <a:lnTo>
                  <a:pt x="482" y="7373"/>
                </a:lnTo>
                <a:cubicBezTo>
                  <a:pt x="3435" y="13255"/>
                  <a:pt x="8343" y="18164"/>
                  <a:pt x="14224" y="21117"/>
                </a:cubicBezTo>
                <a:lnTo>
                  <a:pt x="14240" y="21101"/>
                </a:lnTo>
                <a:cubicBezTo>
                  <a:pt x="14908" y="21418"/>
                  <a:pt x="15652" y="21600"/>
                  <a:pt x="16441" y="21600"/>
                </a:cubicBezTo>
                <a:cubicBezTo>
                  <a:pt x="19287" y="21600"/>
                  <a:pt x="21594" y="19145"/>
                  <a:pt x="21594" y="17182"/>
                </a:cubicBezTo>
                <a:cubicBezTo>
                  <a:pt x="21594" y="17179"/>
                  <a:pt x="21594" y="17177"/>
                  <a:pt x="21594" y="17174"/>
                </a:cubicBezTo>
                <a:cubicBezTo>
                  <a:pt x="21594" y="17174"/>
                  <a:pt x="21586" y="17174"/>
                  <a:pt x="21586" y="17174"/>
                </a:cubicBezTo>
                <a:close/>
                <a:moveTo>
                  <a:pt x="11785" y="10800"/>
                </a:moveTo>
                <a:cubicBezTo>
                  <a:pt x="12326" y="10800"/>
                  <a:pt x="12766" y="10360"/>
                  <a:pt x="12766" y="9819"/>
                </a:cubicBezTo>
                <a:cubicBezTo>
                  <a:pt x="12766" y="9276"/>
                  <a:pt x="12326" y="8836"/>
                  <a:pt x="11785" y="8836"/>
                </a:cubicBezTo>
                <a:cubicBezTo>
                  <a:pt x="11242" y="8836"/>
                  <a:pt x="10803" y="9276"/>
                  <a:pt x="10803" y="9819"/>
                </a:cubicBezTo>
                <a:cubicBezTo>
                  <a:pt x="10803" y="10360"/>
                  <a:pt x="11242" y="10800"/>
                  <a:pt x="11785" y="10800"/>
                </a:cubicBezTo>
                <a:moveTo>
                  <a:pt x="11785" y="5891"/>
                </a:moveTo>
                <a:cubicBezTo>
                  <a:pt x="13953" y="5891"/>
                  <a:pt x="15711" y="7649"/>
                  <a:pt x="15711" y="9819"/>
                </a:cubicBezTo>
                <a:cubicBezTo>
                  <a:pt x="15711" y="10090"/>
                  <a:pt x="15930" y="10309"/>
                  <a:pt x="16201" y="10309"/>
                </a:cubicBezTo>
                <a:cubicBezTo>
                  <a:pt x="16472" y="10309"/>
                  <a:pt x="16692" y="10090"/>
                  <a:pt x="16692" y="9819"/>
                </a:cubicBezTo>
                <a:cubicBezTo>
                  <a:pt x="16692" y="7107"/>
                  <a:pt x="14495" y="4909"/>
                  <a:pt x="11785" y="4909"/>
                </a:cubicBezTo>
                <a:cubicBezTo>
                  <a:pt x="11513" y="4909"/>
                  <a:pt x="11294" y="5129"/>
                  <a:pt x="11294" y="5400"/>
                </a:cubicBezTo>
                <a:cubicBezTo>
                  <a:pt x="11294" y="5672"/>
                  <a:pt x="11513" y="5891"/>
                  <a:pt x="11785" y="5891"/>
                </a:cubicBezTo>
                <a:moveTo>
                  <a:pt x="11785" y="982"/>
                </a:moveTo>
                <a:cubicBezTo>
                  <a:pt x="16663" y="982"/>
                  <a:pt x="20618" y="4939"/>
                  <a:pt x="20618" y="9819"/>
                </a:cubicBezTo>
                <a:cubicBezTo>
                  <a:pt x="20618" y="10090"/>
                  <a:pt x="20838" y="10309"/>
                  <a:pt x="21109" y="10309"/>
                </a:cubicBezTo>
                <a:cubicBezTo>
                  <a:pt x="21380" y="10309"/>
                  <a:pt x="21600" y="10090"/>
                  <a:pt x="21600" y="9819"/>
                </a:cubicBezTo>
                <a:cubicBezTo>
                  <a:pt x="21600" y="4396"/>
                  <a:pt x="17206" y="0"/>
                  <a:pt x="11785" y="0"/>
                </a:cubicBezTo>
                <a:cubicBezTo>
                  <a:pt x="11513" y="0"/>
                  <a:pt x="11294" y="220"/>
                  <a:pt x="11294" y="491"/>
                </a:cubicBezTo>
                <a:cubicBezTo>
                  <a:pt x="11294" y="762"/>
                  <a:pt x="11513" y="982"/>
                  <a:pt x="11785" y="982"/>
                </a:cubicBezTo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32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/>
          </a:p>
        </p:txBody>
      </p:sp>
      <p:sp>
        <p:nvSpPr>
          <p:cNvPr id="32" name="Shape 2840"/>
          <p:cNvSpPr/>
          <p:nvPr/>
        </p:nvSpPr>
        <p:spPr>
          <a:xfrm>
            <a:off x="7230684" y="2771463"/>
            <a:ext cx="279328" cy="25393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20520"/>
                </a:moveTo>
                <a:lnTo>
                  <a:pt x="982" y="20520"/>
                </a:lnTo>
                <a:lnTo>
                  <a:pt x="982" y="14040"/>
                </a:lnTo>
                <a:lnTo>
                  <a:pt x="6907" y="14040"/>
                </a:lnTo>
                <a:cubicBezTo>
                  <a:pt x="7149" y="16170"/>
                  <a:pt x="8798" y="17820"/>
                  <a:pt x="10800" y="17820"/>
                </a:cubicBezTo>
                <a:cubicBezTo>
                  <a:pt x="12802" y="17820"/>
                  <a:pt x="14451" y="16170"/>
                  <a:pt x="14693" y="14040"/>
                </a:cubicBezTo>
                <a:lnTo>
                  <a:pt x="20618" y="14040"/>
                </a:lnTo>
                <a:cubicBezTo>
                  <a:pt x="20618" y="14040"/>
                  <a:pt x="20618" y="20520"/>
                  <a:pt x="20618" y="20520"/>
                </a:cubicBezTo>
                <a:close/>
                <a:moveTo>
                  <a:pt x="21544" y="13261"/>
                </a:moveTo>
                <a:lnTo>
                  <a:pt x="21548" y="13259"/>
                </a:lnTo>
                <a:lnTo>
                  <a:pt x="16639" y="2459"/>
                </a:lnTo>
                <a:lnTo>
                  <a:pt x="16635" y="2461"/>
                </a:lnTo>
                <a:cubicBezTo>
                  <a:pt x="16554" y="2284"/>
                  <a:pt x="16392" y="2160"/>
                  <a:pt x="16200" y="2160"/>
                </a:cubicBezTo>
                <a:lnTo>
                  <a:pt x="15709" y="2160"/>
                </a:lnTo>
                <a:cubicBezTo>
                  <a:pt x="15438" y="2160"/>
                  <a:pt x="15218" y="2402"/>
                  <a:pt x="15218" y="2700"/>
                </a:cubicBezTo>
                <a:cubicBezTo>
                  <a:pt x="15218" y="2999"/>
                  <a:pt x="15438" y="3240"/>
                  <a:pt x="15709" y="3240"/>
                </a:cubicBezTo>
                <a:lnTo>
                  <a:pt x="15897" y="3240"/>
                </a:lnTo>
                <a:lnTo>
                  <a:pt x="20315" y="12960"/>
                </a:lnTo>
                <a:lnTo>
                  <a:pt x="14236" y="12960"/>
                </a:lnTo>
                <a:cubicBezTo>
                  <a:pt x="13965" y="12960"/>
                  <a:pt x="13745" y="13202"/>
                  <a:pt x="13745" y="13500"/>
                </a:cubicBezTo>
                <a:cubicBezTo>
                  <a:pt x="13745" y="15290"/>
                  <a:pt x="12426" y="16740"/>
                  <a:pt x="10800" y="16740"/>
                </a:cubicBezTo>
                <a:cubicBezTo>
                  <a:pt x="9173" y="16740"/>
                  <a:pt x="7855" y="15290"/>
                  <a:pt x="7855" y="13500"/>
                </a:cubicBezTo>
                <a:cubicBezTo>
                  <a:pt x="7855" y="13202"/>
                  <a:pt x="7635" y="12960"/>
                  <a:pt x="7364" y="12960"/>
                </a:cubicBezTo>
                <a:lnTo>
                  <a:pt x="1285" y="12960"/>
                </a:lnTo>
                <a:lnTo>
                  <a:pt x="5703" y="3240"/>
                </a:lnTo>
                <a:lnTo>
                  <a:pt x="5891" y="3240"/>
                </a:lnTo>
                <a:cubicBezTo>
                  <a:pt x="6162" y="3240"/>
                  <a:pt x="6382" y="2999"/>
                  <a:pt x="6382" y="2700"/>
                </a:cubicBezTo>
                <a:cubicBezTo>
                  <a:pt x="6382" y="2402"/>
                  <a:pt x="6162" y="2160"/>
                  <a:pt x="5891" y="2160"/>
                </a:cubicBezTo>
                <a:lnTo>
                  <a:pt x="5400" y="2160"/>
                </a:lnTo>
                <a:cubicBezTo>
                  <a:pt x="5208" y="2160"/>
                  <a:pt x="5046" y="2284"/>
                  <a:pt x="4966" y="2461"/>
                </a:cubicBezTo>
                <a:lnTo>
                  <a:pt x="4961" y="2459"/>
                </a:lnTo>
                <a:lnTo>
                  <a:pt x="52" y="13259"/>
                </a:lnTo>
                <a:lnTo>
                  <a:pt x="57" y="13261"/>
                </a:lnTo>
                <a:cubicBezTo>
                  <a:pt x="23" y="13334"/>
                  <a:pt x="0" y="13413"/>
                  <a:pt x="0" y="13500"/>
                </a:cubicBezTo>
                <a:lnTo>
                  <a:pt x="0" y="21060"/>
                </a:lnTo>
                <a:cubicBezTo>
                  <a:pt x="0" y="21359"/>
                  <a:pt x="220" y="21600"/>
                  <a:pt x="491" y="21600"/>
                </a:cubicBezTo>
                <a:lnTo>
                  <a:pt x="21109" y="21600"/>
                </a:lnTo>
                <a:cubicBezTo>
                  <a:pt x="21380" y="21600"/>
                  <a:pt x="21600" y="21359"/>
                  <a:pt x="21600" y="21060"/>
                </a:cubicBezTo>
                <a:lnTo>
                  <a:pt x="21600" y="13500"/>
                </a:lnTo>
                <a:cubicBezTo>
                  <a:pt x="21600" y="13413"/>
                  <a:pt x="21577" y="13334"/>
                  <a:pt x="21544" y="13261"/>
                </a:cubicBezTo>
                <a:moveTo>
                  <a:pt x="7855" y="4320"/>
                </a:moveTo>
                <a:cubicBezTo>
                  <a:pt x="7990" y="4320"/>
                  <a:pt x="8113" y="4260"/>
                  <a:pt x="8202" y="4162"/>
                </a:cubicBezTo>
                <a:lnTo>
                  <a:pt x="10309" y="1844"/>
                </a:lnTo>
                <a:lnTo>
                  <a:pt x="10309" y="12420"/>
                </a:lnTo>
                <a:cubicBezTo>
                  <a:pt x="10309" y="12719"/>
                  <a:pt x="10529" y="12960"/>
                  <a:pt x="10800" y="12960"/>
                </a:cubicBezTo>
                <a:cubicBezTo>
                  <a:pt x="11071" y="12960"/>
                  <a:pt x="11291" y="12719"/>
                  <a:pt x="11291" y="12420"/>
                </a:cubicBezTo>
                <a:lnTo>
                  <a:pt x="11291" y="1844"/>
                </a:lnTo>
                <a:lnTo>
                  <a:pt x="13398" y="4162"/>
                </a:lnTo>
                <a:cubicBezTo>
                  <a:pt x="13487" y="4260"/>
                  <a:pt x="13610" y="4320"/>
                  <a:pt x="13745" y="4320"/>
                </a:cubicBezTo>
                <a:cubicBezTo>
                  <a:pt x="14017" y="4320"/>
                  <a:pt x="14236" y="4079"/>
                  <a:pt x="14236" y="3780"/>
                </a:cubicBezTo>
                <a:cubicBezTo>
                  <a:pt x="14236" y="3631"/>
                  <a:pt x="14181" y="3497"/>
                  <a:pt x="14093" y="3398"/>
                </a:cubicBezTo>
                <a:lnTo>
                  <a:pt x="11147" y="158"/>
                </a:lnTo>
                <a:cubicBezTo>
                  <a:pt x="11058" y="61"/>
                  <a:pt x="10936" y="0"/>
                  <a:pt x="10800" y="0"/>
                </a:cubicBezTo>
                <a:cubicBezTo>
                  <a:pt x="10664" y="0"/>
                  <a:pt x="10542" y="61"/>
                  <a:pt x="10453" y="158"/>
                </a:cubicBezTo>
                <a:lnTo>
                  <a:pt x="7507" y="3398"/>
                </a:lnTo>
                <a:cubicBezTo>
                  <a:pt x="7419" y="3497"/>
                  <a:pt x="7364" y="3631"/>
                  <a:pt x="7364" y="3780"/>
                </a:cubicBezTo>
                <a:cubicBezTo>
                  <a:pt x="7364" y="4079"/>
                  <a:pt x="7583" y="4320"/>
                  <a:pt x="7855" y="4320"/>
                </a:cubicBezTo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32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/>
          </a:p>
        </p:txBody>
      </p:sp>
      <p:pic>
        <p:nvPicPr>
          <p:cNvPr id="13" name="圖片 12">
            <a:extLst>
              <a:ext uri="{FF2B5EF4-FFF2-40B4-BE49-F238E27FC236}">
                <a16:creationId xmlns:a16="http://schemas.microsoft.com/office/drawing/2014/main" id="{07098BF9-0A3E-4662-BB51-CD8FBA0C827E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90887" y="1610077"/>
            <a:ext cx="6073826" cy="4818255"/>
          </a:xfrm>
          <a:prstGeom prst="rect">
            <a:avLst/>
          </a:prstGeom>
        </p:spPr>
      </p:pic>
      <p:sp>
        <p:nvSpPr>
          <p:cNvPr id="19" name="椭圆 72">
            <a:extLst>
              <a:ext uri="{FF2B5EF4-FFF2-40B4-BE49-F238E27FC236}">
                <a16:creationId xmlns:a16="http://schemas.microsoft.com/office/drawing/2014/main" id="{B3288498-1003-4A9E-82CD-1EC1C380622A}"/>
              </a:ext>
            </a:extLst>
          </p:cNvPr>
          <p:cNvSpPr/>
          <p:nvPr/>
        </p:nvSpPr>
        <p:spPr>
          <a:xfrm>
            <a:off x="598717" y="215506"/>
            <a:ext cx="1299101" cy="1299101"/>
          </a:xfrm>
          <a:prstGeom prst="ellipse">
            <a:avLst/>
          </a:prstGeom>
          <a:solidFill>
            <a:srgbClr val="F6E8E7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椭圆 74">
            <a:extLst>
              <a:ext uri="{FF2B5EF4-FFF2-40B4-BE49-F238E27FC236}">
                <a16:creationId xmlns:a16="http://schemas.microsoft.com/office/drawing/2014/main" id="{E2BC7E5C-768F-4C65-8ABB-68C3D2B28A31}"/>
              </a:ext>
            </a:extLst>
          </p:cNvPr>
          <p:cNvSpPr/>
          <p:nvPr/>
        </p:nvSpPr>
        <p:spPr>
          <a:xfrm>
            <a:off x="401423" y="951826"/>
            <a:ext cx="524547" cy="524547"/>
          </a:xfrm>
          <a:prstGeom prst="ellipse">
            <a:avLst/>
          </a:prstGeom>
          <a:solidFill>
            <a:srgbClr val="EDD1CF"/>
          </a:solidFill>
          <a:ln>
            <a:noFill/>
          </a:ln>
          <a:effectLst>
            <a:reflection stA="40000" endPos="30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9F8EA544-0983-4D16-8E73-59A71DE1B8C0}"/>
              </a:ext>
            </a:extLst>
          </p:cNvPr>
          <p:cNvSpPr/>
          <p:nvPr/>
        </p:nvSpPr>
        <p:spPr>
          <a:xfrm>
            <a:off x="1289670" y="584937"/>
            <a:ext cx="362150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</a:pPr>
            <a:r>
              <a:rPr lang="zh-TW" altLang="en-US" sz="3600" b="1" dirty="0">
                <a:solidFill>
                  <a:srgbClr val="523A2C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分析結果</a:t>
            </a:r>
            <a:r>
              <a:rPr lang="en-US" altLang="zh-TW" sz="3600" b="1" dirty="0">
                <a:solidFill>
                  <a:srgbClr val="523A2C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-</a:t>
            </a:r>
            <a:r>
              <a:rPr lang="zh-TW" altLang="en-US" sz="2800" dirty="0">
                <a:solidFill>
                  <a:srgbClr val="523A2C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觀察變數</a:t>
            </a:r>
            <a:endParaRPr lang="en-US" altLang="zh-TW" sz="3600" dirty="0">
              <a:solidFill>
                <a:srgbClr val="523A2C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23" name="Oval 26">
            <a:extLst>
              <a:ext uri="{FF2B5EF4-FFF2-40B4-BE49-F238E27FC236}">
                <a16:creationId xmlns:a16="http://schemas.microsoft.com/office/drawing/2014/main" id="{E33E1C36-3E07-4DD8-BFDD-7795F7D43229}"/>
              </a:ext>
            </a:extLst>
          </p:cNvPr>
          <p:cNvSpPr/>
          <p:nvPr/>
        </p:nvSpPr>
        <p:spPr>
          <a:xfrm>
            <a:off x="7089776" y="4303783"/>
            <a:ext cx="561144" cy="561144"/>
          </a:xfrm>
          <a:prstGeom prst="ellipse">
            <a:avLst/>
          </a:prstGeom>
          <a:solidFill>
            <a:srgbClr val="EDD1CF"/>
          </a:solidFill>
          <a:ln>
            <a:noFill/>
          </a:ln>
          <a:effectLst>
            <a:reflection stA="40000" endPos="30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Shape 2840">
            <a:extLst>
              <a:ext uri="{FF2B5EF4-FFF2-40B4-BE49-F238E27FC236}">
                <a16:creationId xmlns:a16="http://schemas.microsoft.com/office/drawing/2014/main" id="{789D7257-05DB-4824-A12B-57DC89A28ABB}"/>
              </a:ext>
            </a:extLst>
          </p:cNvPr>
          <p:cNvSpPr/>
          <p:nvPr/>
        </p:nvSpPr>
        <p:spPr>
          <a:xfrm>
            <a:off x="7230684" y="4457388"/>
            <a:ext cx="279328" cy="25393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20520"/>
                </a:moveTo>
                <a:lnTo>
                  <a:pt x="982" y="20520"/>
                </a:lnTo>
                <a:lnTo>
                  <a:pt x="982" y="14040"/>
                </a:lnTo>
                <a:lnTo>
                  <a:pt x="6907" y="14040"/>
                </a:lnTo>
                <a:cubicBezTo>
                  <a:pt x="7149" y="16170"/>
                  <a:pt x="8798" y="17820"/>
                  <a:pt x="10800" y="17820"/>
                </a:cubicBezTo>
                <a:cubicBezTo>
                  <a:pt x="12802" y="17820"/>
                  <a:pt x="14451" y="16170"/>
                  <a:pt x="14693" y="14040"/>
                </a:cubicBezTo>
                <a:lnTo>
                  <a:pt x="20618" y="14040"/>
                </a:lnTo>
                <a:cubicBezTo>
                  <a:pt x="20618" y="14040"/>
                  <a:pt x="20618" y="20520"/>
                  <a:pt x="20618" y="20520"/>
                </a:cubicBezTo>
                <a:close/>
                <a:moveTo>
                  <a:pt x="21544" y="13261"/>
                </a:moveTo>
                <a:lnTo>
                  <a:pt x="21548" y="13259"/>
                </a:lnTo>
                <a:lnTo>
                  <a:pt x="16639" y="2459"/>
                </a:lnTo>
                <a:lnTo>
                  <a:pt x="16635" y="2461"/>
                </a:lnTo>
                <a:cubicBezTo>
                  <a:pt x="16554" y="2284"/>
                  <a:pt x="16392" y="2160"/>
                  <a:pt x="16200" y="2160"/>
                </a:cubicBezTo>
                <a:lnTo>
                  <a:pt x="15709" y="2160"/>
                </a:lnTo>
                <a:cubicBezTo>
                  <a:pt x="15438" y="2160"/>
                  <a:pt x="15218" y="2402"/>
                  <a:pt x="15218" y="2700"/>
                </a:cubicBezTo>
                <a:cubicBezTo>
                  <a:pt x="15218" y="2999"/>
                  <a:pt x="15438" y="3240"/>
                  <a:pt x="15709" y="3240"/>
                </a:cubicBezTo>
                <a:lnTo>
                  <a:pt x="15897" y="3240"/>
                </a:lnTo>
                <a:lnTo>
                  <a:pt x="20315" y="12960"/>
                </a:lnTo>
                <a:lnTo>
                  <a:pt x="14236" y="12960"/>
                </a:lnTo>
                <a:cubicBezTo>
                  <a:pt x="13965" y="12960"/>
                  <a:pt x="13745" y="13202"/>
                  <a:pt x="13745" y="13500"/>
                </a:cubicBezTo>
                <a:cubicBezTo>
                  <a:pt x="13745" y="15290"/>
                  <a:pt x="12426" y="16740"/>
                  <a:pt x="10800" y="16740"/>
                </a:cubicBezTo>
                <a:cubicBezTo>
                  <a:pt x="9173" y="16740"/>
                  <a:pt x="7855" y="15290"/>
                  <a:pt x="7855" y="13500"/>
                </a:cubicBezTo>
                <a:cubicBezTo>
                  <a:pt x="7855" y="13202"/>
                  <a:pt x="7635" y="12960"/>
                  <a:pt x="7364" y="12960"/>
                </a:cubicBezTo>
                <a:lnTo>
                  <a:pt x="1285" y="12960"/>
                </a:lnTo>
                <a:lnTo>
                  <a:pt x="5703" y="3240"/>
                </a:lnTo>
                <a:lnTo>
                  <a:pt x="5891" y="3240"/>
                </a:lnTo>
                <a:cubicBezTo>
                  <a:pt x="6162" y="3240"/>
                  <a:pt x="6382" y="2999"/>
                  <a:pt x="6382" y="2700"/>
                </a:cubicBezTo>
                <a:cubicBezTo>
                  <a:pt x="6382" y="2402"/>
                  <a:pt x="6162" y="2160"/>
                  <a:pt x="5891" y="2160"/>
                </a:cubicBezTo>
                <a:lnTo>
                  <a:pt x="5400" y="2160"/>
                </a:lnTo>
                <a:cubicBezTo>
                  <a:pt x="5208" y="2160"/>
                  <a:pt x="5046" y="2284"/>
                  <a:pt x="4966" y="2461"/>
                </a:cubicBezTo>
                <a:lnTo>
                  <a:pt x="4961" y="2459"/>
                </a:lnTo>
                <a:lnTo>
                  <a:pt x="52" y="13259"/>
                </a:lnTo>
                <a:lnTo>
                  <a:pt x="57" y="13261"/>
                </a:lnTo>
                <a:cubicBezTo>
                  <a:pt x="23" y="13334"/>
                  <a:pt x="0" y="13413"/>
                  <a:pt x="0" y="13500"/>
                </a:cubicBezTo>
                <a:lnTo>
                  <a:pt x="0" y="21060"/>
                </a:lnTo>
                <a:cubicBezTo>
                  <a:pt x="0" y="21359"/>
                  <a:pt x="220" y="21600"/>
                  <a:pt x="491" y="21600"/>
                </a:cubicBezTo>
                <a:lnTo>
                  <a:pt x="21109" y="21600"/>
                </a:lnTo>
                <a:cubicBezTo>
                  <a:pt x="21380" y="21600"/>
                  <a:pt x="21600" y="21359"/>
                  <a:pt x="21600" y="21060"/>
                </a:cubicBezTo>
                <a:lnTo>
                  <a:pt x="21600" y="13500"/>
                </a:lnTo>
                <a:cubicBezTo>
                  <a:pt x="21600" y="13413"/>
                  <a:pt x="21577" y="13334"/>
                  <a:pt x="21544" y="13261"/>
                </a:cubicBezTo>
                <a:moveTo>
                  <a:pt x="7855" y="4320"/>
                </a:moveTo>
                <a:cubicBezTo>
                  <a:pt x="7990" y="4320"/>
                  <a:pt x="8113" y="4260"/>
                  <a:pt x="8202" y="4162"/>
                </a:cubicBezTo>
                <a:lnTo>
                  <a:pt x="10309" y="1844"/>
                </a:lnTo>
                <a:lnTo>
                  <a:pt x="10309" y="12420"/>
                </a:lnTo>
                <a:cubicBezTo>
                  <a:pt x="10309" y="12719"/>
                  <a:pt x="10529" y="12960"/>
                  <a:pt x="10800" y="12960"/>
                </a:cubicBezTo>
                <a:cubicBezTo>
                  <a:pt x="11071" y="12960"/>
                  <a:pt x="11291" y="12719"/>
                  <a:pt x="11291" y="12420"/>
                </a:cubicBezTo>
                <a:lnTo>
                  <a:pt x="11291" y="1844"/>
                </a:lnTo>
                <a:lnTo>
                  <a:pt x="13398" y="4162"/>
                </a:lnTo>
                <a:cubicBezTo>
                  <a:pt x="13487" y="4260"/>
                  <a:pt x="13610" y="4320"/>
                  <a:pt x="13745" y="4320"/>
                </a:cubicBezTo>
                <a:cubicBezTo>
                  <a:pt x="14017" y="4320"/>
                  <a:pt x="14236" y="4079"/>
                  <a:pt x="14236" y="3780"/>
                </a:cubicBezTo>
                <a:cubicBezTo>
                  <a:pt x="14236" y="3631"/>
                  <a:pt x="14181" y="3497"/>
                  <a:pt x="14093" y="3398"/>
                </a:cubicBezTo>
                <a:lnTo>
                  <a:pt x="11147" y="158"/>
                </a:lnTo>
                <a:cubicBezTo>
                  <a:pt x="11058" y="61"/>
                  <a:pt x="10936" y="0"/>
                  <a:pt x="10800" y="0"/>
                </a:cubicBezTo>
                <a:cubicBezTo>
                  <a:pt x="10664" y="0"/>
                  <a:pt x="10542" y="61"/>
                  <a:pt x="10453" y="158"/>
                </a:cubicBezTo>
                <a:lnTo>
                  <a:pt x="7507" y="3398"/>
                </a:lnTo>
                <a:cubicBezTo>
                  <a:pt x="7419" y="3497"/>
                  <a:pt x="7364" y="3631"/>
                  <a:pt x="7364" y="3780"/>
                </a:cubicBezTo>
                <a:cubicBezTo>
                  <a:pt x="7364" y="4079"/>
                  <a:pt x="7583" y="4320"/>
                  <a:pt x="7855" y="4320"/>
                </a:cubicBezTo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32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B9F6BCA-EA10-48CB-8E0A-074D4E03A930}"/>
              </a:ext>
            </a:extLst>
          </p:cNvPr>
          <p:cNvSpPr/>
          <p:nvPr/>
        </p:nvSpPr>
        <p:spPr>
          <a:xfrm>
            <a:off x="8362120" y="4019204"/>
            <a:ext cx="3313377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而“</a:t>
            </a:r>
            <a:r>
              <a:rPr lang="zh-TW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萃取</a:t>
            </a:r>
            <a:r>
              <a:rPr lang="en-US" altLang="zh-CN" dirty="0">
                <a:latin typeface="华文细黑" panose="02010600040101010101" pitchFamily="2" charset="-122"/>
                <a:ea typeface="华文细黑" panose="02010600040101010101" pitchFamily="2" charset="-122"/>
              </a:rPr>
              <a:t>”</a:t>
            </a:r>
            <a:r>
              <a:rPr lang="zh-TW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欄表</a:t>
            </a:r>
            <a:r>
              <a:rPr lang="zh-CN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示的</a:t>
            </a:r>
            <a:r>
              <a:rPr lang="zh-TW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是當</a:t>
            </a:r>
            <a:r>
              <a:rPr lang="zh-CN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我</a:t>
            </a:r>
            <a:r>
              <a:rPr lang="zh-TW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們</a:t>
            </a:r>
            <a:r>
              <a:rPr lang="zh-CN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只保留</a:t>
            </a:r>
            <a:r>
              <a:rPr lang="zh-TW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選中</a:t>
            </a:r>
            <a:r>
              <a:rPr lang="zh-CN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的成分时，</a:t>
            </a:r>
            <a:r>
              <a:rPr lang="zh-TW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變</a:t>
            </a:r>
            <a:r>
              <a:rPr lang="zh-CN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量</a:t>
            </a:r>
            <a:r>
              <a:rPr lang="zh-TW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變異</a:t>
            </a:r>
            <a:r>
              <a:rPr lang="zh-CN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被解释的程度。因</a:t>
            </a:r>
            <a:r>
              <a:rPr lang="zh-TW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為</a:t>
            </a:r>
            <a:r>
              <a:rPr lang="zh-CN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我</a:t>
            </a:r>
            <a:r>
              <a:rPr lang="zh-TW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們</a:t>
            </a:r>
            <a:r>
              <a:rPr lang="zh-CN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只保留了部分成分，所有</a:t>
            </a:r>
            <a:r>
              <a:rPr lang="zh-TW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變</a:t>
            </a:r>
            <a:r>
              <a:rPr lang="zh-CN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量</a:t>
            </a:r>
            <a:r>
              <a:rPr lang="zh-TW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變異</a:t>
            </a:r>
            <a:r>
              <a:rPr lang="zh-CN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被解</a:t>
            </a:r>
            <a:r>
              <a:rPr lang="zh-TW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釋</a:t>
            </a:r>
            <a:r>
              <a:rPr lang="zh-CN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的程度</a:t>
            </a:r>
            <a:r>
              <a:rPr lang="zh-TW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會</a:t>
            </a:r>
            <a:r>
              <a:rPr lang="zh-CN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降低。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32900BB-D2CF-42D9-AA8F-8B63F715BC52}"/>
              </a:ext>
            </a:extLst>
          </p:cNvPr>
          <p:cNvSpPr/>
          <p:nvPr/>
        </p:nvSpPr>
        <p:spPr>
          <a:xfrm>
            <a:off x="8246108" y="1740695"/>
            <a:ext cx="35454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“ </a:t>
            </a:r>
            <a:r>
              <a:rPr lang="zh-TW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初始</a:t>
            </a:r>
            <a:r>
              <a:rPr lang="en-US" altLang="zh-CN" dirty="0">
                <a:latin typeface="华文细黑" panose="02010600040101010101" pitchFamily="2" charset="-122"/>
                <a:ea typeface="华文细黑" panose="02010600040101010101" pitchFamily="2" charset="-122"/>
              </a:rPr>
              <a:t>”</a:t>
            </a:r>
            <a:r>
              <a:rPr lang="zh-TW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欄表</a:t>
            </a:r>
            <a:r>
              <a:rPr lang="zh-CN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示的</a:t>
            </a:r>
            <a:r>
              <a:rPr lang="zh-TW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是當</a:t>
            </a:r>
            <a:r>
              <a:rPr lang="zh-CN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所有成分都</a:t>
            </a:r>
            <a:r>
              <a:rPr lang="zh-TW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納</a:t>
            </a:r>
            <a:r>
              <a:rPr lang="zh-CN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入时，每</a:t>
            </a:r>
            <a:r>
              <a:rPr lang="zh-TW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個變</a:t>
            </a:r>
            <a:r>
              <a:rPr lang="zh-CN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量</a:t>
            </a:r>
            <a:r>
              <a:rPr lang="zh-TW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變異</a:t>
            </a:r>
            <a:r>
              <a:rPr lang="zh-CN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被解释的程度</a:t>
            </a:r>
            <a:r>
              <a:rPr lang="zh-TW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為</a:t>
            </a:r>
            <a:r>
              <a:rPr lang="en-US" altLang="zh-CN" dirty="0">
                <a:latin typeface="华文细黑" panose="02010600040101010101" pitchFamily="2" charset="-122"/>
                <a:ea typeface="华文细黑" panose="02010600040101010101" pitchFamily="2" charset="-122"/>
              </a:rPr>
              <a:t>1</a:t>
            </a:r>
            <a:r>
              <a:rPr lang="zh-CN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，即</a:t>
            </a:r>
            <a:r>
              <a:rPr lang="en-US" altLang="zh-CN" dirty="0">
                <a:latin typeface="华文细黑" panose="02010600040101010101" pitchFamily="2" charset="-122"/>
                <a:ea typeface="华文细黑" panose="02010600040101010101" pitchFamily="2" charset="-122"/>
              </a:rPr>
              <a:t>100%</a:t>
            </a:r>
            <a:r>
              <a:rPr lang="zh-CN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被</a:t>
            </a:r>
            <a:r>
              <a:rPr lang="zh-TW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解釋</a:t>
            </a:r>
            <a:r>
              <a:rPr lang="zh-CN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这是很好理解的，因为在</a:t>
            </a:r>
            <a:r>
              <a:rPr lang="zh-TW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這</a:t>
            </a:r>
            <a:r>
              <a:rPr lang="zh-CN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一</a:t>
            </a:r>
            <a:r>
              <a:rPr lang="zh-TW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階段</a:t>
            </a:r>
            <a:r>
              <a:rPr lang="zh-CN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，我</a:t>
            </a:r>
            <a:r>
              <a:rPr lang="zh-TW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們</a:t>
            </a:r>
            <a:r>
              <a:rPr lang="zh-CN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没有剔除任何信息，</a:t>
            </a:r>
            <a:r>
              <a:rPr lang="zh-TW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數據</a:t>
            </a:r>
            <a:r>
              <a:rPr lang="zh-CN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中的</a:t>
            </a:r>
            <a:r>
              <a:rPr lang="zh-TW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變異</a:t>
            </a:r>
            <a:r>
              <a:rPr lang="zh-CN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都可以被解</a:t>
            </a:r>
            <a:r>
              <a:rPr lang="zh-TW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釋</a:t>
            </a:r>
            <a:r>
              <a:rPr lang="zh-CN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5749852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1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 tmFilter="0,0; .5, 1; 1, 1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椭圆 35"/>
          <p:cNvSpPr/>
          <p:nvPr/>
        </p:nvSpPr>
        <p:spPr>
          <a:xfrm>
            <a:off x="1019075" y="303754"/>
            <a:ext cx="1299101" cy="1299101"/>
          </a:xfrm>
          <a:prstGeom prst="ellipse">
            <a:avLst/>
          </a:prstGeom>
          <a:solidFill>
            <a:srgbClr val="F6E8E7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椭圆 36"/>
          <p:cNvSpPr/>
          <p:nvPr/>
        </p:nvSpPr>
        <p:spPr>
          <a:xfrm>
            <a:off x="821781" y="1040074"/>
            <a:ext cx="524547" cy="524547"/>
          </a:xfrm>
          <a:prstGeom prst="ellipse">
            <a:avLst/>
          </a:prstGeom>
          <a:solidFill>
            <a:srgbClr val="EDD1CF"/>
          </a:solidFill>
          <a:ln>
            <a:noFill/>
          </a:ln>
          <a:effectLst>
            <a:reflection stA="40000" endPos="30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4" name="圖片 33">
            <a:extLst>
              <a:ext uri="{FF2B5EF4-FFF2-40B4-BE49-F238E27FC236}">
                <a16:creationId xmlns:a16="http://schemas.microsoft.com/office/drawing/2014/main" id="{E1A8AAE7-0B4E-4BE4-B0DB-66869C15000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  <a14:imgEffect>
                      <a14:saturation sat="400000"/>
                    </a14:imgEffect>
                  </a14:imgLayer>
                </a14:imgProps>
              </a:ext>
            </a:extLst>
          </a:blip>
          <a:srcRect l="3750" r="11470"/>
          <a:stretch/>
        </p:blipFill>
        <p:spPr>
          <a:xfrm>
            <a:off x="254000" y="1751826"/>
            <a:ext cx="5181600" cy="4933454"/>
          </a:xfrm>
          <a:prstGeom prst="rect">
            <a:avLst/>
          </a:prstGeom>
        </p:spPr>
      </p:pic>
      <p:sp>
        <p:nvSpPr>
          <p:cNvPr id="35" name="矩形 34">
            <a:extLst>
              <a:ext uri="{FF2B5EF4-FFF2-40B4-BE49-F238E27FC236}">
                <a16:creationId xmlns:a16="http://schemas.microsoft.com/office/drawing/2014/main" id="{EF0FA14F-467B-4FEC-82EF-C44199B6E4A1}"/>
              </a:ext>
            </a:extLst>
          </p:cNvPr>
          <p:cNvSpPr/>
          <p:nvPr/>
        </p:nvSpPr>
        <p:spPr>
          <a:xfrm>
            <a:off x="5913120" y="1899602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TW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負荷</a:t>
            </a:r>
            <a:r>
              <a:rPr lang="en-US" altLang="zh-TW" dirty="0">
                <a:latin typeface="华文细黑" panose="02010600040101010101" pitchFamily="2" charset="-122"/>
                <a:ea typeface="华文细黑" panose="02010600040101010101" pitchFamily="2" charset="-122"/>
              </a:rPr>
              <a:t>(loading), </a:t>
            </a:r>
            <a:r>
              <a:rPr lang="zh-TW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：新變數與舊變數間的相關係數稱為負荷</a:t>
            </a:r>
            <a:r>
              <a:rPr lang="en-US" altLang="zh-TW" dirty="0">
                <a:latin typeface="华文细黑" panose="02010600040101010101" pitchFamily="2" charset="-122"/>
                <a:ea typeface="华文细黑" panose="02010600040101010101" pitchFamily="2" charset="-122"/>
              </a:rPr>
              <a:t>(loading)</a:t>
            </a:r>
            <a:r>
              <a:rPr lang="zh-TW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。表示原變數對於新變數的影響力或重要性。負荷愈大表示原始變數對於新變數的影響力愈高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6043471E-FA69-4412-9CBC-889145EBC2C0}"/>
              </a:ext>
            </a:extLst>
          </p:cNvPr>
          <p:cNvSpPr/>
          <p:nvPr/>
        </p:nvSpPr>
        <p:spPr>
          <a:xfrm>
            <a:off x="5913120" y="3120470"/>
            <a:ext cx="6096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TW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個別變數與因素之間的相關性 </a:t>
            </a:r>
            <a:r>
              <a:rPr lang="en-US" altLang="zh-TW" dirty="0">
                <a:latin typeface="华文细黑" panose="02010600040101010101" pitchFamily="2" charset="-122"/>
                <a:ea typeface="华文细黑" panose="02010600040101010101" pitchFamily="2" charset="-122"/>
              </a:rPr>
              <a:t>(</a:t>
            </a:r>
            <a:r>
              <a:rPr lang="zh-TW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沒轉軸前</a:t>
            </a:r>
            <a:r>
              <a:rPr lang="en-US" altLang="zh-TW" dirty="0">
                <a:latin typeface="华文细黑" panose="02010600040101010101" pitchFamily="2" charset="-122"/>
                <a:ea typeface="华文细黑" panose="02010600040101010101" pitchFamily="2" charset="-122"/>
              </a:rPr>
              <a:t>)</a:t>
            </a:r>
            <a:r>
              <a:rPr lang="zh-TW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，所以這個值如同</a:t>
            </a:r>
            <a:r>
              <a:rPr lang="en-US" altLang="zh-TW" dirty="0">
                <a:latin typeface="华文细黑" panose="02010600040101010101" pitchFamily="2" charset="-122"/>
                <a:ea typeface="华文细黑" panose="02010600040101010101" pitchFamily="2" charset="-122"/>
              </a:rPr>
              <a:t>Pearson correlations</a:t>
            </a:r>
            <a:r>
              <a:rPr lang="zh-TW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一樣，數值介於</a:t>
            </a:r>
            <a:r>
              <a:rPr lang="en-US" altLang="zh-TW" dirty="0">
                <a:latin typeface="华文细黑" panose="02010600040101010101" pitchFamily="2" charset="-122"/>
                <a:ea typeface="华文细黑" panose="02010600040101010101" pitchFamily="2" charset="-122"/>
              </a:rPr>
              <a:t>-1</a:t>
            </a:r>
            <a:r>
              <a:rPr lang="zh-TW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至</a:t>
            </a:r>
            <a:r>
              <a:rPr lang="en-US" altLang="zh-TW" dirty="0">
                <a:latin typeface="华文细黑" panose="02010600040101010101" pitchFamily="2" charset="-122"/>
                <a:ea typeface="华文细黑" panose="02010600040101010101" pitchFamily="2" charset="-122"/>
              </a:rPr>
              <a:t>1</a:t>
            </a:r>
            <a:r>
              <a:rPr lang="zh-TW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之間。因素負荷量的平方也就是這個因素可以解釋多少這個變數。舉例來說，如果因素負荷量是</a:t>
            </a:r>
            <a:r>
              <a:rPr lang="en-US" altLang="zh-TW" dirty="0">
                <a:latin typeface="华文细黑" panose="02010600040101010101" pitchFamily="2" charset="-122"/>
                <a:ea typeface="华文细黑" panose="02010600040101010101" pitchFamily="2" charset="-122"/>
              </a:rPr>
              <a:t>0.4</a:t>
            </a:r>
            <a:r>
              <a:rPr lang="zh-TW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，那表示該因素可解釋此變數</a:t>
            </a:r>
            <a:r>
              <a:rPr lang="en-US" altLang="zh-TW" dirty="0">
                <a:latin typeface="华文细黑" panose="02010600040101010101" pitchFamily="2" charset="-122"/>
                <a:ea typeface="华文细黑" panose="02010600040101010101" pitchFamily="2" charset="-122"/>
              </a:rPr>
              <a:t>0.16</a:t>
            </a:r>
            <a:r>
              <a:rPr lang="zh-TW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的</a:t>
            </a:r>
            <a:r>
              <a:rPr lang="en-US" altLang="zh-TW" dirty="0">
                <a:latin typeface="华文细黑" panose="02010600040101010101" pitchFamily="2" charset="-122"/>
                <a:ea typeface="华文细黑" panose="02010600040101010101" pitchFamily="2" charset="-122"/>
              </a:rPr>
              <a:t>variance</a:t>
            </a:r>
            <a:r>
              <a:rPr lang="zh-TW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08356A6-E723-4596-BEA9-9A75E699EC54}"/>
              </a:ext>
            </a:extLst>
          </p:cNvPr>
          <p:cNvSpPr/>
          <p:nvPr/>
        </p:nvSpPr>
        <p:spPr>
          <a:xfrm>
            <a:off x="1289670" y="584937"/>
            <a:ext cx="362150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</a:pPr>
            <a:r>
              <a:rPr lang="zh-TW" altLang="en-US" sz="3600" b="1" dirty="0">
                <a:solidFill>
                  <a:srgbClr val="523A2C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分析結果</a:t>
            </a:r>
            <a:r>
              <a:rPr lang="en-US" altLang="zh-TW" sz="3600" b="1" dirty="0">
                <a:solidFill>
                  <a:srgbClr val="523A2C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-</a:t>
            </a:r>
            <a:r>
              <a:rPr lang="zh-TW" altLang="en-US" sz="2800" dirty="0">
                <a:solidFill>
                  <a:srgbClr val="523A2C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觀察變數</a:t>
            </a:r>
            <a:endParaRPr lang="en-US" altLang="zh-TW" sz="3600" dirty="0">
              <a:solidFill>
                <a:srgbClr val="523A2C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31883CDD-7B67-4EC6-A517-748301287BC9}"/>
              </a:ext>
            </a:extLst>
          </p:cNvPr>
          <p:cNvSpPr txBox="1"/>
          <p:nvPr/>
        </p:nvSpPr>
        <p:spPr>
          <a:xfrm>
            <a:off x="5913120" y="5194327"/>
            <a:ext cx="5994400" cy="624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TW" altLang="en-US" sz="1400" dirty="0">
                <a:latin typeface="Arial" panose="020B0604020202020204" pitchFamily="34" charset="0"/>
                <a:ea typeface="微软雅黑" panose="020B0503020204020204" pitchFamily="34" charset="-122"/>
              </a:rPr>
              <a:t>從此表觀察出員變數對於主成分</a:t>
            </a:r>
            <a:r>
              <a:rPr lang="en-US" altLang="zh-TW" sz="1400" dirty="0">
                <a:latin typeface="Arial" panose="020B0604020202020204" pitchFamily="34" charset="0"/>
                <a:ea typeface="微软雅黑" panose="020B0503020204020204" pitchFamily="34" charset="-122"/>
              </a:rPr>
              <a:t>1</a:t>
            </a:r>
            <a:r>
              <a:rPr lang="zh-TW" altLang="en-US" sz="1400" dirty="0">
                <a:latin typeface="Arial" panose="020B0604020202020204" pitchFamily="34" charset="0"/>
                <a:ea typeface="微软雅黑" panose="020B0503020204020204" pitchFamily="34" charset="-122"/>
              </a:rPr>
              <a:t>的影響力是差不多的，但第二個原變數對於主成分二是負相關，且其他變數對於主成分</a:t>
            </a:r>
            <a:r>
              <a:rPr lang="en-US" altLang="zh-TW" sz="1400" dirty="0">
                <a:latin typeface="Arial" panose="020B0604020202020204" pitchFamily="34" charset="0"/>
                <a:ea typeface="微软雅黑" panose="020B0503020204020204" pitchFamily="34" charset="-122"/>
              </a:rPr>
              <a:t>2</a:t>
            </a:r>
            <a:r>
              <a:rPr lang="zh-TW" altLang="en-US" sz="1400" dirty="0">
                <a:latin typeface="Arial" panose="020B0604020202020204" pitchFamily="34" charset="0"/>
                <a:ea typeface="微软雅黑" panose="020B0503020204020204" pitchFamily="34" charset="-122"/>
              </a:rPr>
              <a:t>的重要性都是相對較少的</a:t>
            </a:r>
          </a:p>
        </p:txBody>
      </p:sp>
    </p:spTree>
    <p:extLst>
      <p:ext uri="{BB962C8B-B14F-4D97-AF65-F5344CB8AC3E}">
        <p14:creationId xmlns:p14="http://schemas.microsoft.com/office/powerpoint/2010/main" val="17094047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2540"/>
          <p:cNvSpPr/>
          <p:nvPr/>
        </p:nvSpPr>
        <p:spPr>
          <a:xfrm>
            <a:off x="533230" y="4566289"/>
            <a:ext cx="524547" cy="62836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732" y="6661"/>
                </a:moveTo>
                <a:cubicBezTo>
                  <a:pt x="20540" y="6471"/>
                  <a:pt x="20228" y="6473"/>
                  <a:pt x="20038" y="6667"/>
                </a:cubicBezTo>
                <a:cubicBezTo>
                  <a:pt x="19903" y="6804"/>
                  <a:pt x="19870" y="7000"/>
                  <a:pt x="19929" y="7171"/>
                </a:cubicBezTo>
                <a:lnTo>
                  <a:pt x="19918" y="7175"/>
                </a:lnTo>
                <a:cubicBezTo>
                  <a:pt x="20365" y="8298"/>
                  <a:pt x="20618" y="951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cubicBezTo>
                  <a:pt x="5378" y="20618"/>
                  <a:pt x="982" y="16223"/>
                  <a:pt x="982" y="10800"/>
                </a:cubicBezTo>
                <a:cubicBezTo>
                  <a:pt x="982" y="5377"/>
                  <a:pt x="5378" y="982"/>
                  <a:pt x="10800" y="982"/>
                </a:cubicBezTo>
                <a:cubicBezTo>
                  <a:pt x="13575" y="982"/>
                  <a:pt x="16077" y="2136"/>
                  <a:pt x="17862" y="3989"/>
                </a:cubicBezTo>
                <a:lnTo>
                  <a:pt x="17868" y="3982"/>
                </a:lnTo>
                <a:cubicBezTo>
                  <a:pt x="18062" y="4157"/>
                  <a:pt x="18359" y="4153"/>
                  <a:pt x="18544" y="3965"/>
                </a:cubicBezTo>
                <a:cubicBezTo>
                  <a:pt x="18734" y="3771"/>
                  <a:pt x="18732" y="3461"/>
                  <a:pt x="18539" y="3270"/>
                </a:cubicBezTo>
                <a:cubicBezTo>
                  <a:pt x="18520" y="3252"/>
                  <a:pt x="18496" y="3244"/>
                  <a:pt x="18476" y="3230"/>
                </a:cubicBezTo>
                <a:cubicBezTo>
                  <a:pt x="16521" y="1241"/>
                  <a:pt x="13810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5" y="21600"/>
                  <a:pt x="21600" y="16764"/>
                  <a:pt x="21600" y="10800"/>
                </a:cubicBezTo>
                <a:cubicBezTo>
                  <a:pt x="21600" y="9412"/>
                  <a:pt x="21329" y="8089"/>
                  <a:pt x="20851" y="6869"/>
                </a:cubicBezTo>
                <a:cubicBezTo>
                  <a:pt x="20828" y="6794"/>
                  <a:pt x="20793" y="6721"/>
                  <a:pt x="20732" y="6661"/>
                </a:cubicBezTo>
                <a:moveTo>
                  <a:pt x="10792" y="13534"/>
                </a:moveTo>
                <a:lnTo>
                  <a:pt x="6238" y="8980"/>
                </a:lnTo>
                <a:cubicBezTo>
                  <a:pt x="6149" y="8891"/>
                  <a:pt x="6027" y="8836"/>
                  <a:pt x="5891" y="8836"/>
                </a:cubicBezTo>
                <a:cubicBezTo>
                  <a:pt x="5620" y="8836"/>
                  <a:pt x="5400" y="9056"/>
                  <a:pt x="5400" y="9327"/>
                </a:cubicBezTo>
                <a:cubicBezTo>
                  <a:pt x="5400" y="9463"/>
                  <a:pt x="5455" y="9585"/>
                  <a:pt x="5544" y="9675"/>
                </a:cubicBezTo>
                <a:lnTo>
                  <a:pt x="10453" y="14583"/>
                </a:lnTo>
                <a:cubicBezTo>
                  <a:pt x="10542" y="14672"/>
                  <a:pt x="10664" y="14727"/>
                  <a:pt x="10800" y="14727"/>
                </a:cubicBezTo>
                <a:cubicBezTo>
                  <a:pt x="10940" y="14727"/>
                  <a:pt x="11064" y="14668"/>
                  <a:pt x="11154" y="14574"/>
                </a:cubicBezTo>
                <a:lnTo>
                  <a:pt x="11155" y="14576"/>
                </a:lnTo>
                <a:lnTo>
                  <a:pt x="19353" y="5988"/>
                </a:lnTo>
                <a:cubicBezTo>
                  <a:pt x="19353" y="5989"/>
                  <a:pt x="19354" y="5990"/>
                  <a:pt x="19354" y="5991"/>
                </a:cubicBezTo>
                <a:lnTo>
                  <a:pt x="20055" y="5255"/>
                </a:lnTo>
                <a:cubicBezTo>
                  <a:pt x="20055" y="5255"/>
                  <a:pt x="20054" y="5254"/>
                  <a:pt x="20054" y="5253"/>
                </a:cubicBezTo>
                <a:lnTo>
                  <a:pt x="21464" y="3775"/>
                </a:lnTo>
                <a:lnTo>
                  <a:pt x="21463" y="3774"/>
                </a:lnTo>
                <a:cubicBezTo>
                  <a:pt x="21547" y="3686"/>
                  <a:pt x="21600" y="3567"/>
                  <a:pt x="21600" y="3436"/>
                </a:cubicBezTo>
                <a:cubicBezTo>
                  <a:pt x="21600" y="3166"/>
                  <a:pt x="21380" y="2945"/>
                  <a:pt x="21109" y="2945"/>
                </a:cubicBezTo>
                <a:cubicBezTo>
                  <a:pt x="20969" y="2945"/>
                  <a:pt x="20844" y="3005"/>
                  <a:pt x="20755" y="3099"/>
                </a:cubicBezTo>
                <a:lnTo>
                  <a:pt x="20754" y="3097"/>
                </a:lnTo>
                <a:lnTo>
                  <a:pt x="19493" y="4419"/>
                </a:lnTo>
                <a:cubicBezTo>
                  <a:pt x="19492" y="4418"/>
                  <a:pt x="19491" y="4416"/>
                  <a:pt x="19490" y="4415"/>
                </a:cubicBezTo>
                <a:lnTo>
                  <a:pt x="18805" y="5133"/>
                </a:lnTo>
                <a:cubicBezTo>
                  <a:pt x="18806" y="5134"/>
                  <a:pt x="18807" y="5136"/>
                  <a:pt x="18807" y="5137"/>
                </a:cubicBezTo>
                <a:cubicBezTo>
                  <a:pt x="18807" y="5137"/>
                  <a:pt x="10792" y="13534"/>
                  <a:pt x="10792" y="13534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32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2" name="Shape 2540"/>
          <p:cNvSpPr/>
          <p:nvPr/>
        </p:nvSpPr>
        <p:spPr>
          <a:xfrm>
            <a:off x="533231" y="2904136"/>
            <a:ext cx="524547" cy="62836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732" y="6661"/>
                </a:moveTo>
                <a:cubicBezTo>
                  <a:pt x="20540" y="6471"/>
                  <a:pt x="20228" y="6473"/>
                  <a:pt x="20038" y="6667"/>
                </a:cubicBezTo>
                <a:cubicBezTo>
                  <a:pt x="19903" y="6804"/>
                  <a:pt x="19870" y="7000"/>
                  <a:pt x="19929" y="7171"/>
                </a:cubicBezTo>
                <a:lnTo>
                  <a:pt x="19918" y="7175"/>
                </a:lnTo>
                <a:cubicBezTo>
                  <a:pt x="20365" y="8298"/>
                  <a:pt x="20618" y="951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cubicBezTo>
                  <a:pt x="5378" y="20618"/>
                  <a:pt x="982" y="16223"/>
                  <a:pt x="982" y="10800"/>
                </a:cubicBezTo>
                <a:cubicBezTo>
                  <a:pt x="982" y="5377"/>
                  <a:pt x="5378" y="982"/>
                  <a:pt x="10800" y="982"/>
                </a:cubicBezTo>
                <a:cubicBezTo>
                  <a:pt x="13575" y="982"/>
                  <a:pt x="16077" y="2136"/>
                  <a:pt x="17862" y="3989"/>
                </a:cubicBezTo>
                <a:lnTo>
                  <a:pt x="17868" y="3982"/>
                </a:lnTo>
                <a:cubicBezTo>
                  <a:pt x="18062" y="4157"/>
                  <a:pt x="18359" y="4153"/>
                  <a:pt x="18544" y="3965"/>
                </a:cubicBezTo>
                <a:cubicBezTo>
                  <a:pt x="18734" y="3771"/>
                  <a:pt x="18732" y="3461"/>
                  <a:pt x="18539" y="3270"/>
                </a:cubicBezTo>
                <a:cubicBezTo>
                  <a:pt x="18520" y="3252"/>
                  <a:pt x="18496" y="3244"/>
                  <a:pt x="18476" y="3230"/>
                </a:cubicBezTo>
                <a:cubicBezTo>
                  <a:pt x="16521" y="1241"/>
                  <a:pt x="13810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5" y="21600"/>
                  <a:pt x="21600" y="16764"/>
                  <a:pt x="21600" y="10800"/>
                </a:cubicBezTo>
                <a:cubicBezTo>
                  <a:pt x="21600" y="9412"/>
                  <a:pt x="21329" y="8089"/>
                  <a:pt x="20851" y="6869"/>
                </a:cubicBezTo>
                <a:cubicBezTo>
                  <a:pt x="20828" y="6794"/>
                  <a:pt x="20793" y="6721"/>
                  <a:pt x="20732" y="6661"/>
                </a:cubicBezTo>
                <a:moveTo>
                  <a:pt x="10792" y="13534"/>
                </a:moveTo>
                <a:lnTo>
                  <a:pt x="6238" y="8980"/>
                </a:lnTo>
                <a:cubicBezTo>
                  <a:pt x="6149" y="8891"/>
                  <a:pt x="6027" y="8836"/>
                  <a:pt x="5891" y="8836"/>
                </a:cubicBezTo>
                <a:cubicBezTo>
                  <a:pt x="5620" y="8836"/>
                  <a:pt x="5400" y="9056"/>
                  <a:pt x="5400" y="9327"/>
                </a:cubicBezTo>
                <a:cubicBezTo>
                  <a:pt x="5400" y="9463"/>
                  <a:pt x="5455" y="9585"/>
                  <a:pt x="5544" y="9675"/>
                </a:cubicBezTo>
                <a:lnTo>
                  <a:pt x="10453" y="14583"/>
                </a:lnTo>
                <a:cubicBezTo>
                  <a:pt x="10542" y="14672"/>
                  <a:pt x="10664" y="14727"/>
                  <a:pt x="10800" y="14727"/>
                </a:cubicBezTo>
                <a:cubicBezTo>
                  <a:pt x="10940" y="14727"/>
                  <a:pt x="11064" y="14668"/>
                  <a:pt x="11154" y="14574"/>
                </a:cubicBezTo>
                <a:lnTo>
                  <a:pt x="11155" y="14576"/>
                </a:lnTo>
                <a:lnTo>
                  <a:pt x="19353" y="5988"/>
                </a:lnTo>
                <a:cubicBezTo>
                  <a:pt x="19353" y="5989"/>
                  <a:pt x="19354" y="5990"/>
                  <a:pt x="19354" y="5991"/>
                </a:cubicBezTo>
                <a:lnTo>
                  <a:pt x="20055" y="5255"/>
                </a:lnTo>
                <a:cubicBezTo>
                  <a:pt x="20055" y="5255"/>
                  <a:pt x="20054" y="5254"/>
                  <a:pt x="20054" y="5253"/>
                </a:cubicBezTo>
                <a:lnTo>
                  <a:pt x="21464" y="3775"/>
                </a:lnTo>
                <a:lnTo>
                  <a:pt x="21463" y="3774"/>
                </a:lnTo>
                <a:cubicBezTo>
                  <a:pt x="21547" y="3686"/>
                  <a:pt x="21600" y="3567"/>
                  <a:pt x="21600" y="3436"/>
                </a:cubicBezTo>
                <a:cubicBezTo>
                  <a:pt x="21600" y="3166"/>
                  <a:pt x="21380" y="2945"/>
                  <a:pt x="21109" y="2945"/>
                </a:cubicBezTo>
                <a:cubicBezTo>
                  <a:pt x="20969" y="2945"/>
                  <a:pt x="20844" y="3005"/>
                  <a:pt x="20755" y="3099"/>
                </a:cubicBezTo>
                <a:lnTo>
                  <a:pt x="20754" y="3097"/>
                </a:lnTo>
                <a:lnTo>
                  <a:pt x="19493" y="4419"/>
                </a:lnTo>
                <a:cubicBezTo>
                  <a:pt x="19492" y="4418"/>
                  <a:pt x="19491" y="4416"/>
                  <a:pt x="19490" y="4415"/>
                </a:cubicBezTo>
                <a:lnTo>
                  <a:pt x="18805" y="5133"/>
                </a:lnTo>
                <a:cubicBezTo>
                  <a:pt x="18806" y="5134"/>
                  <a:pt x="18807" y="5136"/>
                  <a:pt x="18807" y="5137"/>
                </a:cubicBezTo>
                <a:cubicBezTo>
                  <a:pt x="18807" y="5137"/>
                  <a:pt x="10792" y="13534"/>
                  <a:pt x="10792" y="13534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32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13" name="圖片 12">
            <a:extLst>
              <a:ext uri="{FF2B5EF4-FFF2-40B4-BE49-F238E27FC236}">
                <a16:creationId xmlns:a16="http://schemas.microsoft.com/office/drawing/2014/main" id="{C87850D6-A3F5-4157-AD92-19A59AA2CA2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400000"/>
                    </a14:imgEffect>
                  </a14:imgLayer>
                </a14:imgProps>
              </a:ext>
            </a:extLst>
          </a:blip>
          <a:srcRect r="6379"/>
          <a:stretch/>
        </p:blipFill>
        <p:spPr>
          <a:xfrm>
            <a:off x="5248277" y="1862210"/>
            <a:ext cx="6943723" cy="4543425"/>
          </a:xfrm>
          <a:prstGeom prst="rect">
            <a:avLst/>
          </a:prstGeom>
        </p:spPr>
      </p:pic>
      <p:sp>
        <p:nvSpPr>
          <p:cNvPr id="14" name="文字方塊 13">
            <a:extLst>
              <a:ext uri="{FF2B5EF4-FFF2-40B4-BE49-F238E27FC236}">
                <a16:creationId xmlns:a16="http://schemas.microsoft.com/office/drawing/2014/main" id="{E8452708-0054-47EC-AD8D-39964591028A}"/>
              </a:ext>
            </a:extLst>
          </p:cNvPr>
          <p:cNvSpPr txBox="1"/>
          <p:nvPr/>
        </p:nvSpPr>
        <p:spPr>
          <a:xfrm>
            <a:off x="1250610" y="4609879"/>
            <a:ext cx="389728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從陡坡圖，初步可以觀察出前在第</a:t>
            </a:r>
            <a:r>
              <a:rPr lang="en-US" altLang="zh-TW" dirty="0">
                <a:latin typeface="华文细黑" panose="02010600040101010101" pitchFamily="2" charset="-122"/>
                <a:ea typeface="华文细黑" panose="02010600040101010101" pitchFamily="2" charset="-122"/>
              </a:rPr>
              <a:t>3</a:t>
            </a:r>
            <a:r>
              <a:rPr lang="zh-TW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個主成分以後曲線走勢趨於平緩，相對而言，這些主成分所能解釋的變異極小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6DFA4C0-1A46-448B-B292-D8190E96A4B8}"/>
              </a:ext>
            </a:extLst>
          </p:cNvPr>
          <p:cNvSpPr/>
          <p:nvPr/>
        </p:nvSpPr>
        <p:spPr>
          <a:xfrm>
            <a:off x="1289670" y="2828835"/>
            <a:ext cx="351954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坡度明顯趨緩的時候就可以停止選擇變數。新的因素沒辦法帶來明顯的解釋力增加時，當然就不是好的因素了。</a:t>
            </a:r>
          </a:p>
        </p:txBody>
      </p:sp>
      <p:sp>
        <p:nvSpPr>
          <p:cNvPr id="16" name="椭圆 72">
            <a:extLst>
              <a:ext uri="{FF2B5EF4-FFF2-40B4-BE49-F238E27FC236}">
                <a16:creationId xmlns:a16="http://schemas.microsoft.com/office/drawing/2014/main" id="{5B74BEFB-7707-474E-B0EF-CF068AB4F8AD}"/>
              </a:ext>
            </a:extLst>
          </p:cNvPr>
          <p:cNvSpPr/>
          <p:nvPr/>
        </p:nvSpPr>
        <p:spPr>
          <a:xfrm>
            <a:off x="598717" y="215506"/>
            <a:ext cx="1299101" cy="1299101"/>
          </a:xfrm>
          <a:prstGeom prst="ellipse">
            <a:avLst/>
          </a:prstGeom>
          <a:solidFill>
            <a:srgbClr val="F6E8E7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椭圆 74">
            <a:extLst>
              <a:ext uri="{FF2B5EF4-FFF2-40B4-BE49-F238E27FC236}">
                <a16:creationId xmlns:a16="http://schemas.microsoft.com/office/drawing/2014/main" id="{3A7BEE55-364D-456A-9260-824B236F4CFD}"/>
              </a:ext>
            </a:extLst>
          </p:cNvPr>
          <p:cNvSpPr/>
          <p:nvPr/>
        </p:nvSpPr>
        <p:spPr>
          <a:xfrm>
            <a:off x="401423" y="951826"/>
            <a:ext cx="524547" cy="524547"/>
          </a:xfrm>
          <a:prstGeom prst="ellipse">
            <a:avLst/>
          </a:prstGeom>
          <a:solidFill>
            <a:srgbClr val="EDD1CF"/>
          </a:solidFill>
          <a:ln>
            <a:noFill/>
          </a:ln>
          <a:effectLst>
            <a:reflection stA="40000" endPos="30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FED2FA1C-A04C-49F2-9010-7A4990C07E4B}"/>
              </a:ext>
            </a:extLst>
          </p:cNvPr>
          <p:cNvSpPr/>
          <p:nvPr/>
        </p:nvSpPr>
        <p:spPr>
          <a:xfrm>
            <a:off x="1289670" y="584937"/>
            <a:ext cx="469872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</a:pPr>
            <a:r>
              <a:rPr lang="zh-TW" altLang="en-US" sz="3600" b="1" dirty="0">
                <a:solidFill>
                  <a:srgbClr val="523A2C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分析結果</a:t>
            </a:r>
            <a:r>
              <a:rPr lang="en-US" altLang="zh-TW" sz="3600" b="1" dirty="0">
                <a:solidFill>
                  <a:srgbClr val="523A2C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-</a:t>
            </a:r>
            <a:r>
              <a:rPr lang="zh-TW" altLang="en-US" sz="2800" dirty="0">
                <a:solidFill>
                  <a:srgbClr val="523A2C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採用主成分個數</a:t>
            </a:r>
            <a:endParaRPr lang="en-US" altLang="zh-TW" sz="2800" dirty="0">
              <a:solidFill>
                <a:srgbClr val="523A2C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084121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1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 tmFilter="0,0; .5, 1; 1, 1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23" grpId="0" animBg="1"/>
      <p:bldP spid="2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圖片 29">
            <a:extLst>
              <a:ext uri="{FF2B5EF4-FFF2-40B4-BE49-F238E27FC236}">
                <a16:creationId xmlns:a16="http://schemas.microsoft.com/office/drawing/2014/main" id="{301FBF66-7227-464D-9D2A-A4A836E472EA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97780" y="1686599"/>
            <a:ext cx="5781675" cy="4219575"/>
          </a:xfrm>
          <a:prstGeom prst="rect">
            <a:avLst/>
          </a:prstGeom>
        </p:spPr>
      </p:pic>
      <p:sp>
        <p:nvSpPr>
          <p:cNvPr id="31" name="矩形 30">
            <a:extLst>
              <a:ext uri="{FF2B5EF4-FFF2-40B4-BE49-F238E27FC236}">
                <a16:creationId xmlns:a16="http://schemas.microsoft.com/office/drawing/2014/main" id="{88A30C93-5314-4134-B70F-9E5A0A5D9B67}"/>
              </a:ext>
            </a:extLst>
          </p:cNvPr>
          <p:cNvSpPr/>
          <p:nvPr/>
        </p:nvSpPr>
        <p:spPr>
          <a:xfrm>
            <a:off x="6769907" y="1951672"/>
            <a:ext cx="4985936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dirty="0">
                <a:latin typeface="华文细黑" panose="02010600040101010101" pitchFamily="2" charset="-122"/>
                <a:ea typeface="华文细黑" panose="02010600040101010101" pitchFamily="2" charset="-122"/>
              </a:rPr>
              <a:t>Total</a:t>
            </a:r>
            <a:r>
              <a:rPr lang="zh-TW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欄提示的是各主成分對數據變異的解釋程度。以第一主成分為例，其特徵值為</a:t>
            </a:r>
            <a:r>
              <a:rPr lang="en-US" altLang="zh-TW" dirty="0">
                <a:latin typeface="华文细黑" panose="02010600040101010101" pitchFamily="2" charset="-122"/>
                <a:ea typeface="华文细黑" panose="02010600040101010101" pitchFamily="2" charset="-122"/>
              </a:rPr>
              <a:t>0.149</a:t>
            </a:r>
            <a:r>
              <a:rPr lang="zh-TW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，</a:t>
            </a:r>
            <a:r>
              <a:rPr lang="en-US" altLang="zh-TW" dirty="0">
                <a:latin typeface="华文细黑" panose="02010600040101010101" pitchFamily="2" charset="-122"/>
                <a:ea typeface="华文细黑" panose="02010600040101010101" pitchFamily="2" charset="-122"/>
              </a:rPr>
              <a:t>92.126% </a:t>
            </a:r>
            <a:r>
              <a:rPr lang="zh-TW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（</a:t>
            </a:r>
            <a:r>
              <a:rPr lang="en-US" altLang="zh-TW" dirty="0">
                <a:latin typeface="华文细黑" panose="02010600040101010101" pitchFamily="2" charset="-122"/>
                <a:ea typeface="华文细黑" panose="02010600040101010101" pitchFamily="2" charset="-122"/>
              </a:rPr>
              <a:t>% of Variance</a:t>
            </a:r>
            <a:r>
              <a:rPr lang="zh-TW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欄）。同理，第二主成分的特徵值為</a:t>
            </a:r>
            <a:r>
              <a:rPr lang="en-US" altLang="zh-TW" dirty="0">
                <a:latin typeface="华文细黑" panose="02010600040101010101" pitchFamily="2" charset="-122"/>
                <a:ea typeface="华文细黑" panose="02010600040101010101" pitchFamily="2" charset="-122"/>
              </a:rPr>
              <a:t>0.011</a:t>
            </a:r>
            <a:r>
              <a:rPr lang="zh-TW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，占總體變異的</a:t>
            </a:r>
            <a:r>
              <a:rPr lang="en-US" altLang="zh-TW" dirty="0">
                <a:latin typeface="华文细黑" panose="02010600040101010101" pitchFamily="2" charset="-122"/>
                <a:ea typeface="华文细黑" panose="02010600040101010101" pitchFamily="2" charset="-122"/>
              </a:rPr>
              <a:t>6.823%</a:t>
            </a:r>
            <a:r>
              <a:rPr lang="zh-TW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，以此類推。</a:t>
            </a:r>
          </a:p>
        </p:txBody>
      </p:sp>
      <p:sp>
        <p:nvSpPr>
          <p:cNvPr id="33" name="椭圆 72">
            <a:extLst>
              <a:ext uri="{FF2B5EF4-FFF2-40B4-BE49-F238E27FC236}">
                <a16:creationId xmlns:a16="http://schemas.microsoft.com/office/drawing/2014/main" id="{596D122E-7CF0-4557-A22B-77E3D4934375}"/>
              </a:ext>
            </a:extLst>
          </p:cNvPr>
          <p:cNvSpPr/>
          <p:nvPr/>
        </p:nvSpPr>
        <p:spPr>
          <a:xfrm>
            <a:off x="598717" y="215506"/>
            <a:ext cx="1299101" cy="1299101"/>
          </a:xfrm>
          <a:prstGeom prst="ellipse">
            <a:avLst/>
          </a:prstGeom>
          <a:solidFill>
            <a:srgbClr val="F6E8E7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椭圆 74">
            <a:extLst>
              <a:ext uri="{FF2B5EF4-FFF2-40B4-BE49-F238E27FC236}">
                <a16:creationId xmlns:a16="http://schemas.microsoft.com/office/drawing/2014/main" id="{C83AC830-D219-41F7-9BED-87D39DE5771F}"/>
              </a:ext>
            </a:extLst>
          </p:cNvPr>
          <p:cNvSpPr/>
          <p:nvPr/>
        </p:nvSpPr>
        <p:spPr>
          <a:xfrm>
            <a:off x="401423" y="951826"/>
            <a:ext cx="524547" cy="524547"/>
          </a:xfrm>
          <a:prstGeom prst="ellipse">
            <a:avLst/>
          </a:prstGeom>
          <a:solidFill>
            <a:srgbClr val="EDD1CF"/>
          </a:solidFill>
          <a:ln>
            <a:noFill/>
          </a:ln>
          <a:effectLst>
            <a:reflection stA="40000" endPos="30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2D06DBF4-6338-41CF-A392-CAAD21E948A1}"/>
              </a:ext>
            </a:extLst>
          </p:cNvPr>
          <p:cNvSpPr/>
          <p:nvPr/>
        </p:nvSpPr>
        <p:spPr>
          <a:xfrm>
            <a:off x="1289670" y="584937"/>
            <a:ext cx="469872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</a:pPr>
            <a:r>
              <a:rPr lang="zh-TW" altLang="en-US" sz="3600" b="1" dirty="0">
                <a:solidFill>
                  <a:srgbClr val="523A2C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分析結果</a:t>
            </a:r>
            <a:r>
              <a:rPr lang="en-US" altLang="zh-TW" sz="3600" b="1" dirty="0">
                <a:solidFill>
                  <a:srgbClr val="523A2C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-</a:t>
            </a:r>
            <a:r>
              <a:rPr lang="zh-TW" altLang="en-US" sz="2800" dirty="0">
                <a:solidFill>
                  <a:srgbClr val="523A2C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採用主成分個數</a:t>
            </a:r>
            <a:endParaRPr lang="en-US" altLang="zh-TW" sz="2800" dirty="0">
              <a:solidFill>
                <a:srgbClr val="523A2C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3BB3095A-5576-49FF-9D32-BC1E453A25AD}"/>
              </a:ext>
            </a:extLst>
          </p:cNvPr>
          <p:cNvSpPr txBox="1"/>
          <p:nvPr/>
        </p:nvSpPr>
        <p:spPr>
          <a:xfrm>
            <a:off x="6769907" y="3931920"/>
            <a:ext cx="4985935" cy="14961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TW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從此表可以看出前兩個主成分可以解釋</a:t>
            </a:r>
            <a:r>
              <a:rPr lang="en-US" altLang="zh-TW" dirty="0">
                <a:latin typeface="华文细黑" panose="02010600040101010101" pitchFamily="2" charset="-122"/>
                <a:ea typeface="华文细黑" panose="02010600040101010101" pitchFamily="2" charset="-122"/>
              </a:rPr>
              <a:t>98.9%</a:t>
            </a:r>
            <a:r>
              <a:rPr lang="zh-TW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的變異，會選擇第二個主成分是因為它所佔的變異</a:t>
            </a:r>
            <a:r>
              <a:rPr lang="en-US" altLang="zh-TW" dirty="0">
                <a:latin typeface="华文细黑" panose="02010600040101010101" pitchFamily="2" charset="-122"/>
                <a:ea typeface="华文细黑" panose="02010600040101010101" pitchFamily="2" charset="-122"/>
              </a:rPr>
              <a:t>%</a:t>
            </a:r>
            <a:r>
              <a:rPr lang="zh-TW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有</a:t>
            </a:r>
            <a:r>
              <a:rPr lang="en-US" altLang="zh-TW" dirty="0">
                <a:latin typeface="华文细黑" panose="02010600040101010101" pitchFamily="2" charset="-122"/>
                <a:ea typeface="华文细黑" panose="02010600040101010101" pitchFamily="2" charset="-122"/>
              </a:rPr>
              <a:t>6.823</a:t>
            </a:r>
            <a:r>
              <a:rPr lang="zh-TW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，因此會認為此主成分還有些許明顯的解釋力</a:t>
            </a:r>
          </a:p>
        </p:txBody>
      </p:sp>
      <p:sp>
        <p:nvSpPr>
          <p:cNvPr id="36" name="Shape 2540">
            <a:extLst>
              <a:ext uri="{FF2B5EF4-FFF2-40B4-BE49-F238E27FC236}">
                <a16:creationId xmlns:a16="http://schemas.microsoft.com/office/drawing/2014/main" id="{BD89EEF0-D8FA-4686-B605-DF4D22C61984}"/>
              </a:ext>
            </a:extLst>
          </p:cNvPr>
          <p:cNvSpPr/>
          <p:nvPr/>
        </p:nvSpPr>
        <p:spPr>
          <a:xfrm>
            <a:off x="6245361" y="2513141"/>
            <a:ext cx="358640" cy="42309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732" y="6661"/>
                </a:moveTo>
                <a:cubicBezTo>
                  <a:pt x="20540" y="6471"/>
                  <a:pt x="20228" y="6473"/>
                  <a:pt x="20038" y="6667"/>
                </a:cubicBezTo>
                <a:cubicBezTo>
                  <a:pt x="19903" y="6804"/>
                  <a:pt x="19870" y="7000"/>
                  <a:pt x="19929" y="7171"/>
                </a:cubicBezTo>
                <a:lnTo>
                  <a:pt x="19918" y="7175"/>
                </a:lnTo>
                <a:cubicBezTo>
                  <a:pt x="20365" y="8298"/>
                  <a:pt x="20618" y="951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cubicBezTo>
                  <a:pt x="5378" y="20618"/>
                  <a:pt x="982" y="16223"/>
                  <a:pt x="982" y="10800"/>
                </a:cubicBezTo>
                <a:cubicBezTo>
                  <a:pt x="982" y="5377"/>
                  <a:pt x="5378" y="982"/>
                  <a:pt x="10800" y="982"/>
                </a:cubicBezTo>
                <a:cubicBezTo>
                  <a:pt x="13575" y="982"/>
                  <a:pt x="16077" y="2136"/>
                  <a:pt x="17862" y="3989"/>
                </a:cubicBezTo>
                <a:lnTo>
                  <a:pt x="17868" y="3982"/>
                </a:lnTo>
                <a:cubicBezTo>
                  <a:pt x="18062" y="4157"/>
                  <a:pt x="18359" y="4153"/>
                  <a:pt x="18544" y="3965"/>
                </a:cubicBezTo>
                <a:cubicBezTo>
                  <a:pt x="18734" y="3771"/>
                  <a:pt x="18732" y="3461"/>
                  <a:pt x="18539" y="3270"/>
                </a:cubicBezTo>
                <a:cubicBezTo>
                  <a:pt x="18520" y="3252"/>
                  <a:pt x="18496" y="3244"/>
                  <a:pt x="18476" y="3230"/>
                </a:cubicBezTo>
                <a:cubicBezTo>
                  <a:pt x="16521" y="1241"/>
                  <a:pt x="13810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5" y="21600"/>
                  <a:pt x="21600" y="16764"/>
                  <a:pt x="21600" y="10800"/>
                </a:cubicBezTo>
                <a:cubicBezTo>
                  <a:pt x="21600" y="9412"/>
                  <a:pt x="21329" y="8089"/>
                  <a:pt x="20851" y="6869"/>
                </a:cubicBezTo>
                <a:cubicBezTo>
                  <a:pt x="20828" y="6794"/>
                  <a:pt x="20793" y="6721"/>
                  <a:pt x="20732" y="6661"/>
                </a:cubicBezTo>
                <a:moveTo>
                  <a:pt x="10792" y="13534"/>
                </a:moveTo>
                <a:lnTo>
                  <a:pt x="6238" y="8980"/>
                </a:lnTo>
                <a:cubicBezTo>
                  <a:pt x="6149" y="8891"/>
                  <a:pt x="6027" y="8836"/>
                  <a:pt x="5891" y="8836"/>
                </a:cubicBezTo>
                <a:cubicBezTo>
                  <a:pt x="5620" y="8836"/>
                  <a:pt x="5400" y="9056"/>
                  <a:pt x="5400" y="9327"/>
                </a:cubicBezTo>
                <a:cubicBezTo>
                  <a:pt x="5400" y="9463"/>
                  <a:pt x="5455" y="9585"/>
                  <a:pt x="5544" y="9675"/>
                </a:cubicBezTo>
                <a:lnTo>
                  <a:pt x="10453" y="14583"/>
                </a:lnTo>
                <a:cubicBezTo>
                  <a:pt x="10542" y="14672"/>
                  <a:pt x="10664" y="14727"/>
                  <a:pt x="10800" y="14727"/>
                </a:cubicBezTo>
                <a:cubicBezTo>
                  <a:pt x="10940" y="14727"/>
                  <a:pt x="11064" y="14668"/>
                  <a:pt x="11154" y="14574"/>
                </a:cubicBezTo>
                <a:lnTo>
                  <a:pt x="11155" y="14576"/>
                </a:lnTo>
                <a:lnTo>
                  <a:pt x="19353" y="5988"/>
                </a:lnTo>
                <a:cubicBezTo>
                  <a:pt x="19353" y="5989"/>
                  <a:pt x="19354" y="5990"/>
                  <a:pt x="19354" y="5991"/>
                </a:cubicBezTo>
                <a:lnTo>
                  <a:pt x="20055" y="5255"/>
                </a:lnTo>
                <a:cubicBezTo>
                  <a:pt x="20055" y="5255"/>
                  <a:pt x="20054" y="5254"/>
                  <a:pt x="20054" y="5253"/>
                </a:cubicBezTo>
                <a:lnTo>
                  <a:pt x="21464" y="3775"/>
                </a:lnTo>
                <a:lnTo>
                  <a:pt x="21463" y="3774"/>
                </a:lnTo>
                <a:cubicBezTo>
                  <a:pt x="21547" y="3686"/>
                  <a:pt x="21600" y="3567"/>
                  <a:pt x="21600" y="3436"/>
                </a:cubicBezTo>
                <a:cubicBezTo>
                  <a:pt x="21600" y="3166"/>
                  <a:pt x="21380" y="2945"/>
                  <a:pt x="21109" y="2945"/>
                </a:cubicBezTo>
                <a:cubicBezTo>
                  <a:pt x="20969" y="2945"/>
                  <a:pt x="20844" y="3005"/>
                  <a:pt x="20755" y="3099"/>
                </a:cubicBezTo>
                <a:lnTo>
                  <a:pt x="20754" y="3097"/>
                </a:lnTo>
                <a:lnTo>
                  <a:pt x="19493" y="4419"/>
                </a:lnTo>
                <a:cubicBezTo>
                  <a:pt x="19492" y="4418"/>
                  <a:pt x="19491" y="4416"/>
                  <a:pt x="19490" y="4415"/>
                </a:cubicBezTo>
                <a:lnTo>
                  <a:pt x="18805" y="5133"/>
                </a:lnTo>
                <a:cubicBezTo>
                  <a:pt x="18806" y="5134"/>
                  <a:pt x="18807" y="5136"/>
                  <a:pt x="18807" y="5137"/>
                </a:cubicBezTo>
                <a:cubicBezTo>
                  <a:pt x="18807" y="5137"/>
                  <a:pt x="10792" y="13534"/>
                  <a:pt x="10792" y="13534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32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7" name="Shape 2540">
            <a:extLst>
              <a:ext uri="{FF2B5EF4-FFF2-40B4-BE49-F238E27FC236}">
                <a16:creationId xmlns:a16="http://schemas.microsoft.com/office/drawing/2014/main" id="{8A5956B4-F56D-4391-B43A-5A1294CDBCD3}"/>
              </a:ext>
            </a:extLst>
          </p:cNvPr>
          <p:cNvSpPr/>
          <p:nvPr/>
        </p:nvSpPr>
        <p:spPr>
          <a:xfrm>
            <a:off x="6245361" y="4679977"/>
            <a:ext cx="358640" cy="42309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732" y="6661"/>
                </a:moveTo>
                <a:cubicBezTo>
                  <a:pt x="20540" y="6471"/>
                  <a:pt x="20228" y="6473"/>
                  <a:pt x="20038" y="6667"/>
                </a:cubicBezTo>
                <a:cubicBezTo>
                  <a:pt x="19903" y="6804"/>
                  <a:pt x="19870" y="7000"/>
                  <a:pt x="19929" y="7171"/>
                </a:cubicBezTo>
                <a:lnTo>
                  <a:pt x="19918" y="7175"/>
                </a:lnTo>
                <a:cubicBezTo>
                  <a:pt x="20365" y="8298"/>
                  <a:pt x="20618" y="951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cubicBezTo>
                  <a:pt x="5378" y="20618"/>
                  <a:pt x="982" y="16223"/>
                  <a:pt x="982" y="10800"/>
                </a:cubicBezTo>
                <a:cubicBezTo>
                  <a:pt x="982" y="5377"/>
                  <a:pt x="5378" y="982"/>
                  <a:pt x="10800" y="982"/>
                </a:cubicBezTo>
                <a:cubicBezTo>
                  <a:pt x="13575" y="982"/>
                  <a:pt x="16077" y="2136"/>
                  <a:pt x="17862" y="3989"/>
                </a:cubicBezTo>
                <a:lnTo>
                  <a:pt x="17868" y="3982"/>
                </a:lnTo>
                <a:cubicBezTo>
                  <a:pt x="18062" y="4157"/>
                  <a:pt x="18359" y="4153"/>
                  <a:pt x="18544" y="3965"/>
                </a:cubicBezTo>
                <a:cubicBezTo>
                  <a:pt x="18734" y="3771"/>
                  <a:pt x="18732" y="3461"/>
                  <a:pt x="18539" y="3270"/>
                </a:cubicBezTo>
                <a:cubicBezTo>
                  <a:pt x="18520" y="3252"/>
                  <a:pt x="18496" y="3244"/>
                  <a:pt x="18476" y="3230"/>
                </a:cubicBezTo>
                <a:cubicBezTo>
                  <a:pt x="16521" y="1241"/>
                  <a:pt x="13810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5" y="21600"/>
                  <a:pt x="21600" y="16764"/>
                  <a:pt x="21600" y="10800"/>
                </a:cubicBezTo>
                <a:cubicBezTo>
                  <a:pt x="21600" y="9412"/>
                  <a:pt x="21329" y="8089"/>
                  <a:pt x="20851" y="6869"/>
                </a:cubicBezTo>
                <a:cubicBezTo>
                  <a:pt x="20828" y="6794"/>
                  <a:pt x="20793" y="6721"/>
                  <a:pt x="20732" y="6661"/>
                </a:cubicBezTo>
                <a:moveTo>
                  <a:pt x="10792" y="13534"/>
                </a:moveTo>
                <a:lnTo>
                  <a:pt x="6238" y="8980"/>
                </a:lnTo>
                <a:cubicBezTo>
                  <a:pt x="6149" y="8891"/>
                  <a:pt x="6027" y="8836"/>
                  <a:pt x="5891" y="8836"/>
                </a:cubicBezTo>
                <a:cubicBezTo>
                  <a:pt x="5620" y="8836"/>
                  <a:pt x="5400" y="9056"/>
                  <a:pt x="5400" y="9327"/>
                </a:cubicBezTo>
                <a:cubicBezTo>
                  <a:pt x="5400" y="9463"/>
                  <a:pt x="5455" y="9585"/>
                  <a:pt x="5544" y="9675"/>
                </a:cubicBezTo>
                <a:lnTo>
                  <a:pt x="10453" y="14583"/>
                </a:lnTo>
                <a:cubicBezTo>
                  <a:pt x="10542" y="14672"/>
                  <a:pt x="10664" y="14727"/>
                  <a:pt x="10800" y="14727"/>
                </a:cubicBezTo>
                <a:cubicBezTo>
                  <a:pt x="10940" y="14727"/>
                  <a:pt x="11064" y="14668"/>
                  <a:pt x="11154" y="14574"/>
                </a:cubicBezTo>
                <a:lnTo>
                  <a:pt x="11155" y="14576"/>
                </a:lnTo>
                <a:lnTo>
                  <a:pt x="19353" y="5988"/>
                </a:lnTo>
                <a:cubicBezTo>
                  <a:pt x="19353" y="5989"/>
                  <a:pt x="19354" y="5990"/>
                  <a:pt x="19354" y="5991"/>
                </a:cubicBezTo>
                <a:lnTo>
                  <a:pt x="20055" y="5255"/>
                </a:lnTo>
                <a:cubicBezTo>
                  <a:pt x="20055" y="5255"/>
                  <a:pt x="20054" y="5254"/>
                  <a:pt x="20054" y="5253"/>
                </a:cubicBezTo>
                <a:lnTo>
                  <a:pt x="21464" y="3775"/>
                </a:lnTo>
                <a:lnTo>
                  <a:pt x="21463" y="3774"/>
                </a:lnTo>
                <a:cubicBezTo>
                  <a:pt x="21547" y="3686"/>
                  <a:pt x="21600" y="3567"/>
                  <a:pt x="21600" y="3436"/>
                </a:cubicBezTo>
                <a:cubicBezTo>
                  <a:pt x="21600" y="3166"/>
                  <a:pt x="21380" y="2945"/>
                  <a:pt x="21109" y="2945"/>
                </a:cubicBezTo>
                <a:cubicBezTo>
                  <a:pt x="20969" y="2945"/>
                  <a:pt x="20844" y="3005"/>
                  <a:pt x="20755" y="3099"/>
                </a:cubicBezTo>
                <a:lnTo>
                  <a:pt x="20754" y="3097"/>
                </a:lnTo>
                <a:lnTo>
                  <a:pt x="19493" y="4419"/>
                </a:lnTo>
                <a:cubicBezTo>
                  <a:pt x="19492" y="4418"/>
                  <a:pt x="19491" y="4416"/>
                  <a:pt x="19490" y="4415"/>
                </a:cubicBezTo>
                <a:lnTo>
                  <a:pt x="18805" y="5133"/>
                </a:lnTo>
                <a:cubicBezTo>
                  <a:pt x="18806" y="5134"/>
                  <a:pt x="18807" y="5136"/>
                  <a:pt x="18807" y="5137"/>
                </a:cubicBezTo>
                <a:cubicBezTo>
                  <a:pt x="18807" y="5137"/>
                  <a:pt x="10792" y="13534"/>
                  <a:pt x="10792" y="13534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32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61287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1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 tmFilter="0,0; .5, 1; 1, 1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34" grpId="0" animBg="1"/>
      <p:bldP spid="3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796415" y="4569886"/>
            <a:ext cx="3009900" cy="381000"/>
          </a:xfrm>
          <a:prstGeom prst="rect">
            <a:avLst/>
          </a:prstGeom>
          <a:solidFill>
            <a:srgbClr val="D78F8D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cap="flat" cmpd="sng">
                <a:solidFill>
                  <a:srgbClr val="395E8A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r>
              <a:rPr lang="zh-TW" altLang="en-US" dirty="0">
                <a:solidFill>
                  <a:srgbClr val="FFFFFF"/>
                </a:solidFill>
                <a:latin typeface="宋体" panose="02010600030101010101" pitchFamily="2" charset="-122"/>
              </a:rPr>
              <a:t>品牌認知</a:t>
            </a:r>
            <a:endParaRPr lang="zh-CN" altLang="en-US" dirty="0">
              <a:solidFill>
                <a:srgbClr val="FFFFFF"/>
              </a:solidFill>
              <a:latin typeface="宋体" panose="02010600030101010101" pitchFamily="2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7809865" y="4569886"/>
            <a:ext cx="3009900" cy="381000"/>
          </a:xfrm>
          <a:prstGeom prst="rect">
            <a:avLst/>
          </a:prstGeom>
          <a:solidFill>
            <a:srgbClr val="D78F8D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cap="flat" cmpd="sng">
                <a:solidFill>
                  <a:srgbClr val="395E8A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r>
              <a:rPr lang="zh-TW" altLang="en-US" dirty="0">
                <a:solidFill>
                  <a:srgbClr val="FFFFFF"/>
                </a:solidFill>
                <a:latin typeface="宋体" panose="02010600030101010101" pitchFamily="2" charset="-122"/>
              </a:rPr>
              <a:t>公司營運成本</a:t>
            </a:r>
            <a:endParaRPr lang="zh-CN" altLang="en-US" dirty="0">
              <a:solidFill>
                <a:srgbClr val="FFFFFF"/>
              </a:solidFill>
              <a:latin typeface="宋体" panose="02010600030101010101" pitchFamily="2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520190" y="5063450"/>
            <a:ext cx="356235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Clr>
                <a:srgbClr val="48A2A0"/>
              </a:buClr>
              <a:buFont typeface="Wingdings" panose="05000000000000000000" pitchFamily="2" charset="2"/>
              <a:buChar char="l"/>
            </a:pPr>
            <a:r>
              <a:rPr lang="zh-TW" altLang="en-US" sz="1400" dirty="0">
                <a:solidFill>
                  <a:srgbClr val="523A2C"/>
                </a:solidFill>
              </a:rPr>
              <a:t>按照一般人的購買習慣，在購買商品時，總是先在自己叫得出名字、外觀包裝也舒服的品牌中選購自己所需要的產品，所以，好名字，設計美觀的商標就是一項無形資產。</a:t>
            </a:r>
            <a:endParaRPr lang="en-US" altLang="zh-TW" sz="1400" dirty="0">
              <a:solidFill>
                <a:srgbClr val="523A2C"/>
              </a:solidFill>
            </a:endParaRPr>
          </a:p>
          <a:p>
            <a:pPr marL="285750" indent="-285750">
              <a:buClr>
                <a:srgbClr val="48A2A0"/>
              </a:buClr>
              <a:buFont typeface="Wingdings" panose="05000000000000000000" pitchFamily="2" charset="2"/>
              <a:buChar char="l"/>
            </a:pPr>
            <a:r>
              <a:rPr lang="zh-TW" altLang="en-US" sz="1400" dirty="0">
                <a:solidFill>
                  <a:srgbClr val="523A2C"/>
                </a:solidFill>
              </a:rPr>
              <a:t>前面幾家人壽保險公司的各項變數都較高</a:t>
            </a:r>
            <a:r>
              <a:rPr lang="en-US" altLang="zh-TW" sz="1400" dirty="0">
                <a:solidFill>
                  <a:srgbClr val="523A2C"/>
                </a:solidFill>
              </a:rPr>
              <a:t>(ex:</a:t>
            </a:r>
            <a:r>
              <a:rPr lang="zh-TW" altLang="en-US" sz="1400" dirty="0">
                <a:solidFill>
                  <a:srgbClr val="523A2C"/>
                </a:solidFill>
              </a:rPr>
              <a:t>知名度</a:t>
            </a:r>
            <a:r>
              <a:rPr lang="en-US" altLang="zh-TW" sz="1400" dirty="0">
                <a:solidFill>
                  <a:srgbClr val="523A2C"/>
                </a:solidFill>
              </a:rPr>
              <a:t>)</a:t>
            </a:r>
            <a:r>
              <a:rPr lang="zh-TW" altLang="en-US" sz="1400" dirty="0">
                <a:solidFill>
                  <a:srgbClr val="523A2C"/>
                </a:solidFill>
              </a:rPr>
              <a:t>，因此將主成分一定義為公司的品牌價值</a:t>
            </a:r>
            <a:endParaRPr lang="en-US" altLang="zh-TW" sz="1400" dirty="0">
              <a:solidFill>
                <a:srgbClr val="523A2C"/>
              </a:solidFill>
            </a:endParaRPr>
          </a:p>
          <a:p>
            <a:pPr marL="285750" indent="-285750">
              <a:buClr>
                <a:srgbClr val="48A2A0"/>
              </a:buClr>
              <a:buFont typeface="Wingdings" panose="05000000000000000000" pitchFamily="2" charset="2"/>
              <a:buChar char="l"/>
            </a:pPr>
            <a:endParaRPr lang="zh-CN" altLang="en-US" sz="1400" dirty="0">
              <a:solidFill>
                <a:srgbClr val="523A2C"/>
              </a:solidFill>
            </a:endParaRPr>
          </a:p>
        </p:txBody>
      </p:sp>
      <p:sp>
        <p:nvSpPr>
          <p:cNvPr id="9" name="矩形 8"/>
          <p:cNvSpPr/>
          <p:nvPr/>
        </p:nvSpPr>
        <p:spPr>
          <a:xfrm>
            <a:off x="7809865" y="5128498"/>
            <a:ext cx="356235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Clr>
                <a:srgbClr val="48A2A0"/>
              </a:buClr>
              <a:buFont typeface="Wingdings" panose="05000000000000000000" pitchFamily="2" charset="2"/>
              <a:buChar char="l"/>
            </a:pPr>
            <a:r>
              <a:rPr lang="en-US" altLang="zh-CN" sz="1400" dirty="0">
                <a:solidFill>
                  <a:srgbClr val="523A2C"/>
                </a:solidFill>
              </a:rPr>
              <a:t>To </a:t>
            </a:r>
            <a:r>
              <a:rPr lang="zh-TW" altLang="en-US" sz="1400" dirty="0">
                <a:solidFill>
                  <a:srgbClr val="523A2C"/>
                </a:solidFill>
              </a:rPr>
              <a:t>從左右兩張圖對照發現，前幾名公司，主成分右邊的值反而是低的</a:t>
            </a:r>
            <a:endParaRPr lang="en-US" altLang="zh-CN" sz="1400" dirty="0">
              <a:solidFill>
                <a:srgbClr val="523A2C"/>
              </a:solidFill>
            </a:endParaRPr>
          </a:p>
        </p:txBody>
      </p:sp>
      <p:graphicFrame>
        <p:nvGraphicFramePr>
          <p:cNvPr id="11" name="圖表 10">
            <a:extLst>
              <a:ext uri="{FF2B5EF4-FFF2-40B4-BE49-F238E27FC236}">
                <a16:creationId xmlns:a16="http://schemas.microsoft.com/office/drawing/2014/main" id="{1F19536F-C6DB-4286-82BB-9234527021B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89949415"/>
              </p:ext>
            </p:extLst>
          </p:nvPr>
        </p:nvGraphicFramePr>
        <p:xfrm>
          <a:off x="120636" y="708561"/>
          <a:ext cx="6097189" cy="37487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2" name="圖表 11">
            <a:extLst>
              <a:ext uri="{FF2B5EF4-FFF2-40B4-BE49-F238E27FC236}">
                <a16:creationId xmlns:a16="http://schemas.microsoft.com/office/drawing/2014/main" id="{5E3E3D56-5821-4586-B9BC-E0C1FD321FE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2210441"/>
              </p:ext>
            </p:extLst>
          </p:nvPr>
        </p:nvGraphicFramePr>
        <p:xfrm>
          <a:off x="6441440" y="653811"/>
          <a:ext cx="5854253" cy="37487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0723166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圖表 11">
            <a:extLst>
              <a:ext uri="{FF2B5EF4-FFF2-40B4-BE49-F238E27FC236}">
                <a16:creationId xmlns:a16="http://schemas.microsoft.com/office/drawing/2014/main" id="{74377954-8BA5-417E-95D9-70D26E3C631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85342614"/>
              </p:ext>
            </p:extLst>
          </p:nvPr>
        </p:nvGraphicFramePr>
        <p:xfrm>
          <a:off x="1828800" y="684028"/>
          <a:ext cx="9322889" cy="54899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3" name="文字方塊 12">
            <a:extLst>
              <a:ext uri="{FF2B5EF4-FFF2-40B4-BE49-F238E27FC236}">
                <a16:creationId xmlns:a16="http://schemas.microsoft.com/office/drawing/2014/main" id="{75918966-A399-49E9-A7E0-1049BE6FEAFC}"/>
              </a:ext>
            </a:extLst>
          </p:cNvPr>
          <p:cNvSpPr txBox="1"/>
          <p:nvPr/>
        </p:nvSpPr>
        <p:spPr>
          <a:xfrm>
            <a:off x="5479313" y="6046932"/>
            <a:ext cx="1509823" cy="343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TW" sz="1400" dirty="0">
                <a:latin typeface="Arial" panose="020B0604020202020204" pitchFamily="34" charset="0"/>
                <a:ea typeface="微软雅黑" panose="020B0503020204020204" pitchFamily="34" charset="-122"/>
              </a:rPr>
              <a:t>FAC1_1</a:t>
            </a:r>
            <a:endParaRPr lang="zh-TW" altLang="en-US" sz="1400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89A35331-313A-4078-AFD8-0B28DFC1AC30}"/>
              </a:ext>
            </a:extLst>
          </p:cNvPr>
          <p:cNvSpPr txBox="1"/>
          <p:nvPr/>
        </p:nvSpPr>
        <p:spPr>
          <a:xfrm>
            <a:off x="6712688" y="6046932"/>
            <a:ext cx="1509823" cy="343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TW" sz="1400" dirty="0">
                <a:latin typeface="Arial" panose="020B0604020202020204" pitchFamily="34" charset="0"/>
                <a:ea typeface="微软雅黑" panose="020B0503020204020204" pitchFamily="34" charset="-122"/>
              </a:rPr>
              <a:t>FAC2_1</a:t>
            </a:r>
            <a:endParaRPr lang="zh-TW" altLang="en-US" sz="1400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166609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cx1="http://schemas.microsoft.com/office/drawing/2015/9/8/chartex" Requires="cx1">
          <p:graphicFrame>
            <p:nvGraphicFramePr>
              <p:cNvPr id="6" name="圖表 5">
                <a:extLst>
                  <a:ext uri="{FF2B5EF4-FFF2-40B4-BE49-F238E27FC236}">
                    <a16:creationId xmlns:a16="http://schemas.microsoft.com/office/drawing/2014/main" id="{C7D2E851-8D5F-4141-B420-C3EDF2BF0735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4001758461"/>
                  </p:ext>
                </p:extLst>
              </p:nvPr>
            </p:nvGraphicFramePr>
            <p:xfrm>
              <a:off x="595571" y="303027"/>
              <a:ext cx="4813300" cy="2927349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2"/>
              </a:graphicData>
            </a:graphic>
          </p:graphicFrame>
        </mc:Choice>
        <mc:Fallback>
          <p:pic>
            <p:nvPicPr>
              <p:cNvPr id="6" name="圖表 5">
                <a:extLst>
                  <a:ext uri="{FF2B5EF4-FFF2-40B4-BE49-F238E27FC236}">
                    <a16:creationId xmlns:a16="http://schemas.microsoft.com/office/drawing/2014/main" id="{C7D2E851-8D5F-4141-B420-C3EDF2BF0735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95571" y="303027"/>
                <a:ext cx="4813300" cy="292734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cx1="http://schemas.microsoft.com/office/drawing/2015/9/8/chartex" Requires="cx1">
          <p:graphicFrame>
            <p:nvGraphicFramePr>
              <p:cNvPr id="7" name="圖表 6">
                <a:extLst>
                  <a:ext uri="{FF2B5EF4-FFF2-40B4-BE49-F238E27FC236}">
                    <a16:creationId xmlns:a16="http://schemas.microsoft.com/office/drawing/2014/main" id="{F564FC2F-647F-4E5D-8DB6-F56F5C668486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3112898155"/>
                  </p:ext>
                </p:extLst>
              </p:nvPr>
            </p:nvGraphicFramePr>
            <p:xfrm>
              <a:off x="6435949" y="405957"/>
              <a:ext cx="4813300" cy="2927350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4"/>
              </a:graphicData>
            </a:graphic>
          </p:graphicFrame>
        </mc:Choice>
        <mc:Fallback>
          <p:pic>
            <p:nvPicPr>
              <p:cNvPr id="7" name="圖表 6">
                <a:extLst>
                  <a:ext uri="{FF2B5EF4-FFF2-40B4-BE49-F238E27FC236}">
                    <a16:creationId xmlns:a16="http://schemas.microsoft.com/office/drawing/2014/main" id="{F564FC2F-647F-4E5D-8DB6-F56F5C668486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435949" y="405957"/>
                <a:ext cx="4813300" cy="2927350"/>
              </a:xfrm>
              <a:prstGeom prst="rect">
                <a:avLst/>
              </a:prstGeom>
            </p:spPr>
          </p:pic>
        </mc:Fallback>
      </mc:AlternateContent>
      <p:graphicFrame>
        <p:nvGraphicFramePr>
          <p:cNvPr id="10" name="圖表 9">
            <a:extLst>
              <a:ext uri="{FF2B5EF4-FFF2-40B4-BE49-F238E27FC236}">
                <a16:creationId xmlns:a16="http://schemas.microsoft.com/office/drawing/2014/main" id="{21DB3423-DBE7-4F44-B739-3EE5255552F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45280661"/>
              </p:ext>
            </p:extLst>
          </p:nvPr>
        </p:nvGraphicFramePr>
        <p:xfrm>
          <a:off x="722570" y="3333307"/>
          <a:ext cx="5033482" cy="346089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11" name="圖表 10">
            <a:extLst>
              <a:ext uri="{FF2B5EF4-FFF2-40B4-BE49-F238E27FC236}">
                <a16:creationId xmlns:a16="http://schemas.microsoft.com/office/drawing/2014/main" id="{5DF09441-2853-4769-A80C-0A9A04DA1BD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63733446"/>
              </p:ext>
            </p:extLst>
          </p:nvPr>
        </p:nvGraphicFramePr>
        <p:xfrm>
          <a:off x="6198338" y="3429000"/>
          <a:ext cx="5271091" cy="323761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2" name="文字方塊 1">
            <a:extLst>
              <a:ext uri="{FF2B5EF4-FFF2-40B4-BE49-F238E27FC236}">
                <a16:creationId xmlns:a16="http://schemas.microsoft.com/office/drawing/2014/main" id="{64EF9098-0CB8-4E6A-A657-1790E7413151}"/>
              </a:ext>
            </a:extLst>
          </p:cNvPr>
          <p:cNvSpPr txBox="1"/>
          <p:nvPr/>
        </p:nvSpPr>
        <p:spPr>
          <a:xfrm>
            <a:off x="8842599" y="2887141"/>
            <a:ext cx="925033" cy="343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TW" sz="1400" dirty="0">
                <a:latin typeface="Arial" panose="020B0604020202020204" pitchFamily="34" charset="0"/>
                <a:ea typeface="微软雅黑" panose="020B0503020204020204" pitchFamily="34" charset="-122"/>
              </a:rPr>
              <a:t>FAC2_1</a:t>
            </a:r>
            <a:endParaRPr lang="zh-TW" altLang="en-US" sz="1400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466083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椭圆 18"/>
          <p:cNvSpPr/>
          <p:nvPr/>
        </p:nvSpPr>
        <p:spPr>
          <a:xfrm>
            <a:off x="10146278" y="603916"/>
            <a:ext cx="402696" cy="402696"/>
          </a:xfrm>
          <a:prstGeom prst="ellipse">
            <a:avLst/>
          </a:prstGeom>
          <a:solidFill>
            <a:srgbClr val="D78F8E"/>
          </a:solidFill>
          <a:ln>
            <a:noFill/>
          </a:ln>
          <a:effectLst>
            <a:reflection stA="45000" endPos="30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 17"/>
          <p:cNvSpPr/>
          <p:nvPr/>
        </p:nvSpPr>
        <p:spPr>
          <a:xfrm rot="10800000" flipV="1">
            <a:off x="-11575" y="1249680"/>
            <a:ext cx="7251614" cy="5654361"/>
          </a:xfrm>
          <a:custGeom>
            <a:avLst/>
            <a:gdLst>
              <a:gd name="connsiteX0" fmla="*/ 4052585 w 7495569"/>
              <a:gd name="connsiteY0" fmla="*/ 0 h 5760400"/>
              <a:gd name="connsiteX1" fmla="*/ 7413052 w 7495569"/>
              <a:gd name="connsiteY1" fmla="*/ 1786746 h 5760400"/>
              <a:gd name="connsiteX2" fmla="*/ 7495569 w 7495569"/>
              <a:gd name="connsiteY2" fmla="*/ 1922573 h 5760400"/>
              <a:gd name="connsiteX3" fmla="*/ 7495569 w 7495569"/>
              <a:gd name="connsiteY3" fmla="*/ 5760400 h 5760400"/>
              <a:gd name="connsiteX4" fmla="*/ 381273 w 7495569"/>
              <a:gd name="connsiteY4" fmla="*/ 5760400 h 5760400"/>
              <a:gd name="connsiteX5" fmla="*/ 318473 w 7495569"/>
              <a:gd name="connsiteY5" fmla="*/ 5630034 h 5760400"/>
              <a:gd name="connsiteX6" fmla="*/ 0 w 7495569"/>
              <a:gd name="connsiteY6" fmla="*/ 4052585 h 5760400"/>
              <a:gd name="connsiteX7" fmla="*/ 4052585 w 7495569"/>
              <a:gd name="connsiteY7" fmla="*/ 0 h 5760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495569" h="5760400">
                <a:moveTo>
                  <a:pt x="4052585" y="0"/>
                </a:moveTo>
                <a:cubicBezTo>
                  <a:pt x="5451448" y="0"/>
                  <a:pt x="6684773" y="708752"/>
                  <a:pt x="7413052" y="1786746"/>
                </a:cubicBezTo>
                <a:lnTo>
                  <a:pt x="7495569" y="1922573"/>
                </a:lnTo>
                <a:lnTo>
                  <a:pt x="7495569" y="5760400"/>
                </a:lnTo>
                <a:lnTo>
                  <a:pt x="381273" y="5760400"/>
                </a:lnTo>
                <a:lnTo>
                  <a:pt x="318473" y="5630034"/>
                </a:lnTo>
                <a:cubicBezTo>
                  <a:pt x="113401" y="5145190"/>
                  <a:pt x="0" y="4612131"/>
                  <a:pt x="0" y="4052585"/>
                </a:cubicBezTo>
                <a:cubicBezTo>
                  <a:pt x="0" y="1814404"/>
                  <a:pt x="1814404" y="0"/>
                  <a:pt x="4052585" y="0"/>
                </a:cubicBezTo>
                <a:close/>
              </a:path>
            </a:pathLst>
          </a:custGeom>
          <a:solidFill>
            <a:srgbClr val="F6E8E7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1366162" y="3141485"/>
            <a:ext cx="4977408" cy="16927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1150624">
              <a:spcBef>
                <a:spcPct val="20000"/>
              </a:spcBef>
            </a:pPr>
            <a:r>
              <a:rPr lang="en-US" altLang="zh-CN" sz="8000" kern="0" dirty="0">
                <a:solidFill>
                  <a:schemeClr val="accent1">
                    <a:lumMod val="5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Project1</a:t>
            </a:r>
          </a:p>
          <a:p>
            <a:pPr defTabSz="1150624">
              <a:spcBef>
                <a:spcPct val="20000"/>
              </a:spcBef>
            </a:pPr>
            <a:r>
              <a:rPr lang="en-US" altLang="zh-CN" kern="0" dirty="0">
                <a:solidFill>
                  <a:schemeClr val="accent1">
                    <a:lumMod val="5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105306002</a:t>
            </a:r>
            <a:r>
              <a:rPr lang="zh-TW" altLang="en-US" kern="0" dirty="0">
                <a:solidFill>
                  <a:schemeClr val="accent1">
                    <a:lumMod val="5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林貞妮</a:t>
            </a:r>
            <a:endParaRPr lang="en-US" altLang="zh-CN" kern="0" dirty="0">
              <a:solidFill>
                <a:schemeClr val="accent1">
                  <a:lumMod val="50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11" name="椭圆 4"/>
          <p:cNvSpPr>
            <a:spLocks noChangeArrowheads="1"/>
          </p:cNvSpPr>
          <p:nvPr/>
        </p:nvSpPr>
        <p:spPr bwMode="auto">
          <a:xfrm>
            <a:off x="8852147" y="1923873"/>
            <a:ext cx="625475" cy="625475"/>
          </a:xfrm>
          <a:prstGeom prst="ellipse">
            <a:avLst/>
          </a:prstGeom>
          <a:solidFill>
            <a:srgbClr val="ECCBCA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cap="flat" cmpd="sng">
                <a:solidFill>
                  <a:srgbClr val="395E8A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13" name="椭圆 5"/>
          <p:cNvSpPr>
            <a:spLocks noChangeArrowheads="1"/>
          </p:cNvSpPr>
          <p:nvPr/>
        </p:nvSpPr>
        <p:spPr bwMode="auto">
          <a:xfrm>
            <a:off x="8975754" y="2047480"/>
            <a:ext cx="378260" cy="378260"/>
          </a:xfrm>
          <a:prstGeom prst="ellipse">
            <a:avLst/>
          </a:prstGeom>
          <a:solidFill>
            <a:srgbClr val="D78F8D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cap="flat" cmpd="sng">
                <a:solidFill>
                  <a:srgbClr val="395E8A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14" name="椭圆 8"/>
          <p:cNvSpPr>
            <a:spLocks noChangeArrowheads="1"/>
          </p:cNvSpPr>
          <p:nvPr/>
        </p:nvSpPr>
        <p:spPr bwMode="auto">
          <a:xfrm>
            <a:off x="8663016" y="4159073"/>
            <a:ext cx="625475" cy="625475"/>
          </a:xfrm>
          <a:prstGeom prst="ellipse">
            <a:avLst/>
          </a:prstGeom>
          <a:solidFill>
            <a:srgbClr val="ECCBCA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cap="flat" cmpd="sng">
                <a:solidFill>
                  <a:srgbClr val="395E8A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15" name="椭圆 7"/>
          <p:cNvSpPr>
            <a:spLocks noChangeArrowheads="1"/>
          </p:cNvSpPr>
          <p:nvPr/>
        </p:nvSpPr>
        <p:spPr bwMode="auto">
          <a:xfrm>
            <a:off x="6256585" y="1711148"/>
            <a:ext cx="2860675" cy="2860675"/>
          </a:xfrm>
          <a:prstGeom prst="ellipse">
            <a:avLst/>
          </a:prstGeom>
          <a:solidFill>
            <a:srgbClr val="D78F8E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cap="flat" cmpd="sng">
                <a:solidFill>
                  <a:srgbClr val="395E8A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17" name="椭圆 9"/>
          <p:cNvSpPr>
            <a:spLocks noChangeArrowheads="1"/>
          </p:cNvSpPr>
          <p:nvPr/>
        </p:nvSpPr>
        <p:spPr bwMode="auto">
          <a:xfrm>
            <a:off x="6466563" y="4693852"/>
            <a:ext cx="312737" cy="312737"/>
          </a:xfrm>
          <a:prstGeom prst="ellipse">
            <a:avLst/>
          </a:prstGeom>
          <a:solidFill>
            <a:srgbClr val="ECCBCA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cap="flat" cmpd="sng">
                <a:solidFill>
                  <a:srgbClr val="395E8A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21" name="椭圆 29"/>
          <p:cNvSpPr>
            <a:spLocks noChangeArrowheads="1"/>
          </p:cNvSpPr>
          <p:nvPr/>
        </p:nvSpPr>
        <p:spPr bwMode="auto">
          <a:xfrm>
            <a:off x="9368085" y="5149673"/>
            <a:ext cx="341312" cy="341312"/>
          </a:xfrm>
          <a:prstGeom prst="ellipse">
            <a:avLst/>
          </a:prstGeom>
          <a:solidFill>
            <a:srgbClr val="E5B8B7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cap="flat" cmpd="sng">
                <a:solidFill>
                  <a:srgbClr val="395E8A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22" name="椭圆 30"/>
          <p:cNvSpPr>
            <a:spLocks noChangeArrowheads="1"/>
          </p:cNvSpPr>
          <p:nvPr/>
        </p:nvSpPr>
        <p:spPr bwMode="auto">
          <a:xfrm>
            <a:off x="9435536" y="5217124"/>
            <a:ext cx="206410" cy="206410"/>
          </a:xfrm>
          <a:prstGeom prst="ellipse">
            <a:avLst/>
          </a:prstGeom>
          <a:solidFill>
            <a:srgbClr val="D78F8D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cap="flat" cmpd="sng">
                <a:solidFill>
                  <a:srgbClr val="395E8A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23" name="椭圆 32"/>
          <p:cNvSpPr>
            <a:spLocks noChangeArrowheads="1"/>
          </p:cNvSpPr>
          <p:nvPr/>
        </p:nvSpPr>
        <p:spPr bwMode="auto">
          <a:xfrm>
            <a:off x="8267947" y="5071885"/>
            <a:ext cx="169863" cy="171450"/>
          </a:xfrm>
          <a:prstGeom prst="ellipse">
            <a:avLst/>
          </a:prstGeom>
          <a:solidFill>
            <a:srgbClr val="E5B8B7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cap="flat" cmpd="sng">
                <a:solidFill>
                  <a:srgbClr val="395E8A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24" name="椭圆 33"/>
          <p:cNvSpPr>
            <a:spLocks noChangeArrowheads="1"/>
          </p:cNvSpPr>
          <p:nvPr/>
        </p:nvSpPr>
        <p:spPr bwMode="auto">
          <a:xfrm>
            <a:off x="8301516" y="5105767"/>
            <a:ext cx="102726" cy="103685"/>
          </a:xfrm>
          <a:prstGeom prst="ellipse">
            <a:avLst/>
          </a:prstGeom>
          <a:solidFill>
            <a:srgbClr val="D78F8D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cap="flat" cmpd="sng">
                <a:solidFill>
                  <a:srgbClr val="395E8A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25" name="椭圆 39"/>
          <p:cNvSpPr>
            <a:spLocks noChangeArrowheads="1"/>
          </p:cNvSpPr>
          <p:nvPr/>
        </p:nvSpPr>
        <p:spPr bwMode="auto">
          <a:xfrm>
            <a:off x="1053221" y="5423534"/>
            <a:ext cx="298450" cy="298450"/>
          </a:xfrm>
          <a:prstGeom prst="ellipse">
            <a:avLst/>
          </a:prstGeom>
          <a:solidFill>
            <a:srgbClr val="E5B8B7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cap="flat" cmpd="sng">
                <a:solidFill>
                  <a:srgbClr val="395E8A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26" name="椭圆 40"/>
          <p:cNvSpPr>
            <a:spLocks noChangeArrowheads="1"/>
          </p:cNvSpPr>
          <p:nvPr/>
        </p:nvSpPr>
        <p:spPr bwMode="auto">
          <a:xfrm>
            <a:off x="1112202" y="5490985"/>
            <a:ext cx="180489" cy="180489"/>
          </a:xfrm>
          <a:prstGeom prst="ellipse">
            <a:avLst/>
          </a:prstGeom>
          <a:solidFill>
            <a:srgbClr val="D78F8D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cap="flat" cmpd="sng">
                <a:solidFill>
                  <a:srgbClr val="395E8A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7029439" y="2925802"/>
            <a:ext cx="2646878" cy="70788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TW" altLang="en-US" sz="4000" spc="600" dirty="0">
                <a:solidFill>
                  <a:schemeClr val="bg1"/>
                </a:solidFill>
                <a:latin typeface="造字工房悦黑（非商用）常规体" pitchFamily="50" charset="-122"/>
                <a:ea typeface="造字工房悦黑（非商用）常规体" pitchFamily="50" charset="-122"/>
              </a:rPr>
              <a:t>手機</a:t>
            </a:r>
            <a:endParaRPr lang="zh-CN" altLang="en-US" sz="4000" spc="600" dirty="0">
              <a:solidFill>
                <a:schemeClr val="bg1"/>
              </a:solidFill>
              <a:latin typeface="造字工房悦黑（非商用）常规体" pitchFamily="50" charset="-122"/>
              <a:ea typeface="造字工房悦黑（非商用）常规体" pitchFamily="50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519997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ight Triangle 2"/>
          <p:cNvSpPr/>
          <p:nvPr/>
        </p:nvSpPr>
        <p:spPr>
          <a:xfrm>
            <a:off x="1588" y="3508401"/>
            <a:ext cx="6255834" cy="3356517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solidFill>
                <a:schemeClr val="bg1">
                  <a:lumMod val="95000"/>
                </a:schemeClr>
              </a:solidFill>
              <a:latin typeface="Montserrat" charset="0"/>
              <a:ea typeface="Montserrat" charset="0"/>
              <a:cs typeface="Montserrat" charset="0"/>
            </a:endParaRPr>
          </a:p>
        </p:txBody>
      </p:sp>
      <p:sp>
        <p:nvSpPr>
          <p:cNvPr id="30" name="Oval 29"/>
          <p:cNvSpPr/>
          <p:nvPr/>
        </p:nvSpPr>
        <p:spPr>
          <a:xfrm>
            <a:off x="7202964" y="3136740"/>
            <a:ext cx="561144" cy="561144"/>
          </a:xfrm>
          <a:prstGeom prst="ellipse">
            <a:avLst/>
          </a:prstGeom>
          <a:solidFill>
            <a:srgbClr val="EDD1CF"/>
          </a:solidFill>
          <a:ln>
            <a:noFill/>
          </a:ln>
          <a:effectLst>
            <a:reflection stA="40000" endPos="30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Shape 2629"/>
          <p:cNvSpPr/>
          <p:nvPr/>
        </p:nvSpPr>
        <p:spPr>
          <a:xfrm>
            <a:off x="7348622" y="3288929"/>
            <a:ext cx="279405" cy="279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441" y="20618"/>
                </a:moveTo>
                <a:cubicBezTo>
                  <a:pt x="15826" y="20618"/>
                  <a:pt x="15226" y="20482"/>
                  <a:pt x="14660" y="20214"/>
                </a:cubicBezTo>
                <a:cubicBezTo>
                  <a:pt x="14607" y="20189"/>
                  <a:pt x="14552" y="20170"/>
                  <a:pt x="14497" y="20155"/>
                </a:cubicBezTo>
                <a:cubicBezTo>
                  <a:pt x="8918" y="17308"/>
                  <a:pt x="4295" y="12685"/>
                  <a:pt x="1448" y="7105"/>
                </a:cubicBezTo>
                <a:cubicBezTo>
                  <a:pt x="1432" y="7048"/>
                  <a:pt x="1412" y="6991"/>
                  <a:pt x="1386" y="6936"/>
                </a:cubicBezTo>
                <a:cubicBezTo>
                  <a:pt x="1117" y="6369"/>
                  <a:pt x="982" y="5770"/>
                  <a:pt x="982" y="5155"/>
                </a:cubicBezTo>
                <a:cubicBezTo>
                  <a:pt x="982" y="2774"/>
                  <a:pt x="3066" y="982"/>
                  <a:pt x="4417" y="982"/>
                </a:cubicBezTo>
                <a:cubicBezTo>
                  <a:pt x="4594" y="982"/>
                  <a:pt x="4711" y="1072"/>
                  <a:pt x="4764" y="1126"/>
                </a:cubicBezTo>
                <a:cubicBezTo>
                  <a:pt x="4776" y="1139"/>
                  <a:pt x="4798" y="1164"/>
                  <a:pt x="4831" y="1216"/>
                </a:cubicBezTo>
                <a:cubicBezTo>
                  <a:pt x="4848" y="1244"/>
                  <a:pt x="4867" y="1271"/>
                  <a:pt x="4887" y="1297"/>
                </a:cubicBezTo>
                <a:lnTo>
                  <a:pt x="8118" y="5453"/>
                </a:lnTo>
                <a:cubicBezTo>
                  <a:pt x="8143" y="5485"/>
                  <a:pt x="8170" y="5515"/>
                  <a:pt x="8199" y="5544"/>
                </a:cubicBezTo>
                <a:cubicBezTo>
                  <a:pt x="8253" y="5598"/>
                  <a:pt x="8343" y="5715"/>
                  <a:pt x="8343" y="5891"/>
                </a:cubicBezTo>
                <a:cubicBezTo>
                  <a:pt x="8343" y="5978"/>
                  <a:pt x="8319" y="6060"/>
                  <a:pt x="8272" y="6135"/>
                </a:cubicBezTo>
                <a:lnTo>
                  <a:pt x="7178" y="7221"/>
                </a:lnTo>
                <a:cubicBezTo>
                  <a:pt x="7173" y="7226"/>
                  <a:pt x="7168" y="7231"/>
                  <a:pt x="7163" y="7236"/>
                </a:cubicBezTo>
                <a:cubicBezTo>
                  <a:pt x="6767" y="7609"/>
                  <a:pt x="6541" y="8126"/>
                  <a:pt x="6541" y="8668"/>
                </a:cubicBezTo>
                <a:cubicBezTo>
                  <a:pt x="6541" y="9175"/>
                  <a:pt x="6738" y="9658"/>
                  <a:pt x="7080" y="10020"/>
                </a:cubicBezTo>
                <a:cubicBezTo>
                  <a:pt x="7092" y="10040"/>
                  <a:pt x="7105" y="10059"/>
                  <a:pt x="7119" y="10078"/>
                </a:cubicBezTo>
                <a:cubicBezTo>
                  <a:pt x="8325" y="11745"/>
                  <a:pt x="9807" y="13222"/>
                  <a:pt x="11525" y="14469"/>
                </a:cubicBezTo>
                <a:cubicBezTo>
                  <a:pt x="11538" y="14478"/>
                  <a:pt x="11551" y="14487"/>
                  <a:pt x="11565" y="14496"/>
                </a:cubicBezTo>
                <a:cubicBezTo>
                  <a:pt x="11928" y="14844"/>
                  <a:pt x="12414" y="15045"/>
                  <a:pt x="12924" y="15045"/>
                </a:cubicBezTo>
                <a:cubicBezTo>
                  <a:pt x="13436" y="15045"/>
                  <a:pt x="13930" y="14840"/>
                  <a:pt x="14297" y="14479"/>
                </a:cubicBezTo>
                <a:cubicBezTo>
                  <a:pt x="14316" y="14463"/>
                  <a:pt x="14335" y="14446"/>
                  <a:pt x="14352" y="14427"/>
                </a:cubicBezTo>
                <a:lnTo>
                  <a:pt x="15451" y="13320"/>
                </a:lnTo>
                <a:cubicBezTo>
                  <a:pt x="15529" y="13271"/>
                  <a:pt x="15611" y="13247"/>
                  <a:pt x="15697" y="13247"/>
                </a:cubicBezTo>
                <a:cubicBezTo>
                  <a:pt x="15874" y="13247"/>
                  <a:pt x="15990" y="13337"/>
                  <a:pt x="16044" y="13391"/>
                </a:cubicBezTo>
                <a:cubicBezTo>
                  <a:pt x="16073" y="13420"/>
                  <a:pt x="16103" y="13447"/>
                  <a:pt x="16135" y="13472"/>
                </a:cubicBezTo>
                <a:lnTo>
                  <a:pt x="20291" y="16704"/>
                </a:lnTo>
                <a:cubicBezTo>
                  <a:pt x="20317" y="16725"/>
                  <a:pt x="20345" y="16744"/>
                  <a:pt x="20374" y="16762"/>
                </a:cubicBezTo>
                <a:cubicBezTo>
                  <a:pt x="20426" y="16795"/>
                  <a:pt x="20449" y="16816"/>
                  <a:pt x="20461" y="16827"/>
                </a:cubicBezTo>
                <a:cubicBezTo>
                  <a:pt x="20515" y="16881"/>
                  <a:pt x="20605" y="16997"/>
                  <a:pt x="20605" y="17174"/>
                </a:cubicBezTo>
                <a:cubicBezTo>
                  <a:pt x="20605" y="17207"/>
                  <a:pt x="20606" y="17240"/>
                  <a:pt x="20610" y="17273"/>
                </a:cubicBezTo>
                <a:cubicBezTo>
                  <a:pt x="20533" y="18625"/>
                  <a:pt x="18769" y="20618"/>
                  <a:pt x="16441" y="20618"/>
                </a:cubicBezTo>
                <a:moveTo>
                  <a:pt x="21586" y="17174"/>
                </a:moveTo>
                <a:cubicBezTo>
                  <a:pt x="21586" y="16768"/>
                  <a:pt x="21421" y="16399"/>
                  <a:pt x="21155" y="16133"/>
                </a:cubicBezTo>
                <a:cubicBezTo>
                  <a:pt x="21077" y="16054"/>
                  <a:pt x="20988" y="15988"/>
                  <a:pt x="20893" y="15929"/>
                </a:cubicBezTo>
                <a:lnTo>
                  <a:pt x="16738" y="12697"/>
                </a:lnTo>
                <a:cubicBezTo>
                  <a:pt x="16471" y="12430"/>
                  <a:pt x="16104" y="12265"/>
                  <a:pt x="15697" y="12265"/>
                </a:cubicBezTo>
                <a:cubicBezTo>
                  <a:pt x="15364" y="12265"/>
                  <a:pt x="15060" y="12380"/>
                  <a:pt x="14815" y="12567"/>
                </a:cubicBezTo>
                <a:lnTo>
                  <a:pt x="13655" y="13736"/>
                </a:lnTo>
                <a:lnTo>
                  <a:pt x="13652" y="13733"/>
                </a:lnTo>
                <a:cubicBezTo>
                  <a:pt x="13473" y="13934"/>
                  <a:pt x="13214" y="14063"/>
                  <a:pt x="12924" y="14063"/>
                </a:cubicBezTo>
                <a:cubicBezTo>
                  <a:pt x="12592" y="14063"/>
                  <a:pt x="12300" y="13897"/>
                  <a:pt x="12122" y="13645"/>
                </a:cubicBezTo>
                <a:cubicBezTo>
                  <a:pt x="12116" y="13654"/>
                  <a:pt x="12107" y="13663"/>
                  <a:pt x="12101" y="13674"/>
                </a:cubicBezTo>
                <a:cubicBezTo>
                  <a:pt x="10497" y="12510"/>
                  <a:pt x="9076" y="11108"/>
                  <a:pt x="7914" y="9502"/>
                </a:cubicBezTo>
                <a:cubicBezTo>
                  <a:pt x="7925" y="9495"/>
                  <a:pt x="7935" y="9486"/>
                  <a:pt x="7947" y="9479"/>
                </a:cubicBezTo>
                <a:cubicBezTo>
                  <a:pt x="7691" y="9299"/>
                  <a:pt x="7523" y="9004"/>
                  <a:pt x="7523" y="8668"/>
                </a:cubicBezTo>
                <a:cubicBezTo>
                  <a:pt x="7523" y="8367"/>
                  <a:pt x="7659" y="8101"/>
                  <a:pt x="7871" y="7920"/>
                </a:cubicBezTo>
                <a:lnTo>
                  <a:pt x="7870" y="7918"/>
                </a:lnTo>
                <a:lnTo>
                  <a:pt x="9023" y="6773"/>
                </a:lnTo>
                <a:cubicBezTo>
                  <a:pt x="9211" y="6528"/>
                  <a:pt x="9325" y="6224"/>
                  <a:pt x="9325" y="5891"/>
                </a:cubicBezTo>
                <a:cubicBezTo>
                  <a:pt x="9325" y="5485"/>
                  <a:pt x="9160" y="5116"/>
                  <a:pt x="8893" y="4850"/>
                </a:cubicBezTo>
                <a:lnTo>
                  <a:pt x="5662" y="693"/>
                </a:lnTo>
                <a:cubicBezTo>
                  <a:pt x="5603" y="599"/>
                  <a:pt x="5537" y="510"/>
                  <a:pt x="5458" y="432"/>
                </a:cubicBezTo>
                <a:cubicBezTo>
                  <a:pt x="5191" y="165"/>
                  <a:pt x="4823" y="0"/>
                  <a:pt x="4417" y="0"/>
                </a:cubicBezTo>
                <a:cubicBezTo>
                  <a:pt x="2454" y="0"/>
                  <a:pt x="0" y="2308"/>
                  <a:pt x="0" y="5155"/>
                </a:cubicBezTo>
                <a:cubicBezTo>
                  <a:pt x="0" y="5943"/>
                  <a:pt x="183" y="6688"/>
                  <a:pt x="499" y="7356"/>
                </a:cubicBezTo>
                <a:lnTo>
                  <a:pt x="482" y="7373"/>
                </a:lnTo>
                <a:cubicBezTo>
                  <a:pt x="3435" y="13255"/>
                  <a:pt x="8343" y="18164"/>
                  <a:pt x="14224" y="21117"/>
                </a:cubicBezTo>
                <a:lnTo>
                  <a:pt x="14240" y="21101"/>
                </a:lnTo>
                <a:cubicBezTo>
                  <a:pt x="14908" y="21418"/>
                  <a:pt x="15652" y="21600"/>
                  <a:pt x="16441" y="21600"/>
                </a:cubicBezTo>
                <a:cubicBezTo>
                  <a:pt x="19287" y="21600"/>
                  <a:pt x="21594" y="19145"/>
                  <a:pt x="21594" y="17182"/>
                </a:cubicBezTo>
                <a:cubicBezTo>
                  <a:pt x="21594" y="17179"/>
                  <a:pt x="21594" y="17177"/>
                  <a:pt x="21594" y="17174"/>
                </a:cubicBezTo>
                <a:cubicBezTo>
                  <a:pt x="21594" y="17174"/>
                  <a:pt x="21586" y="17174"/>
                  <a:pt x="21586" y="17174"/>
                </a:cubicBezTo>
                <a:close/>
                <a:moveTo>
                  <a:pt x="11785" y="10800"/>
                </a:moveTo>
                <a:cubicBezTo>
                  <a:pt x="12326" y="10800"/>
                  <a:pt x="12766" y="10360"/>
                  <a:pt x="12766" y="9819"/>
                </a:cubicBezTo>
                <a:cubicBezTo>
                  <a:pt x="12766" y="9276"/>
                  <a:pt x="12326" y="8836"/>
                  <a:pt x="11785" y="8836"/>
                </a:cubicBezTo>
                <a:cubicBezTo>
                  <a:pt x="11242" y="8836"/>
                  <a:pt x="10803" y="9276"/>
                  <a:pt x="10803" y="9819"/>
                </a:cubicBezTo>
                <a:cubicBezTo>
                  <a:pt x="10803" y="10360"/>
                  <a:pt x="11242" y="10800"/>
                  <a:pt x="11785" y="10800"/>
                </a:cubicBezTo>
                <a:moveTo>
                  <a:pt x="11785" y="5891"/>
                </a:moveTo>
                <a:cubicBezTo>
                  <a:pt x="13953" y="5891"/>
                  <a:pt x="15711" y="7649"/>
                  <a:pt x="15711" y="9819"/>
                </a:cubicBezTo>
                <a:cubicBezTo>
                  <a:pt x="15711" y="10090"/>
                  <a:pt x="15930" y="10309"/>
                  <a:pt x="16201" y="10309"/>
                </a:cubicBezTo>
                <a:cubicBezTo>
                  <a:pt x="16472" y="10309"/>
                  <a:pt x="16692" y="10090"/>
                  <a:pt x="16692" y="9819"/>
                </a:cubicBezTo>
                <a:cubicBezTo>
                  <a:pt x="16692" y="7107"/>
                  <a:pt x="14495" y="4909"/>
                  <a:pt x="11785" y="4909"/>
                </a:cubicBezTo>
                <a:cubicBezTo>
                  <a:pt x="11513" y="4909"/>
                  <a:pt x="11294" y="5129"/>
                  <a:pt x="11294" y="5400"/>
                </a:cubicBezTo>
                <a:cubicBezTo>
                  <a:pt x="11294" y="5672"/>
                  <a:pt x="11513" y="5891"/>
                  <a:pt x="11785" y="5891"/>
                </a:cubicBezTo>
                <a:moveTo>
                  <a:pt x="11785" y="982"/>
                </a:moveTo>
                <a:cubicBezTo>
                  <a:pt x="16663" y="982"/>
                  <a:pt x="20618" y="4939"/>
                  <a:pt x="20618" y="9819"/>
                </a:cubicBezTo>
                <a:cubicBezTo>
                  <a:pt x="20618" y="10090"/>
                  <a:pt x="20838" y="10309"/>
                  <a:pt x="21109" y="10309"/>
                </a:cubicBezTo>
                <a:cubicBezTo>
                  <a:pt x="21380" y="10309"/>
                  <a:pt x="21600" y="10090"/>
                  <a:pt x="21600" y="9819"/>
                </a:cubicBezTo>
                <a:cubicBezTo>
                  <a:pt x="21600" y="4396"/>
                  <a:pt x="17206" y="0"/>
                  <a:pt x="11785" y="0"/>
                </a:cubicBezTo>
                <a:cubicBezTo>
                  <a:pt x="11513" y="0"/>
                  <a:pt x="11294" y="220"/>
                  <a:pt x="11294" y="491"/>
                </a:cubicBezTo>
                <a:cubicBezTo>
                  <a:pt x="11294" y="762"/>
                  <a:pt x="11513" y="982"/>
                  <a:pt x="11785" y="982"/>
                </a:cubicBezTo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32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/>
          </a:p>
        </p:txBody>
      </p:sp>
      <p:sp>
        <p:nvSpPr>
          <p:cNvPr id="32" name="Shape 2840"/>
          <p:cNvSpPr/>
          <p:nvPr/>
        </p:nvSpPr>
        <p:spPr>
          <a:xfrm>
            <a:off x="6805621" y="4762188"/>
            <a:ext cx="279328" cy="25393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20520"/>
                </a:moveTo>
                <a:lnTo>
                  <a:pt x="982" y="20520"/>
                </a:lnTo>
                <a:lnTo>
                  <a:pt x="982" y="14040"/>
                </a:lnTo>
                <a:lnTo>
                  <a:pt x="6907" y="14040"/>
                </a:lnTo>
                <a:cubicBezTo>
                  <a:pt x="7149" y="16170"/>
                  <a:pt x="8798" y="17820"/>
                  <a:pt x="10800" y="17820"/>
                </a:cubicBezTo>
                <a:cubicBezTo>
                  <a:pt x="12802" y="17820"/>
                  <a:pt x="14451" y="16170"/>
                  <a:pt x="14693" y="14040"/>
                </a:cubicBezTo>
                <a:lnTo>
                  <a:pt x="20618" y="14040"/>
                </a:lnTo>
                <a:cubicBezTo>
                  <a:pt x="20618" y="14040"/>
                  <a:pt x="20618" y="20520"/>
                  <a:pt x="20618" y="20520"/>
                </a:cubicBezTo>
                <a:close/>
                <a:moveTo>
                  <a:pt x="21544" y="13261"/>
                </a:moveTo>
                <a:lnTo>
                  <a:pt x="21548" y="13259"/>
                </a:lnTo>
                <a:lnTo>
                  <a:pt x="16639" y="2459"/>
                </a:lnTo>
                <a:lnTo>
                  <a:pt x="16635" y="2461"/>
                </a:lnTo>
                <a:cubicBezTo>
                  <a:pt x="16554" y="2284"/>
                  <a:pt x="16392" y="2160"/>
                  <a:pt x="16200" y="2160"/>
                </a:cubicBezTo>
                <a:lnTo>
                  <a:pt x="15709" y="2160"/>
                </a:lnTo>
                <a:cubicBezTo>
                  <a:pt x="15438" y="2160"/>
                  <a:pt x="15218" y="2402"/>
                  <a:pt x="15218" y="2700"/>
                </a:cubicBezTo>
                <a:cubicBezTo>
                  <a:pt x="15218" y="2999"/>
                  <a:pt x="15438" y="3240"/>
                  <a:pt x="15709" y="3240"/>
                </a:cubicBezTo>
                <a:lnTo>
                  <a:pt x="15897" y="3240"/>
                </a:lnTo>
                <a:lnTo>
                  <a:pt x="20315" y="12960"/>
                </a:lnTo>
                <a:lnTo>
                  <a:pt x="14236" y="12960"/>
                </a:lnTo>
                <a:cubicBezTo>
                  <a:pt x="13965" y="12960"/>
                  <a:pt x="13745" y="13202"/>
                  <a:pt x="13745" y="13500"/>
                </a:cubicBezTo>
                <a:cubicBezTo>
                  <a:pt x="13745" y="15290"/>
                  <a:pt x="12426" y="16740"/>
                  <a:pt x="10800" y="16740"/>
                </a:cubicBezTo>
                <a:cubicBezTo>
                  <a:pt x="9173" y="16740"/>
                  <a:pt x="7855" y="15290"/>
                  <a:pt x="7855" y="13500"/>
                </a:cubicBezTo>
                <a:cubicBezTo>
                  <a:pt x="7855" y="13202"/>
                  <a:pt x="7635" y="12960"/>
                  <a:pt x="7364" y="12960"/>
                </a:cubicBezTo>
                <a:lnTo>
                  <a:pt x="1285" y="12960"/>
                </a:lnTo>
                <a:lnTo>
                  <a:pt x="5703" y="3240"/>
                </a:lnTo>
                <a:lnTo>
                  <a:pt x="5891" y="3240"/>
                </a:lnTo>
                <a:cubicBezTo>
                  <a:pt x="6162" y="3240"/>
                  <a:pt x="6382" y="2999"/>
                  <a:pt x="6382" y="2700"/>
                </a:cubicBezTo>
                <a:cubicBezTo>
                  <a:pt x="6382" y="2402"/>
                  <a:pt x="6162" y="2160"/>
                  <a:pt x="5891" y="2160"/>
                </a:cubicBezTo>
                <a:lnTo>
                  <a:pt x="5400" y="2160"/>
                </a:lnTo>
                <a:cubicBezTo>
                  <a:pt x="5208" y="2160"/>
                  <a:pt x="5046" y="2284"/>
                  <a:pt x="4966" y="2461"/>
                </a:cubicBezTo>
                <a:lnTo>
                  <a:pt x="4961" y="2459"/>
                </a:lnTo>
                <a:lnTo>
                  <a:pt x="52" y="13259"/>
                </a:lnTo>
                <a:lnTo>
                  <a:pt x="57" y="13261"/>
                </a:lnTo>
                <a:cubicBezTo>
                  <a:pt x="23" y="13334"/>
                  <a:pt x="0" y="13413"/>
                  <a:pt x="0" y="13500"/>
                </a:cubicBezTo>
                <a:lnTo>
                  <a:pt x="0" y="21060"/>
                </a:lnTo>
                <a:cubicBezTo>
                  <a:pt x="0" y="21359"/>
                  <a:pt x="220" y="21600"/>
                  <a:pt x="491" y="21600"/>
                </a:cubicBezTo>
                <a:lnTo>
                  <a:pt x="21109" y="21600"/>
                </a:lnTo>
                <a:cubicBezTo>
                  <a:pt x="21380" y="21600"/>
                  <a:pt x="21600" y="21359"/>
                  <a:pt x="21600" y="21060"/>
                </a:cubicBezTo>
                <a:lnTo>
                  <a:pt x="21600" y="13500"/>
                </a:lnTo>
                <a:cubicBezTo>
                  <a:pt x="21600" y="13413"/>
                  <a:pt x="21577" y="13334"/>
                  <a:pt x="21544" y="13261"/>
                </a:cubicBezTo>
                <a:moveTo>
                  <a:pt x="7855" y="4320"/>
                </a:moveTo>
                <a:cubicBezTo>
                  <a:pt x="7990" y="4320"/>
                  <a:pt x="8113" y="4260"/>
                  <a:pt x="8202" y="4162"/>
                </a:cubicBezTo>
                <a:lnTo>
                  <a:pt x="10309" y="1844"/>
                </a:lnTo>
                <a:lnTo>
                  <a:pt x="10309" y="12420"/>
                </a:lnTo>
                <a:cubicBezTo>
                  <a:pt x="10309" y="12719"/>
                  <a:pt x="10529" y="12960"/>
                  <a:pt x="10800" y="12960"/>
                </a:cubicBezTo>
                <a:cubicBezTo>
                  <a:pt x="11071" y="12960"/>
                  <a:pt x="11291" y="12719"/>
                  <a:pt x="11291" y="12420"/>
                </a:cubicBezTo>
                <a:lnTo>
                  <a:pt x="11291" y="1844"/>
                </a:lnTo>
                <a:lnTo>
                  <a:pt x="13398" y="4162"/>
                </a:lnTo>
                <a:cubicBezTo>
                  <a:pt x="13487" y="4260"/>
                  <a:pt x="13610" y="4320"/>
                  <a:pt x="13745" y="4320"/>
                </a:cubicBezTo>
                <a:cubicBezTo>
                  <a:pt x="14017" y="4320"/>
                  <a:pt x="14236" y="4079"/>
                  <a:pt x="14236" y="3780"/>
                </a:cubicBezTo>
                <a:cubicBezTo>
                  <a:pt x="14236" y="3631"/>
                  <a:pt x="14181" y="3497"/>
                  <a:pt x="14093" y="3398"/>
                </a:cubicBezTo>
                <a:lnTo>
                  <a:pt x="11147" y="158"/>
                </a:lnTo>
                <a:cubicBezTo>
                  <a:pt x="11058" y="61"/>
                  <a:pt x="10936" y="0"/>
                  <a:pt x="10800" y="0"/>
                </a:cubicBezTo>
                <a:cubicBezTo>
                  <a:pt x="10664" y="0"/>
                  <a:pt x="10542" y="61"/>
                  <a:pt x="10453" y="158"/>
                </a:cubicBezTo>
                <a:lnTo>
                  <a:pt x="7507" y="3398"/>
                </a:lnTo>
                <a:cubicBezTo>
                  <a:pt x="7419" y="3497"/>
                  <a:pt x="7364" y="3631"/>
                  <a:pt x="7364" y="3780"/>
                </a:cubicBezTo>
                <a:cubicBezTo>
                  <a:pt x="7364" y="4079"/>
                  <a:pt x="7583" y="4320"/>
                  <a:pt x="7855" y="4320"/>
                </a:cubicBezTo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32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/>
          </a:p>
        </p:txBody>
      </p:sp>
      <p:sp>
        <p:nvSpPr>
          <p:cNvPr id="73" name="椭圆 72"/>
          <p:cNvSpPr/>
          <p:nvPr/>
        </p:nvSpPr>
        <p:spPr>
          <a:xfrm>
            <a:off x="598717" y="215506"/>
            <a:ext cx="1299101" cy="1299101"/>
          </a:xfrm>
          <a:prstGeom prst="ellipse">
            <a:avLst/>
          </a:prstGeom>
          <a:solidFill>
            <a:srgbClr val="F6E8E7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5" name="椭圆 74"/>
          <p:cNvSpPr/>
          <p:nvPr/>
        </p:nvSpPr>
        <p:spPr>
          <a:xfrm>
            <a:off x="401423" y="951826"/>
            <a:ext cx="524547" cy="524547"/>
          </a:xfrm>
          <a:prstGeom prst="ellipse">
            <a:avLst/>
          </a:prstGeom>
          <a:solidFill>
            <a:srgbClr val="EDD1CF"/>
          </a:solidFill>
          <a:ln>
            <a:noFill/>
          </a:ln>
          <a:effectLst>
            <a:reflection stA="40000" endPos="30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6" name="矩形 75"/>
          <p:cNvSpPr/>
          <p:nvPr/>
        </p:nvSpPr>
        <p:spPr>
          <a:xfrm>
            <a:off x="1289670" y="584937"/>
            <a:ext cx="3621504" cy="190821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</a:pPr>
            <a:r>
              <a:rPr lang="zh-TW" altLang="en-US" sz="3600" b="1" dirty="0">
                <a:solidFill>
                  <a:srgbClr val="523A2C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分析結果</a:t>
            </a:r>
            <a:r>
              <a:rPr lang="en-US" altLang="zh-TW" sz="3600" b="1" dirty="0">
                <a:solidFill>
                  <a:srgbClr val="523A2C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-</a:t>
            </a:r>
            <a:r>
              <a:rPr lang="zh-TW" altLang="en-US" sz="2800" dirty="0">
                <a:solidFill>
                  <a:srgbClr val="523A2C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觀察變數</a:t>
            </a:r>
            <a:endParaRPr lang="en-US" altLang="zh-TW" sz="3600" dirty="0">
              <a:solidFill>
                <a:srgbClr val="523A2C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  <a:p>
            <a:pPr>
              <a:spcBef>
                <a:spcPts val="600"/>
              </a:spcBef>
            </a:pPr>
            <a:endParaRPr lang="en-US" altLang="zh-TW" sz="3600" b="1" dirty="0">
              <a:solidFill>
                <a:srgbClr val="523A2C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  <a:p>
            <a:pPr>
              <a:spcBef>
                <a:spcPts val="600"/>
              </a:spcBef>
            </a:pPr>
            <a:endParaRPr lang="en-US" altLang="zh-CN" sz="3600" dirty="0">
              <a:solidFill>
                <a:srgbClr val="4F392B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71" name="文字方塊 70">
            <a:extLst>
              <a:ext uri="{FF2B5EF4-FFF2-40B4-BE49-F238E27FC236}">
                <a16:creationId xmlns:a16="http://schemas.microsoft.com/office/drawing/2014/main" id="{BB5711CE-7BE6-4E30-B829-B69E56CA6BF0}"/>
              </a:ext>
            </a:extLst>
          </p:cNvPr>
          <p:cNvSpPr txBox="1"/>
          <p:nvPr/>
        </p:nvSpPr>
        <p:spPr>
          <a:xfrm>
            <a:off x="7900404" y="3136740"/>
            <a:ext cx="38693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手機</a:t>
            </a:r>
            <a:r>
              <a:rPr lang="en-US" altLang="zh-TW" dirty="0">
                <a:latin typeface="华文细黑" panose="02010600040101010101" pitchFamily="2" charset="-122"/>
                <a:ea typeface="华文细黑" panose="02010600040101010101" pitchFamily="2" charset="-122"/>
              </a:rPr>
              <a:t>(</a:t>
            </a:r>
            <a:r>
              <a:rPr lang="zh-TW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提示卡</a:t>
            </a:r>
            <a:r>
              <a:rPr lang="en-US" altLang="zh-TW" dirty="0">
                <a:latin typeface="华文细黑" panose="02010600040101010101" pitchFamily="2" charset="-122"/>
                <a:ea typeface="华文细黑" panose="02010600040101010101" pitchFamily="2" charset="-122"/>
              </a:rPr>
              <a:t>)</a:t>
            </a:r>
            <a:r>
              <a:rPr lang="zh-TW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的平均值較大</a:t>
            </a:r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A0708F58-3974-4B93-A5C9-52CB2ABFA814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68607" y="1539044"/>
            <a:ext cx="6005683" cy="5130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53439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1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 tmFilter="0,0; .5, 1; 1, 1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" grpId="0" animBg="1"/>
      <p:bldP spid="75" grpId="0" animBg="1"/>
      <p:bldP spid="76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ight Triangle 2"/>
          <p:cNvSpPr/>
          <p:nvPr/>
        </p:nvSpPr>
        <p:spPr>
          <a:xfrm>
            <a:off x="1588" y="3508401"/>
            <a:ext cx="6255834" cy="3356517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solidFill>
                <a:schemeClr val="bg1">
                  <a:lumMod val="95000"/>
                </a:schemeClr>
              </a:solidFill>
              <a:latin typeface="Montserrat" charset="0"/>
              <a:ea typeface="Montserrat" charset="0"/>
              <a:cs typeface="Montserrat" charset="0"/>
            </a:endParaRPr>
          </a:p>
        </p:txBody>
      </p:sp>
      <p:sp>
        <p:nvSpPr>
          <p:cNvPr id="27" name="Oval 26"/>
          <p:cNvSpPr/>
          <p:nvPr/>
        </p:nvSpPr>
        <p:spPr>
          <a:xfrm>
            <a:off x="7089776" y="2617858"/>
            <a:ext cx="561144" cy="561144"/>
          </a:xfrm>
          <a:prstGeom prst="ellipse">
            <a:avLst/>
          </a:prstGeom>
          <a:solidFill>
            <a:srgbClr val="EDD1CF"/>
          </a:solidFill>
          <a:ln>
            <a:noFill/>
          </a:ln>
          <a:effectLst>
            <a:reflection stA="40000" endPos="30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Shape 2629"/>
          <p:cNvSpPr/>
          <p:nvPr/>
        </p:nvSpPr>
        <p:spPr>
          <a:xfrm>
            <a:off x="6810371" y="3356946"/>
            <a:ext cx="279405" cy="279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441" y="20618"/>
                </a:moveTo>
                <a:cubicBezTo>
                  <a:pt x="15826" y="20618"/>
                  <a:pt x="15226" y="20482"/>
                  <a:pt x="14660" y="20214"/>
                </a:cubicBezTo>
                <a:cubicBezTo>
                  <a:pt x="14607" y="20189"/>
                  <a:pt x="14552" y="20170"/>
                  <a:pt x="14497" y="20155"/>
                </a:cubicBezTo>
                <a:cubicBezTo>
                  <a:pt x="8918" y="17308"/>
                  <a:pt x="4295" y="12685"/>
                  <a:pt x="1448" y="7105"/>
                </a:cubicBezTo>
                <a:cubicBezTo>
                  <a:pt x="1432" y="7048"/>
                  <a:pt x="1412" y="6991"/>
                  <a:pt x="1386" y="6936"/>
                </a:cubicBezTo>
                <a:cubicBezTo>
                  <a:pt x="1117" y="6369"/>
                  <a:pt x="982" y="5770"/>
                  <a:pt x="982" y="5155"/>
                </a:cubicBezTo>
                <a:cubicBezTo>
                  <a:pt x="982" y="2774"/>
                  <a:pt x="3066" y="982"/>
                  <a:pt x="4417" y="982"/>
                </a:cubicBezTo>
                <a:cubicBezTo>
                  <a:pt x="4594" y="982"/>
                  <a:pt x="4711" y="1072"/>
                  <a:pt x="4764" y="1126"/>
                </a:cubicBezTo>
                <a:cubicBezTo>
                  <a:pt x="4776" y="1139"/>
                  <a:pt x="4798" y="1164"/>
                  <a:pt x="4831" y="1216"/>
                </a:cubicBezTo>
                <a:cubicBezTo>
                  <a:pt x="4848" y="1244"/>
                  <a:pt x="4867" y="1271"/>
                  <a:pt x="4887" y="1297"/>
                </a:cubicBezTo>
                <a:lnTo>
                  <a:pt x="8118" y="5453"/>
                </a:lnTo>
                <a:cubicBezTo>
                  <a:pt x="8143" y="5485"/>
                  <a:pt x="8170" y="5515"/>
                  <a:pt x="8199" y="5544"/>
                </a:cubicBezTo>
                <a:cubicBezTo>
                  <a:pt x="8253" y="5598"/>
                  <a:pt x="8343" y="5715"/>
                  <a:pt x="8343" y="5891"/>
                </a:cubicBezTo>
                <a:cubicBezTo>
                  <a:pt x="8343" y="5978"/>
                  <a:pt x="8319" y="6060"/>
                  <a:pt x="8272" y="6135"/>
                </a:cubicBezTo>
                <a:lnTo>
                  <a:pt x="7178" y="7221"/>
                </a:lnTo>
                <a:cubicBezTo>
                  <a:pt x="7173" y="7226"/>
                  <a:pt x="7168" y="7231"/>
                  <a:pt x="7163" y="7236"/>
                </a:cubicBezTo>
                <a:cubicBezTo>
                  <a:pt x="6767" y="7609"/>
                  <a:pt x="6541" y="8126"/>
                  <a:pt x="6541" y="8668"/>
                </a:cubicBezTo>
                <a:cubicBezTo>
                  <a:pt x="6541" y="9175"/>
                  <a:pt x="6738" y="9658"/>
                  <a:pt x="7080" y="10020"/>
                </a:cubicBezTo>
                <a:cubicBezTo>
                  <a:pt x="7092" y="10040"/>
                  <a:pt x="7105" y="10059"/>
                  <a:pt x="7119" y="10078"/>
                </a:cubicBezTo>
                <a:cubicBezTo>
                  <a:pt x="8325" y="11745"/>
                  <a:pt x="9807" y="13222"/>
                  <a:pt x="11525" y="14469"/>
                </a:cubicBezTo>
                <a:cubicBezTo>
                  <a:pt x="11538" y="14478"/>
                  <a:pt x="11551" y="14487"/>
                  <a:pt x="11565" y="14496"/>
                </a:cubicBezTo>
                <a:cubicBezTo>
                  <a:pt x="11928" y="14844"/>
                  <a:pt x="12414" y="15045"/>
                  <a:pt x="12924" y="15045"/>
                </a:cubicBezTo>
                <a:cubicBezTo>
                  <a:pt x="13436" y="15045"/>
                  <a:pt x="13930" y="14840"/>
                  <a:pt x="14297" y="14479"/>
                </a:cubicBezTo>
                <a:cubicBezTo>
                  <a:pt x="14316" y="14463"/>
                  <a:pt x="14335" y="14446"/>
                  <a:pt x="14352" y="14427"/>
                </a:cubicBezTo>
                <a:lnTo>
                  <a:pt x="15451" y="13320"/>
                </a:lnTo>
                <a:cubicBezTo>
                  <a:pt x="15529" y="13271"/>
                  <a:pt x="15611" y="13247"/>
                  <a:pt x="15697" y="13247"/>
                </a:cubicBezTo>
                <a:cubicBezTo>
                  <a:pt x="15874" y="13247"/>
                  <a:pt x="15990" y="13337"/>
                  <a:pt x="16044" y="13391"/>
                </a:cubicBezTo>
                <a:cubicBezTo>
                  <a:pt x="16073" y="13420"/>
                  <a:pt x="16103" y="13447"/>
                  <a:pt x="16135" y="13472"/>
                </a:cubicBezTo>
                <a:lnTo>
                  <a:pt x="20291" y="16704"/>
                </a:lnTo>
                <a:cubicBezTo>
                  <a:pt x="20317" y="16725"/>
                  <a:pt x="20345" y="16744"/>
                  <a:pt x="20374" y="16762"/>
                </a:cubicBezTo>
                <a:cubicBezTo>
                  <a:pt x="20426" y="16795"/>
                  <a:pt x="20449" y="16816"/>
                  <a:pt x="20461" y="16827"/>
                </a:cubicBezTo>
                <a:cubicBezTo>
                  <a:pt x="20515" y="16881"/>
                  <a:pt x="20605" y="16997"/>
                  <a:pt x="20605" y="17174"/>
                </a:cubicBezTo>
                <a:cubicBezTo>
                  <a:pt x="20605" y="17207"/>
                  <a:pt x="20606" y="17240"/>
                  <a:pt x="20610" y="17273"/>
                </a:cubicBezTo>
                <a:cubicBezTo>
                  <a:pt x="20533" y="18625"/>
                  <a:pt x="18769" y="20618"/>
                  <a:pt x="16441" y="20618"/>
                </a:cubicBezTo>
                <a:moveTo>
                  <a:pt x="21586" y="17174"/>
                </a:moveTo>
                <a:cubicBezTo>
                  <a:pt x="21586" y="16768"/>
                  <a:pt x="21421" y="16399"/>
                  <a:pt x="21155" y="16133"/>
                </a:cubicBezTo>
                <a:cubicBezTo>
                  <a:pt x="21077" y="16054"/>
                  <a:pt x="20988" y="15988"/>
                  <a:pt x="20893" y="15929"/>
                </a:cubicBezTo>
                <a:lnTo>
                  <a:pt x="16738" y="12697"/>
                </a:lnTo>
                <a:cubicBezTo>
                  <a:pt x="16471" y="12430"/>
                  <a:pt x="16104" y="12265"/>
                  <a:pt x="15697" y="12265"/>
                </a:cubicBezTo>
                <a:cubicBezTo>
                  <a:pt x="15364" y="12265"/>
                  <a:pt x="15060" y="12380"/>
                  <a:pt x="14815" y="12567"/>
                </a:cubicBezTo>
                <a:lnTo>
                  <a:pt x="13655" y="13736"/>
                </a:lnTo>
                <a:lnTo>
                  <a:pt x="13652" y="13733"/>
                </a:lnTo>
                <a:cubicBezTo>
                  <a:pt x="13473" y="13934"/>
                  <a:pt x="13214" y="14063"/>
                  <a:pt x="12924" y="14063"/>
                </a:cubicBezTo>
                <a:cubicBezTo>
                  <a:pt x="12592" y="14063"/>
                  <a:pt x="12300" y="13897"/>
                  <a:pt x="12122" y="13645"/>
                </a:cubicBezTo>
                <a:cubicBezTo>
                  <a:pt x="12116" y="13654"/>
                  <a:pt x="12107" y="13663"/>
                  <a:pt x="12101" y="13674"/>
                </a:cubicBezTo>
                <a:cubicBezTo>
                  <a:pt x="10497" y="12510"/>
                  <a:pt x="9076" y="11108"/>
                  <a:pt x="7914" y="9502"/>
                </a:cubicBezTo>
                <a:cubicBezTo>
                  <a:pt x="7925" y="9495"/>
                  <a:pt x="7935" y="9486"/>
                  <a:pt x="7947" y="9479"/>
                </a:cubicBezTo>
                <a:cubicBezTo>
                  <a:pt x="7691" y="9299"/>
                  <a:pt x="7523" y="9004"/>
                  <a:pt x="7523" y="8668"/>
                </a:cubicBezTo>
                <a:cubicBezTo>
                  <a:pt x="7523" y="8367"/>
                  <a:pt x="7659" y="8101"/>
                  <a:pt x="7871" y="7920"/>
                </a:cubicBezTo>
                <a:lnTo>
                  <a:pt x="7870" y="7918"/>
                </a:lnTo>
                <a:lnTo>
                  <a:pt x="9023" y="6773"/>
                </a:lnTo>
                <a:cubicBezTo>
                  <a:pt x="9211" y="6528"/>
                  <a:pt x="9325" y="6224"/>
                  <a:pt x="9325" y="5891"/>
                </a:cubicBezTo>
                <a:cubicBezTo>
                  <a:pt x="9325" y="5485"/>
                  <a:pt x="9160" y="5116"/>
                  <a:pt x="8893" y="4850"/>
                </a:cubicBezTo>
                <a:lnTo>
                  <a:pt x="5662" y="693"/>
                </a:lnTo>
                <a:cubicBezTo>
                  <a:pt x="5603" y="599"/>
                  <a:pt x="5537" y="510"/>
                  <a:pt x="5458" y="432"/>
                </a:cubicBezTo>
                <a:cubicBezTo>
                  <a:pt x="5191" y="165"/>
                  <a:pt x="4823" y="0"/>
                  <a:pt x="4417" y="0"/>
                </a:cubicBezTo>
                <a:cubicBezTo>
                  <a:pt x="2454" y="0"/>
                  <a:pt x="0" y="2308"/>
                  <a:pt x="0" y="5155"/>
                </a:cubicBezTo>
                <a:cubicBezTo>
                  <a:pt x="0" y="5943"/>
                  <a:pt x="183" y="6688"/>
                  <a:pt x="499" y="7356"/>
                </a:cubicBezTo>
                <a:lnTo>
                  <a:pt x="482" y="7373"/>
                </a:lnTo>
                <a:cubicBezTo>
                  <a:pt x="3435" y="13255"/>
                  <a:pt x="8343" y="18164"/>
                  <a:pt x="14224" y="21117"/>
                </a:cubicBezTo>
                <a:lnTo>
                  <a:pt x="14240" y="21101"/>
                </a:lnTo>
                <a:cubicBezTo>
                  <a:pt x="14908" y="21418"/>
                  <a:pt x="15652" y="21600"/>
                  <a:pt x="16441" y="21600"/>
                </a:cubicBezTo>
                <a:cubicBezTo>
                  <a:pt x="19287" y="21600"/>
                  <a:pt x="21594" y="19145"/>
                  <a:pt x="21594" y="17182"/>
                </a:cubicBezTo>
                <a:cubicBezTo>
                  <a:pt x="21594" y="17179"/>
                  <a:pt x="21594" y="17177"/>
                  <a:pt x="21594" y="17174"/>
                </a:cubicBezTo>
                <a:cubicBezTo>
                  <a:pt x="21594" y="17174"/>
                  <a:pt x="21586" y="17174"/>
                  <a:pt x="21586" y="17174"/>
                </a:cubicBezTo>
                <a:close/>
                <a:moveTo>
                  <a:pt x="11785" y="10800"/>
                </a:moveTo>
                <a:cubicBezTo>
                  <a:pt x="12326" y="10800"/>
                  <a:pt x="12766" y="10360"/>
                  <a:pt x="12766" y="9819"/>
                </a:cubicBezTo>
                <a:cubicBezTo>
                  <a:pt x="12766" y="9276"/>
                  <a:pt x="12326" y="8836"/>
                  <a:pt x="11785" y="8836"/>
                </a:cubicBezTo>
                <a:cubicBezTo>
                  <a:pt x="11242" y="8836"/>
                  <a:pt x="10803" y="9276"/>
                  <a:pt x="10803" y="9819"/>
                </a:cubicBezTo>
                <a:cubicBezTo>
                  <a:pt x="10803" y="10360"/>
                  <a:pt x="11242" y="10800"/>
                  <a:pt x="11785" y="10800"/>
                </a:cubicBezTo>
                <a:moveTo>
                  <a:pt x="11785" y="5891"/>
                </a:moveTo>
                <a:cubicBezTo>
                  <a:pt x="13953" y="5891"/>
                  <a:pt x="15711" y="7649"/>
                  <a:pt x="15711" y="9819"/>
                </a:cubicBezTo>
                <a:cubicBezTo>
                  <a:pt x="15711" y="10090"/>
                  <a:pt x="15930" y="10309"/>
                  <a:pt x="16201" y="10309"/>
                </a:cubicBezTo>
                <a:cubicBezTo>
                  <a:pt x="16472" y="10309"/>
                  <a:pt x="16692" y="10090"/>
                  <a:pt x="16692" y="9819"/>
                </a:cubicBezTo>
                <a:cubicBezTo>
                  <a:pt x="16692" y="7107"/>
                  <a:pt x="14495" y="4909"/>
                  <a:pt x="11785" y="4909"/>
                </a:cubicBezTo>
                <a:cubicBezTo>
                  <a:pt x="11513" y="4909"/>
                  <a:pt x="11294" y="5129"/>
                  <a:pt x="11294" y="5400"/>
                </a:cubicBezTo>
                <a:cubicBezTo>
                  <a:pt x="11294" y="5672"/>
                  <a:pt x="11513" y="5891"/>
                  <a:pt x="11785" y="5891"/>
                </a:cubicBezTo>
                <a:moveTo>
                  <a:pt x="11785" y="982"/>
                </a:moveTo>
                <a:cubicBezTo>
                  <a:pt x="16663" y="982"/>
                  <a:pt x="20618" y="4939"/>
                  <a:pt x="20618" y="9819"/>
                </a:cubicBezTo>
                <a:cubicBezTo>
                  <a:pt x="20618" y="10090"/>
                  <a:pt x="20838" y="10309"/>
                  <a:pt x="21109" y="10309"/>
                </a:cubicBezTo>
                <a:cubicBezTo>
                  <a:pt x="21380" y="10309"/>
                  <a:pt x="21600" y="10090"/>
                  <a:pt x="21600" y="9819"/>
                </a:cubicBezTo>
                <a:cubicBezTo>
                  <a:pt x="21600" y="4396"/>
                  <a:pt x="17206" y="0"/>
                  <a:pt x="11785" y="0"/>
                </a:cubicBezTo>
                <a:cubicBezTo>
                  <a:pt x="11513" y="0"/>
                  <a:pt x="11294" y="220"/>
                  <a:pt x="11294" y="491"/>
                </a:cubicBezTo>
                <a:cubicBezTo>
                  <a:pt x="11294" y="762"/>
                  <a:pt x="11513" y="982"/>
                  <a:pt x="11785" y="982"/>
                </a:cubicBezTo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32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/>
          </a:p>
        </p:txBody>
      </p:sp>
      <p:sp>
        <p:nvSpPr>
          <p:cNvPr id="32" name="Shape 2840"/>
          <p:cNvSpPr/>
          <p:nvPr/>
        </p:nvSpPr>
        <p:spPr>
          <a:xfrm>
            <a:off x="7230684" y="2771463"/>
            <a:ext cx="279328" cy="25393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20520"/>
                </a:moveTo>
                <a:lnTo>
                  <a:pt x="982" y="20520"/>
                </a:lnTo>
                <a:lnTo>
                  <a:pt x="982" y="14040"/>
                </a:lnTo>
                <a:lnTo>
                  <a:pt x="6907" y="14040"/>
                </a:lnTo>
                <a:cubicBezTo>
                  <a:pt x="7149" y="16170"/>
                  <a:pt x="8798" y="17820"/>
                  <a:pt x="10800" y="17820"/>
                </a:cubicBezTo>
                <a:cubicBezTo>
                  <a:pt x="12802" y="17820"/>
                  <a:pt x="14451" y="16170"/>
                  <a:pt x="14693" y="14040"/>
                </a:cubicBezTo>
                <a:lnTo>
                  <a:pt x="20618" y="14040"/>
                </a:lnTo>
                <a:cubicBezTo>
                  <a:pt x="20618" y="14040"/>
                  <a:pt x="20618" y="20520"/>
                  <a:pt x="20618" y="20520"/>
                </a:cubicBezTo>
                <a:close/>
                <a:moveTo>
                  <a:pt x="21544" y="13261"/>
                </a:moveTo>
                <a:lnTo>
                  <a:pt x="21548" y="13259"/>
                </a:lnTo>
                <a:lnTo>
                  <a:pt x="16639" y="2459"/>
                </a:lnTo>
                <a:lnTo>
                  <a:pt x="16635" y="2461"/>
                </a:lnTo>
                <a:cubicBezTo>
                  <a:pt x="16554" y="2284"/>
                  <a:pt x="16392" y="2160"/>
                  <a:pt x="16200" y="2160"/>
                </a:cubicBezTo>
                <a:lnTo>
                  <a:pt x="15709" y="2160"/>
                </a:lnTo>
                <a:cubicBezTo>
                  <a:pt x="15438" y="2160"/>
                  <a:pt x="15218" y="2402"/>
                  <a:pt x="15218" y="2700"/>
                </a:cubicBezTo>
                <a:cubicBezTo>
                  <a:pt x="15218" y="2999"/>
                  <a:pt x="15438" y="3240"/>
                  <a:pt x="15709" y="3240"/>
                </a:cubicBezTo>
                <a:lnTo>
                  <a:pt x="15897" y="3240"/>
                </a:lnTo>
                <a:lnTo>
                  <a:pt x="20315" y="12960"/>
                </a:lnTo>
                <a:lnTo>
                  <a:pt x="14236" y="12960"/>
                </a:lnTo>
                <a:cubicBezTo>
                  <a:pt x="13965" y="12960"/>
                  <a:pt x="13745" y="13202"/>
                  <a:pt x="13745" y="13500"/>
                </a:cubicBezTo>
                <a:cubicBezTo>
                  <a:pt x="13745" y="15290"/>
                  <a:pt x="12426" y="16740"/>
                  <a:pt x="10800" y="16740"/>
                </a:cubicBezTo>
                <a:cubicBezTo>
                  <a:pt x="9173" y="16740"/>
                  <a:pt x="7855" y="15290"/>
                  <a:pt x="7855" y="13500"/>
                </a:cubicBezTo>
                <a:cubicBezTo>
                  <a:pt x="7855" y="13202"/>
                  <a:pt x="7635" y="12960"/>
                  <a:pt x="7364" y="12960"/>
                </a:cubicBezTo>
                <a:lnTo>
                  <a:pt x="1285" y="12960"/>
                </a:lnTo>
                <a:lnTo>
                  <a:pt x="5703" y="3240"/>
                </a:lnTo>
                <a:lnTo>
                  <a:pt x="5891" y="3240"/>
                </a:lnTo>
                <a:cubicBezTo>
                  <a:pt x="6162" y="3240"/>
                  <a:pt x="6382" y="2999"/>
                  <a:pt x="6382" y="2700"/>
                </a:cubicBezTo>
                <a:cubicBezTo>
                  <a:pt x="6382" y="2402"/>
                  <a:pt x="6162" y="2160"/>
                  <a:pt x="5891" y="2160"/>
                </a:cubicBezTo>
                <a:lnTo>
                  <a:pt x="5400" y="2160"/>
                </a:lnTo>
                <a:cubicBezTo>
                  <a:pt x="5208" y="2160"/>
                  <a:pt x="5046" y="2284"/>
                  <a:pt x="4966" y="2461"/>
                </a:cubicBezTo>
                <a:lnTo>
                  <a:pt x="4961" y="2459"/>
                </a:lnTo>
                <a:lnTo>
                  <a:pt x="52" y="13259"/>
                </a:lnTo>
                <a:lnTo>
                  <a:pt x="57" y="13261"/>
                </a:lnTo>
                <a:cubicBezTo>
                  <a:pt x="23" y="13334"/>
                  <a:pt x="0" y="13413"/>
                  <a:pt x="0" y="13500"/>
                </a:cubicBezTo>
                <a:lnTo>
                  <a:pt x="0" y="21060"/>
                </a:lnTo>
                <a:cubicBezTo>
                  <a:pt x="0" y="21359"/>
                  <a:pt x="220" y="21600"/>
                  <a:pt x="491" y="21600"/>
                </a:cubicBezTo>
                <a:lnTo>
                  <a:pt x="21109" y="21600"/>
                </a:lnTo>
                <a:cubicBezTo>
                  <a:pt x="21380" y="21600"/>
                  <a:pt x="21600" y="21359"/>
                  <a:pt x="21600" y="21060"/>
                </a:cubicBezTo>
                <a:lnTo>
                  <a:pt x="21600" y="13500"/>
                </a:lnTo>
                <a:cubicBezTo>
                  <a:pt x="21600" y="13413"/>
                  <a:pt x="21577" y="13334"/>
                  <a:pt x="21544" y="13261"/>
                </a:cubicBezTo>
                <a:moveTo>
                  <a:pt x="7855" y="4320"/>
                </a:moveTo>
                <a:cubicBezTo>
                  <a:pt x="7990" y="4320"/>
                  <a:pt x="8113" y="4260"/>
                  <a:pt x="8202" y="4162"/>
                </a:cubicBezTo>
                <a:lnTo>
                  <a:pt x="10309" y="1844"/>
                </a:lnTo>
                <a:lnTo>
                  <a:pt x="10309" y="12420"/>
                </a:lnTo>
                <a:cubicBezTo>
                  <a:pt x="10309" y="12719"/>
                  <a:pt x="10529" y="12960"/>
                  <a:pt x="10800" y="12960"/>
                </a:cubicBezTo>
                <a:cubicBezTo>
                  <a:pt x="11071" y="12960"/>
                  <a:pt x="11291" y="12719"/>
                  <a:pt x="11291" y="12420"/>
                </a:cubicBezTo>
                <a:lnTo>
                  <a:pt x="11291" y="1844"/>
                </a:lnTo>
                <a:lnTo>
                  <a:pt x="13398" y="4162"/>
                </a:lnTo>
                <a:cubicBezTo>
                  <a:pt x="13487" y="4260"/>
                  <a:pt x="13610" y="4320"/>
                  <a:pt x="13745" y="4320"/>
                </a:cubicBezTo>
                <a:cubicBezTo>
                  <a:pt x="14017" y="4320"/>
                  <a:pt x="14236" y="4079"/>
                  <a:pt x="14236" y="3780"/>
                </a:cubicBezTo>
                <a:cubicBezTo>
                  <a:pt x="14236" y="3631"/>
                  <a:pt x="14181" y="3497"/>
                  <a:pt x="14093" y="3398"/>
                </a:cubicBezTo>
                <a:lnTo>
                  <a:pt x="11147" y="158"/>
                </a:lnTo>
                <a:cubicBezTo>
                  <a:pt x="11058" y="61"/>
                  <a:pt x="10936" y="0"/>
                  <a:pt x="10800" y="0"/>
                </a:cubicBezTo>
                <a:cubicBezTo>
                  <a:pt x="10664" y="0"/>
                  <a:pt x="10542" y="61"/>
                  <a:pt x="10453" y="158"/>
                </a:cubicBezTo>
                <a:lnTo>
                  <a:pt x="7507" y="3398"/>
                </a:lnTo>
                <a:cubicBezTo>
                  <a:pt x="7419" y="3497"/>
                  <a:pt x="7364" y="3631"/>
                  <a:pt x="7364" y="3780"/>
                </a:cubicBezTo>
                <a:cubicBezTo>
                  <a:pt x="7364" y="4079"/>
                  <a:pt x="7583" y="4320"/>
                  <a:pt x="7855" y="4320"/>
                </a:cubicBezTo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32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/>
          </a:p>
        </p:txBody>
      </p:sp>
      <p:sp>
        <p:nvSpPr>
          <p:cNvPr id="19" name="椭圆 72">
            <a:extLst>
              <a:ext uri="{FF2B5EF4-FFF2-40B4-BE49-F238E27FC236}">
                <a16:creationId xmlns:a16="http://schemas.microsoft.com/office/drawing/2014/main" id="{B3288498-1003-4A9E-82CD-1EC1C380622A}"/>
              </a:ext>
            </a:extLst>
          </p:cNvPr>
          <p:cNvSpPr/>
          <p:nvPr/>
        </p:nvSpPr>
        <p:spPr>
          <a:xfrm>
            <a:off x="598717" y="215506"/>
            <a:ext cx="1299101" cy="1299101"/>
          </a:xfrm>
          <a:prstGeom prst="ellipse">
            <a:avLst/>
          </a:prstGeom>
          <a:solidFill>
            <a:srgbClr val="F6E8E7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椭圆 74">
            <a:extLst>
              <a:ext uri="{FF2B5EF4-FFF2-40B4-BE49-F238E27FC236}">
                <a16:creationId xmlns:a16="http://schemas.microsoft.com/office/drawing/2014/main" id="{E2BC7E5C-768F-4C65-8ABB-68C3D2B28A31}"/>
              </a:ext>
            </a:extLst>
          </p:cNvPr>
          <p:cNvSpPr/>
          <p:nvPr/>
        </p:nvSpPr>
        <p:spPr>
          <a:xfrm>
            <a:off x="401423" y="951826"/>
            <a:ext cx="524547" cy="524547"/>
          </a:xfrm>
          <a:prstGeom prst="ellipse">
            <a:avLst/>
          </a:prstGeom>
          <a:solidFill>
            <a:srgbClr val="EDD1CF"/>
          </a:solidFill>
          <a:ln>
            <a:noFill/>
          </a:ln>
          <a:effectLst>
            <a:reflection stA="40000" endPos="30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9F8EA544-0983-4D16-8E73-59A71DE1B8C0}"/>
              </a:ext>
            </a:extLst>
          </p:cNvPr>
          <p:cNvSpPr/>
          <p:nvPr/>
        </p:nvSpPr>
        <p:spPr>
          <a:xfrm>
            <a:off x="1289670" y="584937"/>
            <a:ext cx="362150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</a:pPr>
            <a:r>
              <a:rPr lang="zh-TW" altLang="en-US" sz="3600" b="1" dirty="0">
                <a:solidFill>
                  <a:srgbClr val="523A2C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分析結果</a:t>
            </a:r>
            <a:r>
              <a:rPr lang="en-US" altLang="zh-TW" sz="3600" b="1" dirty="0">
                <a:solidFill>
                  <a:srgbClr val="523A2C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-</a:t>
            </a:r>
            <a:r>
              <a:rPr lang="zh-TW" altLang="en-US" sz="2800" dirty="0">
                <a:solidFill>
                  <a:srgbClr val="523A2C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觀察變數</a:t>
            </a:r>
            <a:endParaRPr lang="en-US" altLang="zh-TW" sz="3600" dirty="0">
              <a:solidFill>
                <a:srgbClr val="523A2C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23" name="Oval 26">
            <a:extLst>
              <a:ext uri="{FF2B5EF4-FFF2-40B4-BE49-F238E27FC236}">
                <a16:creationId xmlns:a16="http://schemas.microsoft.com/office/drawing/2014/main" id="{E33E1C36-3E07-4DD8-BFDD-7795F7D43229}"/>
              </a:ext>
            </a:extLst>
          </p:cNvPr>
          <p:cNvSpPr/>
          <p:nvPr/>
        </p:nvSpPr>
        <p:spPr>
          <a:xfrm>
            <a:off x="7089776" y="4303783"/>
            <a:ext cx="561144" cy="561144"/>
          </a:xfrm>
          <a:prstGeom prst="ellipse">
            <a:avLst/>
          </a:prstGeom>
          <a:solidFill>
            <a:srgbClr val="EDD1CF"/>
          </a:solidFill>
          <a:ln>
            <a:noFill/>
          </a:ln>
          <a:effectLst>
            <a:reflection stA="40000" endPos="30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Shape 2840">
            <a:extLst>
              <a:ext uri="{FF2B5EF4-FFF2-40B4-BE49-F238E27FC236}">
                <a16:creationId xmlns:a16="http://schemas.microsoft.com/office/drawing/2014/main" id="{789D7257-05DB-4824-A12B-57DC89A28ABB}"/>
              </a:ext>
            </a:extLst>
          </p:cNvPr>
          <p:cNvSpPr/>
          <p:nvPr/>
        </p:nvSpPr>
        <p:spPr>
          <a:xfrm>
            <a:off x="7230684" y="4457388"/>
            <a:ext cx="279328" cy="25393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20520"/>
                </a:moveTo>
                <a:lnTo>
                  <a:pt x="982" y="20520"/>
                </a:lnTo>
                <a:lnTo>
                  <a:pt x="982" y="14040"/>
                </a:lnTo>
                <a:lnTo>
                  <a:pt x="6907" y="14040"/>
                </a:lnTo>
                <a:cubicBezTo>
                  <a:pt x="7149" y="16170"/>
                  <a:pt x="8798" y="17820"/>
                  <a:pt x="10800" y="17820"/>
                </a:cubicBezTo>
                <a:cubicBezTo>
                  <a:pt x="12802" y="17820"/>
                  <a:pt x="14451" y="16170"/>
                  <a:pt x="14693" y="14040"/>
                </a:cubicBezTo>
                <a:lnTo>
                  <a:pt x="20618" y="14040"/>
                </a:lnTo>
                <a:cubicBezTo>
                  <a:pt x="20618" y="14040"/>
                  <a:pt x="20618" y="20520"/>
                  <a:pt x="20618" y="20520"/>
                </a:cubicBezTo>
                <a:close/>
                <a:moveTo>
                  <a:pt x="21544" y="13261"/>
                </a:moveTo>
                <a:lnTo>
                  <a:pt x="21548" y="13259"/>
                </a:lnTo>
                <a:lnTo>
                  <a:pt x="16639" y="2459"/>
                </a:lnTo>
                <a:lnTo>
                  <a:pt x="16635" y="2461"/>
                </a:lnTo>
                <a:cubicBezTo>
                  <a:pt x="16554" y="2284"/>
                  <a:pt x="16392" y="2160"/>
                  <a:pt x="16200" y="2160"/>
                </a:cubicBezTo>
                <a:lnTo>
                  <a:pt x="15709" y="2160"/>
                </a:lnTo>
                <a:cubicBezTo>
                  <a:pt x="15438" y="2160"/>
                  <a:pt x="15218" y="2402"/>
                  <a:pt x="15218" y="2700"/>
                </a:cubicBezTo>
                <a:cubicBezTo>
                  <a:pt x="15218" y="2999"/>
                  <a:pt x="15438" y="3240"/>
                  <a:pt x="15709" y="3240"/>
                </a:cubicBezTo>
                <a:lnTo>
                  <a:pt x="15897" y="3240"/>
                </a:lnTo>
                <a:lnTo>
                  <a:pt x="20315" y="12960"/>
                </a:lnTo>
                <a:lnTo>
                  <a:pt x="14236" y="12960"/>
                </a:lnTo>
                <a:cubicBezTo>
                  <a:pt x="13965" y="12960"/>
                  <a:pt x="13745" y="13202"/>
                  <a:pt x="13745" y="13500"/>
                </a:cubicBezTo>
                <a:cubicBezTo>
                  <a:pt x="13745" y="15290"/>
                  <a:pt x="12426" y="16740"/>
                  <a:pt x="10800" y="16740"/>
                </a:cubicBezTo>
                <a:cubicBezTo>
                  <a:pt x="9173" y="16740"/>
                  <a:pt x="7855" y="15290"/>
                  <a:pt x="7855" y="13500"/>
                </a:cubicBezTo>
                <a:cubicBezTo>
                  <a:pt x="7855" y="13202"/>
                  <a:pt x="7635" y="12960"/>
                  <a:pt x="7364" y="12960"/>
                </a:cubicBezTo>
                <a:lnTo>
                  <a:pt x="1285" y="12960"/>
                </a:lnTo>
                <a:lnTo>
                  <a:pt x="5703" y="3240"/>
                </a:lnTo>
                <a:lnTo>
                  <a:pt x="5891" y="3240"/>
                </a:lnTo>
                <a:cubicBezTo>
                  <a:pt x="6162" y="3240"/>
                  <a:pt x="6382" y="2999"/>
                  <a:pt x="6382" y="2700"/>
                </a:cubicBezTo>
                <a:cubicBezTo>
                  <a:pt x="6382" y="2402"/>
                  <a:pt x="6162" y="2160"/>
                  <a:pt x="5891" y="2160"/>
                </a:cubicBezTo>
                <a:lnTo>
                  <a:pt x="5400" y="2160"/>
                </a:lnTo>
                <a:cubicBezTo>
                  <a:pt x="5208" y="2160"/>
                  <a:pt x="5046" y="2284"/>
                  <a:pt x="4966" y="2461"/>
                </a:cubicBezTo>
                <a:lnTo>
                  <a:pt x="4961" y="2459"/>
                </a:lnTo>
                <a:lnTo>
                  <a:pt x="52" y="13259"/>
                </a:lnTo>
                <a:lnTo>
                  <a:pt x="57" y="13261"/>
                </a:lnTo>
                <a:cubicBezTo>
                  <a:pt x="23" y="13334"/>
                  <a:pt x="0" y="13413"/>
                  <a:pt x="0" y="13500"/>
                </a:cubicBezTo>
                <a:lnTo>
                  <a:pt x="0" y="21060"/>
                </a:lnTo>
                <a:cubicBezTo>
                  <a:pt x="0" y="21359"/>
                  <a:pt x="220" y="21600"/>
                  <a:pt x="491" y="21600"/>
                </a:cubicBezTo>
                <a:lnTo>
                  <a:pt x="21109" y="21600"/>
                </a:lnTo>
                <a:cubicBezTo>
                  <a:pt x="21380" y="21600"/>
                  <a:pt x="21600" y="21359"/>
                  <a:pt x="21600" y="21060"/>
                </a:cubicBezTo>
                <a:lnTo>
                  <a:pt x="21600" y="13500"/>
                </a:lnTo>
                <a:cubicBezTo>
                  <a:pt x="21600" y="13413"/>
                  <a:pt x="21577" y="13334"/>
                  <a:pt x="21544" y="13261"/>
                </a:cubicBezTo>
                <a:moveTo>
                  <a:pt x="7855" y="4320"/>
                </a:moveTo>
                <a:cubicBezTo>
                  <a:pt x="7990" y="4320"/>
                  <a:pt x="8113" y="4260"/>
                  <a:pt x="8202" y="4162"/>
                </a:cubicBezTo>
                <a:lnTo>
                  <a:pt x="10309" y="1844"/>
                </a:lnTo>
                <a:lnTo>
                  <a:pt x="10309" y="12420"/>
                </a:lnTo>
                <a:cubicBezTo>
                  <a:pt x="10309" y="12719"/>
                  <a:pt x="10529" y="12960"/>
                  <a:pt x="10800" y="12960"/>
                </a:cubicBezTo>
                <a:cubicBezTo>
                  <a:pt x="11071" y="12960"/>
                  <a:pt x="11291" y="12719"/>
                  <a:pt x="11291" y="12420"/>
                </a:cubicBezTo>
                <a:lnTo>
                  <a:pt x="11291" y="1844"/>
                </a:lnTo>
                <a:lnTo>
                  <a:pt x="13398" y="4162"/>
                </a:lnTo>
                <a:cubicBezTo>
                  <a:pt x="13487" y="4260"/>
                  <a:pt x="13610" y="4320"/>
                  <a:pt x="13745" y="4320"/>
                </a:cubicBezTo>
                <a:cubicBezTo>
                  <a:pt x="14017" y="4320"/>
                  <a:pt x="14236" y="4079"/>
                  <a:pt x="14236" y="3780"/>
                </a:cubicBezTo>
                <a:cubicBezTo>
                  <a:pt x="14236" y="3631"/>
                  <a:pt x="14181" y="3497"/>
                  <a:pt x="14093" y="3398"/>
                </a:cubicBezTo>
                <a:lnTo>
                  <a:pt x="11147" y="158"/>
                </a:lnTo>
                <a:cubicBezTo>
                  <a:pt x="11058" y="61"/>
                  <a:pt x="10936" y="0"/>
                  <a:pt x="10800" y="0"/>
                </a:cubicBezTo>
                <a:cubicBezTo>
                  <a:pt x="10664" y="0"/>
                  <a:pt x="10542" y="61"/>
                  <a:pt x="10453" y="158"/>
                </a:cubicBezTo>
                <a:lnTo>
                  <a:pt x="7507" y="3398"/>
                </a:lnTo>
                <a:cubicBezTo>
                  <a:pt x="7419" y="3497"/>
                  <a:pt x="7364" y="3631"/>
                  <a:pt x="7364" y="3780"/>
                </a:cubicBezTo>
                <a:cubicBezTo>
                  <a:pt x="7364" y="4079"/>
                  <a:pt x="7583" y="4320"/>
                  <a:pt x="7855" y="4320"/>
                </a:cubicBezTo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32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B9F6BCA-EA10-48CB-8E0A-074D4E03A930}"/>
              </a:ext>
            </a:extLst>
          </p:cNvPr>
          <p:cNvSpPr/>
          <p:nvPr/>
        </p:nvSpPr>
        <p:spPr>
          <a:xfrm>
            <a:off x="8130097" y="4126263"/>
            <a:ext cx="3459391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而“</a:t>
            </a:r>
            <a:r>
              <a:rPr lang="zh-TW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萃取</a:t>
            </a:r>
            <a:r>
              <a:rPr lang="en-US" altLang="zh-CN" dirty="0">
                <a:latin typeface="华文细黑" panose="02010600040101010101" pitchFamily="2" charset="-122"/>
                <a:ea typeface="华文细黑" panose="02010600040101010101" pitchFamily="2" charset="-122"/>
              </a:rPr>
              <a:t>”</a:t>
            </a:r>
            <a:r>
              <a:rPr lang="zh-TW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欄表</a:t>
            </a:r>
            <a:r>
              <a:rPr lang="zh-CN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示的</a:t>
            </a:r>
            <a:r>
              <a:rPr lang="zh-TW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是當</a:t>
            </a:r>
            <a:r>
              <a:rPr lang="zh-CN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我</a:t>
            </a:r>
            <a:r>
              <a:rPr lang="zh-TW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們</a:t>
            </a:r>
            <a:r>
              <a:rPr lang="zh-CN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只保留</a:t>
            </a:r>
            <a:r>
              <a:rPr lang="zh-TW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選中</a:t>
            </a:r>
            <a:r>
              <a:rPr lang="zh-CN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的成分时，</a:t>
            </a:r>
            <a:r>
              <a:rPr lang="zh-TW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變</a:t>
            </a:r>
            <a:r>
              <a:rPr lang="zh-CN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量</a:t>
            </a:r>
            <a:r>
              <a:rPr lang="zh-TW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變異</a:t>
            </a:r>
            <a:r>
              <a:rPr lang="zh-CN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被解释的程度。因</a:t>
            </a:r>
            <a:r>
              <a:rPr lang="zh-TW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為</a:t>
            </a:r>
            <a:r>
              <a:rPr lang="zh-CN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我</a:t>
            </a:r>
            <a:r>
              <a:rPr lang="zh-TW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們</a:t>
            </a:r>
            <a:r>
              <a:rPr lang="zh-CN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只保留了部分成分，所有</a:t>
            </a:r>
            <a:r>
              <a:rPr lang="zh-TW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變</a:t>
            </a:r>
            <a:r>
              <a:rPr lang="zh-CN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量</a:t>
            </a:r>
            <a:r>
              <a:rPr lang="zh-TW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變異</a:t>
            </a:r>
            <a:r>
              <a:rPr lang="zh-CN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被解</a:t>
            </a:r>
            <a:r>
              <a:rPr lang="zh-TW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釋</a:t>
            </a:r>
            <a:r>
              <a:rPr lang="zh-CN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的程度</a:t>
            </a:r>
            <a:r>
              <a:rPr lang="zh-TW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會</a:t>
            </a:r>
            <a:r>
              <a:rPr lang="zh-CN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降低。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32900BB-D2CF-42D9-AA8F-8B63F715BC52}"/>
              </a:ext>
            </a:extLst>
          </p:cNvPr>
          <p:cNvSpPr/>
          <p:nvPr/>
        </p:nvSpPr>
        <p:spPr>
          <a:xfrm>
            <a:off x="8130097" y="1961633"/>
            <a:ext cx="35454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“ </a:t>
            </a:r>
            <a:r>
              <a:rPr lang="zh-TW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初始</a:t>
            </a:r>
            <a:r>
              <a:rPr lang="en-US" altLang="zh-CN" dirty="0">
                <a:latin typeface="华文细黑" panose="02010600040101010101" pitchFamily="2" charset="-122"/>
                <a:ea typeface="华文细黑" panose="02010600040101010101" pitchFamily="2" charset="-122"/>
              </a:rPr>
              <a:t>”</a:t>
            </a:r>
            <a:r>
              <a:rPr lang="zh-TW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欄表</a:t>
            </a:r>
            <a:r>
              <a:rPr lang="zh-CN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示的</a:t>
            </a:r>
            <a:r>
              <a:rPr lang="zh-TW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是當</a:t>
            </a:r>
            <a:r>
              <a:rPr lang="zh-CN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所有成分都</a:t>
            </a:r>
            <a:r>
              <a:rPr lang="zh-TW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納</a:t>
            </a:r>
            <a:r>
              <a:rPr lang="zh-CN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入时，每</a:t>
            </a:r>
            <a:r>
              <a:rPr lang="zh-TW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個變</a:t>
            </a:r>
            <a:r>
              <a:rPr lang="zh-CN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量</a:t>
            </a:r>
            <a:r>
              <a:rPr lang="zh-TW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變異</a:t>
            </a:r>
            <a:r>
              <a:rPr lang="zh-CN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被解释的程度</a:t>
            </a:r>
            <a:r>
              <a:rPr lang="zh-TW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為</a:t>
            </a:r>
            <a:r>
              <a:rPr lang="en-US" altLang="zh-CN" dirty="0">
                <a:latin typeface="华文细黑" panose="02010600040101010101" pitchFamily="2" charset="-122"/>
                <a:ea typeface="华文细黑" panose="02010600040101010101" pitchFamily="2" charset="-122"/>
              </a:rPr>
              <a:t>1</a:t>
            </a:r>
            <a:r>
              <a:rPr lang="zh-CN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，即</a:t>
            </a:r>
            <a:r>
              <a:rPr lang="en-US" altLang="zh-CN" dirty="0">
                <a:latin typeface="华文细黑" panose="02010600040101010101" pitchFamily="2" charset="-122"/>
                <a:ea typeface="华文细黑" panose="02010600040101010101" pitchFamily="2" charset="-122"/>
              </a:rPr>
              <a:t>100%</a:t>
            </a:r>
            <a:r>
              <a:rPr lang="zh-CN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被</a:t>
            </a:r>
            <a:r>
              <a:rPr lang="zh-TW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解釋</a:t>
            </a:r>
            <a:r>
              <a:rPr lang="zh-CN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，因</a:t>
            </a:r>
            <a:r>
              <a:rPr lang="zh-TW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為</a:t>
            </a:r>
            <a:r>
              <a:rPr lang="zh-CN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在</a:t>
            </a:r>
            <a:r>
              <a:rPr lang="zh-TW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這</a:t>
            </a:r>
            <a:r>
              <a:rPr lang="zh-CN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一</a:t>
            </a:r>
            <a:r>
              <a:rPr lang="zh-TW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階段</a:t>
            </a:r>
            <a:r>
              <a:rPr lang="zh-CN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，我</a:t>
            </a:r>
            <a:r>
              <a:rPr lang="zh-TW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們</a:t>
            </a:r>
            <a:r>
              <a:rPr lang="zh-CN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没有剔除任何信息，</a:t>
            </a:r>
            <a:r>
              <a:rPr lang="zh-TW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數據</a:t>
            </a:r>
            <a:r>
              <a:rPr lang="zh-CN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中的</a:t>
            </a:r>
            <a:r>
              <a:rPr lang="zh-TW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變異</a:t>
            </a:r>
            <a:r>
              <a:rPr lang="zh-CN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都可以被解</a:t>
            </a:r>
            <a:r>
              <a:rPr lang="zh-TW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釋</a:t>
            </a:r>
            <a:r>
              <a:rPr lang="zh-CN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。</a:t>
            </a:r>
          </a:p>
        </p:txBody>
      </p:sp>
      <p:pic>
        <p:nvPicPr>
          <p:cNvPr id="14" name="圖片 13">
            <a:extLst>
              <a:ext uri="{FF2B5EF4-FFF2-40B4-BE49-F238E27FC236}">
                <a16:creationId xmlns:a16="http://schemas.microsoft.com/office/drawing/2014/main" id="{7D054C7E-FD65-4538-8FD8-1E12822473D4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44378" y="1926068"/>
            <a:ext cx="6665993" cy="4589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61436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1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 tmFilter="0,0; .5, 1; 1, 1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椭圆 35"/>
          <p:cNvSpPr/>
          <p:nvPr/>
        </p:nvSpPr>
        <p:spPr>
          <a:xfrm>
            <a:off x="1019075" y="303754"/>
            <a:ext cx="1299101" cy="1299101"/>
          </a:xfrm>
          <a:prstGeom prst="ellipse">
            <a:avLst/>
          </a:prstGeom>
          <a:solidFill>
            <a:srgbClr val="F6E8E7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椭圆 36"/>
          <p:cNvSpPr/>
          <p:nvPr/>
        </p:nvSpPr>
        <p:spPr>
          <a:xfrm>
            <a:off x="821781" y="1040074"/>
            <a:ext cx="524547" cy="524547"/>
          </a:xfrm>
          <a:prstGeom prst="ellipse">
            <a:avLst/>
          </a:prstGeom>
          <a:solidFill>
            <a:srgbClr val="EDD1CF"/>
          </a:solidFill>
          <a:ln>
            <a:noFill/>
          </a:ln>
          <a:effectLst>
            <a:reflection stA="40000" endPos="30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EF0FA14F-467B-4FEC-82EF-C44199B6E4A1}"/>
              </a:ext>
            </a:extLst>
          </p:cNvPr>
          <p:cNvSpPr/>
          <p:nvPr/>
        </p:nvSpPr>
        <p:spPr>
          <a:xfrm>
            <a:off x="8388369" y="496784"/>
            <a:ext cx="3562976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負荷</a:t>
            </a:r>
            <a:r>
              <a:rPr lang="en-US" altLang="zh-TW" dirty="0">
                <a:latin typeface="华文细黑" panose="02010600040101010101" pitchFamily="2" charset="-122"/>
                <a:ea typeface="华文细黑" panose="02010600040101010101" pitchFamily="2" charset="-122"/>
              </a:rPr>
              <a:t>(loading), </a:t>
            </a:r>
            <a:r>
              <a:rPr lang="zh-TW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：新變數與舊變數間的相關係數稱為負荷</a:t>
            </a:r>
            <a:r>
              <a:rPr lang="en-US" altLang="zh-TW" dirty="0">
                <a:latin typeface="华文细黑" panose="02010600040101010101" pitchFamily="2" charset="-122"/>
                <a:ea typeface="华文细黑" panose="02010600040101010101" pitchFamily="2" charset="-122"/>
              </a:rPr>
              <a:t>(loading)</a:t>
            </a:r>
            <a:r>
              <a:rPr lang="zh-TW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。表示原變數對於新變數的影響力或重要性。負荷愈大表示原始變數對於新變數的影響力愈高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6043471E-FA69-4412-9CBC-889145EBC2C0}"/>
              </a:ext>
            </a:extLst>
          </p:cNvPr>
          <p:cNvSpPr/>
          <p:nvPr/>
        </p:nvSpPr>
        <p:spPr>
          <a:xfrm>
            <a:off x="8388369" y="2551837"/>
            <a:ext cx="3562976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個別變數與因素之間的相關性 </a:t>
            </a:r>
            <a:r>
              <a:rPr lang="en-US" altLang="zh-TW" dirty="0">
                <a:latin typeface="华文细黑" panose="02010600040101010101" pitchFamily="2" charset="-122"/>
                <a:ea typeface="华文细黑" panose="02010600040101010101" pitchFamily="2" charset="-122"/>
              </a:rPr>
              <a:t>(</a:t>
            </a:r>
            <a:r>
              <a:rPr lang="zh-TW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沒轉軸前</a:t>
            </a:r>
            <a:r>
              <a:rPr lang="en-US" altLang="zh-TW" dirty="0">
                <a:latin typeface="华文细黑" panose="02010600040101010101" pitchFamily="2" charset="-122"/>
                <a:ea typeface="华文细黑" panose="02010600040101010101" pitchFamily="2" charset="-122"/>
              </a:rPr>
              <a:t>)</a:t>
            </a:r>
            <a:r>
              <a:rPr lang="zh-TW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，所以這個值如同</a:t>
            </a:r>
            <a:r>
              <a:rPr lang="en-US" altLang="zh-TW" dirty="0">
                <a:latin typeface="华文细黑" panose="02010600040101010101" pitchFamily="2" charset="-122"/>
                <a:ea typeface="华文细黑" panose="02010600040101010101" pitchFamily="2" charset="-122"/>
              </a:rPr>
              <a:t>Pearson correlations</a:t>
            </a:r>
            <a:r>
              <a:rPr lang="zh-TW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一樣，數值介於</a:t>
            </a:r>
            <a:r>
              <a:rPr lang="en-US" altLang="zh-TW" dirty="0">
                <a:latin typeface="华文细黑" panose="02010600040101010101" pitchFamily="2" charset="-122"/>
                <a:ea typeface="华文细黑" panose="02010600040101010101" pitchFamily="2" charset="-122"/>
              </a:rPr>
              <a:t>-1</a:t>
            </a:r>
            <a:r>
              <a:rPr lang="zh-TW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至</a:t>
            </a:r>
            <a:r>
              <a:rPr lang="en-US" altLang="zh-TW" dirty="0">
                <a:latin typeface="华文细黑" panose="02010600040101010101" pitchFamily="2" charset="-122"/>
                <a:ea typeface="华文细黑" panose="02010600040101010101" pitchFamily="2" charset="-122"/>
              </a:rPr>
              <a:t>1</a:t>
            </a:r>
            <a:r>
              <a:rPr lang="zh-TW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之間。因素負荷量的平方也就是這個因素可以解釋多少這個變數。舉例來說，如果因素負荷量是</a:t>
            </a:r>
            <a:r>
              <a:rPr lang="en-US" altLang="zh-TW" dirty="0">
                <a:latin typeface="华文细黑" panose="02010600040101010101" pitchFamily="2" charset="-122"/>
                <a:ea typeface="华文细黑" panose="02010600040101010101" pitchFamily="2" charset="-122"/>
              </a:rPr>
              <a:t>0.4</a:t>
            </a:r>
            <a:r>
              <a:rPr lang="zh-TW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，那表示該因素可解釋此變數</a:t>
            </a:r>
            <a:r>
              <a:rPr lang="en-US" altLang="zh-TW" dirty="0">
                <a:latin typeface="华文细黑" panose="02010600040101010101" pitchFamily="2" charset="-122"/>
                <a:ea typeface="华文细黑" panose="02010600040101010101" pitchFamily="2" charset="-122"/>
              </a:rPr>
              <a:t>0.16</a:t>
            </a:r>
            <a:r>
              <a:rPr lang="zh-TW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的</a:t>
            </a:r>
            <a:r>
              <a:rPr lang="en-US" altLang="zh-TW" dirty="0">
                <a:latin typeface="华文细黑" panose="02010600040101010101" pitchFamily="2" charset="-122"/>
                <a:ea typeface="华文细黑" panose="02010600040101010101" pitchFamily="2" charset="-122"/>
              </a:rPr>
              <a:t>variance</a:t>
            </a:r>
            <a:r>
              <a:rPr lang="zh-TW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08356A6-E723-4596-BEA9-9A75E699EC54}"/>
              </a:ext>
            </a:extLst>
          </p:cNvPr>
          <p:cNvSpPr/>
          <p:nvPr/>
        </p:nvSpPr>
        <p:spPr>
          <a:xfrm>
            <a:off x="1289670" y="584937"/>
            <a:ext cx="362150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</a:pPr>
            <a:r>
              <a:rPr lang="zh-TW" altLang="en-US" sz="3600" b="1" dirty="0">
                <a:solidFill>
                  <a:srgbClr val="523A2C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分析結果</a:t>
            </a:r>
            <a:r>
              <a:rPr lang="en-US" altLang="zh-TW" sz="3600" b="1" dirty="0">
                <a:solidFill>
                  <a:srgbClr val="523A2C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-</a:t>
            </a:r>
            <a:r>
              <a:rPr lang="zh-TW" altLang="en-US" sz="2800" dirty="0">
                <a:solidFill>
                  <a:srgbClr val="523A2C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觀察變數</a:t>
            </a:r>
            <a:endParaRPr lang="en-US" altLang="zh-TW" sz="3600" dirty="0">
              <a:solidFill>
                <a:srgbClr val="523A2C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77F4CA4A-8D87-47C8-95A9-2F337944CE98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82880" y="1857375"/>
            <a:ext cx="7848600" cy="5000625"/>
          </a:xfrm>
          <a:prstGeom prst="rect">
            <a:avLst/>
          </a:prstGeom>
        </p:spPr>
      </p:pic>
      <p:sp>
        <p:nvSpPr>
          <p:cNvPr id="2" name="文字方塊 1">
            <a:extLst>
              <a:ext uri="{FF2B5EF4-FFF2-40B4-BE49-F238E27FC236}">
                <a16:creationId xmlns:a16="http://schemas.microsoft.com/office/drawing/2014/main" id="{7B0F87B3-B8E2-4D8A-BBD4-4FFE656B3C17}"/>
              </a:ext>
            </a:extLst>
          </p:cNvPr>
          <p:cNvSpPr txBox="1"/>
          <p:nvPr/>
        </p:nvSpPr>
        <p:spPr>
          <a:xfrm>
            <a:off x="5140960" y="3495040"/>
            <a:ext cx="2682240" cy="2428240"/>
          </a:xfrm>
          <a:prstGeom prst="rect">
            <a:avLst/>
          </a:prstGeom>
          <a:noFill/>
          <a:ln w="28575">
            <a:solidFill>
              <a:srgbClr val="D78F8E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endParaRPr lang="zh-TW" altLang="en-US" sz="1400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60CA0B7C-3936-439D-82AA-D4098EDA03E9}"/>
              </a:ext>
            </a:extLst>
          </p:cNvPr>
          <p:cNvSpPr txBox="1"/>
          <p:nvPr/>
        </p:nvSpPr>
        <p:spPr>
          <a:xfrm>
            <a:off x="7565674" y="3042095"/>
            <a:ext cx="723332" cy="452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TW" altLang="en-US" sz="2000" b="1" dirty="0">
                <a:solidFill>
                  <a:srgbClr val="D78F8E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負荷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56ECC73-4FE5-481D-B7EF-881F2B1ED4AD}"/>
              </a:ext>
            </a:extLst>
          </p:cNvPr>
          <p:cNvSpPr/>
          <p:nvPr/>
        </p:nvSpPr>
        <p:spPr>
          <a:xfrm>
            <a:off x="8446144" y="5461615"/>
            <a:ext cx="3062103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zh-TW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從此表觀察出員變數對於主成分</a:t>
            </a:r>
            <a:r>
              <a:rPr lang="en-US" altLang="zh-TW" dirty="0">
                <a:latin typeface="华文细黑" panose="02010600040101010101" pitchFamily="2" charset="-122"/>
                <a:ea typeface="华文细黑" panose="02010600040101010101" pitchFamily="2" charset="-122"/>
              </a:rPr>
              <a:t>1</a:t>
            </a:r>
            <a:r>
              <a:rPr lang="zh-TW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的影響力是差不多的，而</a:t>
            </a:r>
            <a:r>
              <a:rPr lang="en-US" altLang="zh-TW" dirty="0">
                <a:latin typeface="华文细黑" panose="02010600040101010101" pitchFamily="2" charset="-122"/>
                <a:ea typeface="华文细黑" panose="02010600040101010101" pitchFamily="2" charset="-122"/>
              </a:rPr>
              <a:t>2</a:t>
            </a:r>
            <a:r>
              <a:rPr lang="zh-TW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、</a:t>
            </a:r>
            <a:r>
              <a:rPr lang="en-US" altLang="zh-TW" dirty="0">
                <a:latin typeface="华文细黑" panose="02010600040101010101" pitchFamily="2" charset="-122"/>
                <a:ea typeface="华文细黑" panose="02010600040101010101" pitchFamily="2" charset="-122"/>
              </a:rPr>
              <a:t>3</a:t>
            </a:r>
            <a:r>
              <a:rPr lang="zh-TW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主成分則是有負相關</a:t>
            </a:r>
          </a:p>
        </p:txBody>
      </p:sp>
    </p:spTree>
    <p:extLst>
      <p:ext uri="{BB962C8B-B14F-4D97-AF65-F5344CB8AC3E}">
        <p14:creationId xmlns:p14="http://schemas.microsoft.com/office/powerpoint/2010/main" val="411888217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2540"/>
          <p:cNvSpPr/>
          <p:nvPr/>
        </p:nvSpPr>
        <p:spPr>
          <a:xfrm>
            <a:off x="533230" y="4566289"/>
            <a:ext cx="524547" cy="62836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732" y="6661"/>
                </a:moveTo>
                <a:cubicBezTo>
                  <a:pt x="20540" y="6471"/>
                  <a:pt x="20228" y="6473"/>
                  <a:pt x="20038" y="6667"/>
                </a:cubicBezTo>
                <a:cubicBezTo>
                  <a:pt x="19903" y="6804"/>
                  <a:pt x="19870" y="7000"/>
                  <a:pt x="19929" y="7171"/>
                </a:cubicBezTo>
                <a:lnTo>
                  <a:pt x="19918" y="7175"/>
                </a:lnTo>
                <a:cubicBezTo>
                  <a:pt x="20365" y="8298"/>
                  <a:pt x="20618" y="951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cubicBezTo>
                  <a:pt x="5378" y="20618"/>
                  <a:pt x="982" y="16223"/>
                  <a:pt x="982" y="10800"/>
                </a:cubicBezTo>
                <a:cubicBezTo>
                  <a:pt x="982" y="5377"/>
                  <a:pt x="5378" y="982"/>
                  <a:pt x="10800" y="982"/>
                </a:cubicBezTo>
                <a:cubicBezTo>
                  <a:pt x="13575" y="982"/>
                  <a:pt x="16077" y="2136"/>
                  <a:pt x="17862" y="3989"/>
                </a:cubicBezTo>
                <a:lnTo>
                  <a:pt x="17868" y="3982"/>
                </a:lnTo>
                <a:cubicBezTo>
                  <a:pt x="18062" y="4157"/>
                  <a:pt x="18359" y="4153"/>
                  <a:pt x="18544" y="3965"/>
                </a:cubicBezTo>
                <a:cubicBezTo>
                  <a:pt x="18734" y="3771"/>
                  <a:pt x="18732" y="3461"/>
                  <a:pt x="18539" y="3270"/>
                </a:cubicBezTo>
                <a:cubicBezTo>
                  <a:pt x="18520" y="3252"/>
                  <a:pt x="18496" y="3244"/>
                  <a:pt x="18476" y="3230"/>
                </a:cubicBezTo>
                <a:cubicBezTo>
                  <a:pt x="16521" y="1241"/>
                  <a:pt x="13810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5" y="21600"/>
                  <a:pt x="21600" y="16764"/>
                  <a:pt x="21600" y="10800"/>
                </a:cubicBezTo>
                <a:cubicBezTo>
                  <a:pt x="21600" y="9412"/>
                  <a:pt x="21329" y="8089"/>
                  <a:pt x="20851" y="6869"/>
                </a:cubicBezTo>
                <a:cubicBezTo>
                  <a:pt x="20828" y="6794"/>
                  <a:pt x="20793" y="6721"/>
                  <a:pt x="20732" y="6661"/>
                </a:cubicBezTo>
                <a:moveTo>
                  <a:pt x="10792" y="13534"/>
                </a:moveTo>
                <a:lnTo>
                  <a:pt x="6238" y="8980"/>
                </a:lnTo>
                <a:cubicBezTo>
                  <a:pt x="6149" y="8891"/>
                  <a:pt x="6027" y="8836"/>
                  <a:pt x="5891" y="8836"/>
                </a:cubicBezTo>
                <a:cubicBezTo>
                  <a:pt x="5620" y="8836"/>
                  <a:pt x="5400" y="9056"/>
                  <a:pt x="5400" y="9327"/>
                </a:cubicBezTo>
                <a:cubicBezTo>
                  <a:pt x="5400" y="9463"/>
                  <a:pt x="5455" y="9585"/>
                  <a:pt x="5544" y="9675"/>
                </a:cubicBezTo>
                <a:lnTo>
                  <a:pt x="10453" y="14583"/>
                </a:lnTo>
                <a:cubicBezTo>
                  <a:pt x="10542" y="14672"/>
                  <a:pt x="10664" y="14727"/>
                  <a:pt x="10800" y="14727"/>
                </a:cubicBezTo>
                <a:cubicBezTo>
                  <a:pt x="10940" y="14727"/>
                  <a:pt x="11064" y="14668"/>
                  <a:pt x="11154" y="14574"/>
                </a:cubicBezTo>
                <a:lnTo>
                  <a:pt x="11155" y="14576"/>
                </a:lnTo>
                <a:lnTo>
                  <a:pt x="19353" y="5988"/>
                </a:lnTo>
                <a:cubicBezTo>
                  <a:pt x="19353" y="5989"/>
                  <a:pt x="19354" y="5990"/>
                  <a:pt x="19354" y="5991"/>
                </a:cubicBezTo>
                <a:lnTo>
                  <a:pt x="20055" y="5255"/>
                </a:lnTo>
                <a:cubicBezTo>
                  <a:pt x="20055" y="5255"/>
                  <a:pt x="20054" y="5254"/>
                  <a:pt x="20054" y="5253"/>
                </a:cubicBezTo>
                <a:lnTo>
                  <a:pt x="21464" y="3775"/>
                </a:lnTo>
                <a:lnTo>
                  <a:pt x="21463" y="3774"/>
                </a:lnTo>
                <a:cubicBezTo>
                  <a:pt x="21547" y="3686"/>
                  <a:pt x="21600" y="3567"/>
                  <a:pt x="21600" y="3436"/>
                </a:cubicBezTo>
                <a:cubicBezTo>
                  <a:pt x="21600" y="3166"/>
                  <a:pt x="21380" y="2945"/>
                  <a:pt x="21109" y="2945"/>
                </a:cubicBezTo>
                <a:cubicBezTo>
                  <a:pt x="20969" y="2945"/>
                  <a:pt x="20844" y="3005"/>
                  <a:pt x="20755" y="3099"/>
                </a:cubicBezTo>
                <a:lnTo>
                  <a:pt x="20754" y="3097"/>
                </a:lnTo>
                <a:lnTo>
                  <a:pt x="19493" y="4419"/>
                </a:lnTo>
                <a:cubicBezTo>
                  <a:pt x="19492" y="4418"/>
                  <a:pt x="19491" y="4416"/>
                  <a:pt x="19490" y="4415"/>
                </a:cubicBezTo>
                <a:lnTo>
                  <a:pt x="18805" y="5133"/>
                </a:lnTo>
                <a:cubicBezTo>
                  <a:pt x="18806" y="5134"/>
                  <a:pt x="18807" y="5136"/>
                  <a:pt x="18807" y="5137"/>
                </a:cubicBezTo>
                <a:cubicBezTo>
                  <a:pt x="18807" y="5137"/>
                  <a:pt x="10792" y="13534"/>
                  <a:pt x="10792" y="13534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32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2" name="Shape 2540"/>
          <p:cNvSpPr/>
          <p:nvPr/>
        </p:nvSpPr>
        <p:spPr>
          <a:xfrm>
            <a:off x="533231" y="2904136"/>
            <a:ext cx="524547" cy="62836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732" y="6661"/>
                </a:moveTo>
                <a:cubicBezTo>
                  <a:pt x="20540" y="6471"/>
                  <a:pt x="20228" y="6473"/>
                  <a:pt x="20038" y="6667"/>
                </a:cubicBezTo>
                <a:cubicBezTo>
                  <a:pt x="19903" y="6804"/>
                  <a:pt x="19870" y="7000"/>
                  <a:pt x="19929" y="7171"/>
                </a:cubicBezTo>
                <a:lnTo>
                  <a:pt x="19918" y="7175"/>
                </a:lnTo>
                <a:cubicBezTo>
                  <a:pt x="20365" y="8298"/>
                  <a:pt x="20618" y="951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cubicBezTo>
                  <a:pt x="5378" y="20618"/>
                  <a:pt x="982" y="16223"/>
                  <a:pt x="982" y="10800"/>
                </a:cubicBezTo>
                <a:cubicBezTo>
                  <a:pt x="982" y="5377"/>
                  <a:pt x="5378" y="982"/>
                  <a:pt x="10800" y="982"/>
                </a:cubicBezTo>
                <a:cubicBezTo>
                  <a:pt x="13575" y="982"/>
                  <a:pt x="16077" y="2136"/>
                  <a:pt x="17862" y="3989"/>
                </a:cubicBezTo>
                <a:lnTo>
                  <a:pt x="17868" y="3982"/>
                </a:lnTo>
                <a:cubicBezTo>
                  <a:pt x="18062" y="4157"/>
                  <a:pt x="18359" y="4153"/>
                  <a:pt x="18544" y="3965"/>
                </a:cubicBezTo>
                <a:cubicBezTo>
                  <a:pt x="18734" y="3771"/>
                  <a:pt x="18732" y="3461"/>
                  <a:pt x="18539" y="3270"/>
                </a:cubicBezTo>
                <a:cubicBezTo>
                  <a:pt x="18520" y="3252"/>
                  <a:pt x="18496" y="3244"/>
                  <a:pt x="18476" y="3230"/>
                </a:cubicBezTo>
                <a:cubicBezTo>
                  <a:pt x="16521" y="1241"/>
                  <a:pt x="13810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5" y="21600"/>
                  <a:pt x="21600" y="16764"/>
                  <a:pt x="21600" y="10800"/>
                </a:cubicBezTo>
                <a:cubicBezTo>
                  <a:pt x="21600" y="9412"/>
                  <a:pt x="21329" y="8089"/>
                  <a:pt x="20851" y="6869"/>
                </a:cubicBezTo>
                <a:cubicBezTo>
                  <a:pt x="20828" y="6794"/>
                  <a:pt x="20793" y="6721"/>
                  <a:pt x="20732" y="6661"/>
                </a:cubicBezTo>
                <a:moveTo>
                  <a:pt x="10792" y="13534"/>
                </a:moveTo>
                <a:lnTo>
                  <a:pt x="6238" y="8980"/>
                </a:lnTo>
                <a:cubicBezTo>
                  <a:pt x="6149" y="8891"/>
                  <a:pt x="6027" y="8836"/>
                  <a:pt x="5891" y="8836"/>
                </a:cubicBezTo>
                <a:cubicBezTo>
                  <a:pt x="5620" y="8836"/>
                  <a:pt x="5400" y="9056"/>
                  <a:pt x="5400" y="9327"/>
                </a:cubicBezTo>
                <a:cubicBezTo>
                  <a:pt x="5400" y="9463"/>
                  <a:pt x="5455" y="9585"/>
                  <a:pt x="5544" y="9675"/>
                </a:cubicBezTo>
                <a:lnTo>
                  <a:pt x="10453" y="14583"/>
                </a:lnTo>
                <a:cubicBezTo>
                  <a:pt x="10542" y="14672"/>
                  <a:pt x="10664" y="14727"/>
                  <a:pt x="10800" y="14727"/>
                </a:cubicBezTo>
                <a:cubicBezTo>
                  <a:pt x="10940" y="14727"/>
                  <a:pt x="11064" y="14668"/>
                  <a:pt x="11154" y="14574"/>
                </a:cubicBezTo>
                <a:lnTo>
                  <a:pt x="11155" y="14576"/>
                </a:lnTo>
                <a:lnTo>
                  <a:pt x="19353" y="5988"/>
                </a:lnTo>
                <a:cubicBezTo>
                  <a:pt x="19353" y="5989"/>
                  <a:pt x="19354" y="5990"/>
                  <a:pt x="19354" y="5991"/>
                </a:cubicBezTo>
                <a:lnTo>
                  <a:pt x="20055" y="5255"/>
                </a:lnTo>
                <a:cubicBezTo>
                  <a:pt x="20055" y="5255"/>
                  <a:pt x="20054" y="5254"/>
                  <a:pt x="20054" y="5253"/>
                </a:cubicBezTo>
                <a:lnTo>
                  <a:pt x="21464" y="3775"/>
                </a:lnTo>
                <a:lnTo>
                  <a:pt x="21463" y="3774"/>
                </a:lnTo>
                <a:cubicBezTo>
                  <a:pt x="21547" y="3686"/>
                  <a:pt x="21600" y="3567"/>
                  <a:pt x="21600" y="3436"/>
                </a:cubicBezTo>
                <a:cubicBezTo>
                  <a:pt x="21600" y="3166"/>
                  <a:pt x="21380" y="2945"/>
                  <a:pt x="21109" y="2945"/>
                </a:cubicBezTo>
                <a:cubicBezTo>
                  <a:pt x="20969" y="2945"/>
                  <a:pt x="20844" y="3005"/>
                  <a:pt x="20755" y="3099"/>
                </a:cubicBezTo>
                <a:lnTo>
                  <a:pt x="20754" y="3097"/>
                </a:lnTo>
                <a:lnTo>
                  <a:pt x="19493" y="4419"/>
                </a:lnTo>
                <a:cubicBezTo>
                  <a:pt x="19492" y="4418"/>
                  <a:pt x="19491" y="4416"/>
                  <a:pt x="19490" y="4415"/>
                </a:cubicBezTo>
                <a:lnTo>
                  <a:pt x="18805" y="5133"/>
                </a:lnTo>
                <a:cubicBezTo>
                  <a:pt x="18806" y="5134"/>
                  <a:pt x="18807" y="5136"/>
                  <a:pt x="18807" y="5137"/>
                </a:cubicBezTo>
                <a:cubicBezTo>
                  <a:pt x="18807" y="5137"/>
                  <a:pt x="10792" y="13534"/>
                  <a:pt x="10792" y="13534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32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E8452708-0054-47EC-AD8D-39964591028A}"/>
              </a:ext>
            </a:extLst>
          </p:cNvPr>
          <p:cNvSpPr txBox="1"/>
          <p:nvPr/>
        </p:nvSpPr>
        <p:spPr>
          <a:xfrm>
            <a:off x="1250610" y="4609879"/>
            <a:ext cx="389728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從陡坡圖，初步可以觀察出前在第</a:t>
            </a:r>
            <a:r>
              <a:rPr lang="en-US" altLang="zh-TW" dirty="0">
                <a:latin typeface="华文细黑" panose="02010600040101010101" pitchFamily="2" charset="-122"/>
                <a:ea typeface="华文细黑" panose="02010600040101010101" pitchFamily="2" charset="-122"/>
              </a:rPr>
              <a:t>4</a:t>
            </a:r>
            <a:r>
              <a:rPr lang="zh-TW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個主成分以後曲線走勢趨於平緩，相對而言，這些主成分所能解釋的變異極小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6DFA4C0-1A46-448B-B292-D8190E96A4B8}"/>
              </a:ext>
            </a:extLst>
          </p:cNvPr>
          <p:cNvSpPr/>
          <p:nvPr/>
        </p:nvSpPr>
        <p:spPr>
          <a:xfrm>
            <a:off x="1289670" y="2828835"/>
            <a:ext cx="351954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坡度明顯趨緩的時候就可以停止選擇變數。新的因素沒辦法帶來明顯的解釋力增加時，當然就不是好的因素了。</a:t>
            </a:r>
          </a:p>
        </p:txBody>
      </p:sp>
      <p:sp>
        <p:nvSpPr>
          <p:cNvPr id="16" name="椭圆 72">
            <a:extLst>
              <a:ext uri="{FF2B5EF4-FFF2-40B4-BE49-F238E27FC236}">
                <a16:creationId xmlns:a16="http://schemas.microsoft.com/office/drawing/2014/main" id="{5B74BEFB-7707-474E-B0EF-CF068AB4F8AD}"/>
              </a:ext>
            </a:extLst>
          </p:cNvPr>
          <p:cNvSpPr/>
          <p:nvPr/>
        </p:nvSpPr>
        <p:spPr>
          <a:xfrm>
            <a:off x="598717" y="215506"/>
            <a:ext cx="1299101" cy="1299101"/>
          </a:xfrm>
          <a:prstGeom prst="ellipse">
            <a:avLst/>
          </a:prstGeom>
          <a:solidFill>
            <a:srgbClr val="F6E8E7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椭圆 74">
            <a:extLst>
              <a:ext uri="{FF2B5EF4-FFF2-40B4-BE49-F238E27FC236}">
                <a16:creationId xmlns:a16="http://schemas.microsoft.com/office/drawing/2014/main" id="{3A7BEE55-364D-456A-9260-824B236F4CFD}"/>
              </a:ext>
            </a:extLst>
          </p:cNvPr>
          <p:cNvSpPr/>
          <p:nvPr/>
        </p:nvSpPr>
        <p:spPr>
          <a:xfrm>
            <a:off x="401423" y="951826"/>
            <a:ext cx="524547" cy="524547"/>
          </a:xfrm>
          <a:prstGeom prst="ellipse">
            <a:avLst/>
          </a:prstGeom>
          <a:solidFill>
            <a:srgbClr val="EDD1CF"/>
          </a:solidFill>
          <a:ln>
            <a:noFill/>
          </a:ln>
          <a:effectLst>
            <a:reflection stA="40000" endPos="30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FED2FA1C-A04C-49F2-9010-7A4990C07E4B}"/>
              </a:ext>
            </a:extLst>
          </p:cNvPr>
          <p:cNvSpPr/>
          <p:nvPr/>
        </p:nvSpPr>
        <p:spPr>
          <a:xfrm>
            <a:off x="1289670" y="584937"/>
            <a:ext cx="469872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</a:pPr>
            <a:r>
              <a:rPr lang="zh-TW" altLang="en-US" sz="3600" b="1" dirty="0">
                <a:solidFill>
                  <a:srgbClr val="523A2C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分析結果</a:t>
            </a:r>
            <a:r>
              <a:rPr lang="en-US" altLang="zh-TW" sz="3600" b="1" dirty="0">
                <a:solidFill>
                  <a:srgbClr val="523A2C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-</a:t>
            </a:r>
            <a:r>
              <a:rPr lang="zh-TW" altLang="en-US" sz="2800" dirty="0">
                <a:solidFill>
                  <a:srgbClr val="523A2C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採用主成分個數</a:t>
            </a:r>
            <a:endParaRPr lang="en-US" altLang="zh-TW" sz="2800" dirty="0">
              <a:solidFill>
                <a:srgbClr val="523A2C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52EEAC57-C28A-4820-8A9C-79104A1D3CDC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041102" y="1557385"/>
            <a:ext cx="7887701" cy="4549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45780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1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 tmFilter="0,0; .5, 1; 1, 1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23" grpId="0" animBg="1"/>
      <p:bldP spid="24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矩形 30">
            <a:extLst>
              <a:ext uri="{FF2B5EF4-FFF2-40B4-BE49-F238E27FC236}">
                <a16:creationId xmlns:a16="http://schemas.microsoft.com/office/drawing/2014/main" id="{88A30C93-5314-4134-B70F-9E5A0A5D9B67}"/>
              </a:ext>
            </a:extLst>
          </p:cNvPr>
          <p:cNvSpPr/>
          <p:nvPr/>
        </p:nvSpPr>
        <p:spPr>
          <a:xfrm>
            <a:off x="6769907" y="1951672"/>
            <a:ext cx="498593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dirty="0">
                <a:latin typeface="华文细黑" panose="02010600040101010101" pitchFamily="2" charset="-122"/>
                <a:ea typeface="华文细黑" panose="02010600040101010101" pitchFamily="2" charset="-122"/>
              </a:rPr>
              <a:t>Total</a:t>
            </a:r>
            <a:r>
              <a:rPr lang="zh-TW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欄提示的是各主成分對數據變異的解釋程度。以第一主成分為例，其特徵值為</a:t>
            </a:r>
            <a:r>
              <a:rPr lang="en-US" altLang="zh-TW" dirty="0">
                <a:latin typeface="华文细黑" panose="02010600040101010101" pitchFamily="2" charset="-122"/>
                <a:ea typeface="华文细黑" panose="02010600040101010101" pitchFamily="2" charset="-122"/>
              </a:rPr>
              <a:t>0.219</a:t>
            </a:r>
            <a:r>
              <a:rPr lang="zh-TW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，</a:t>
            </a:r>
            <a:r>
              <a:rPr lang="en-US" altLang="zh-TW" dirty="0">
                <a:latin typeface="华文细黑" panose="02010600040101010101" pitchFamily="2" charset="-122"/>
                <a:ea typeface="华文细黑" panose="02010600040101010101" pitchFamily="2" charset="-122"/>
              </a:rPr>
              <a:t>87.109% </a:t>
            </a:r>
            <a:r>
              <a:rPr lang="zh-TW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（</a:t>
            </a:r>
            <a:r>
              <a:rPr lang="en-US" altLang="zh-TW" dirty="0">
                <a:latin typeface="华文细黑" panose="02010600040101010101" pitchFamily="2" charset="-122"/>
                <a:ea typeface="华文细黑" panose="02010600040101010101" pitchFamily="2" charset="-122"/>
              </a:rPr>
              <a:t>% of Variance</a:t>
            </a:r>
            <a:r>
              <a:rPr lang="zh-TW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欄）。</a:t>
            </a:r>
          </a:p>
        </p:txBody>
      </p:sp>
      <p:sp>
        <p:nvSpPr>
          <p:cNvPr id="33" name="椭圆 72">
            <a:extLst>
              <a:ext uri="{FF2B5EF4-FFF2-40B4-BE49-F238E27FC236}">
                <a16:creationId xmlns:a16="http://schemas.microsoft.com/office/drawing/2014/main" id="{596D122E-7CF0-4557-A22B-77E3D4934375}"/>
              </a:ext>
            </a:extLst>
          </p:cNvPr>
          <p:cNvSpPr/>
          <p:nvPr/>
        </p:nvSpPr>
        <p:spPr>
          <a:xfrm>
            <a:off x="598717" y="215506"/>
            <a:ext cx="1299101" cy="1299101"/>
          </a:xfrm>
          <a:prstGeom prst="ellipse">
            <a:avLst/>
          </a:prstGeom>
          <a:solidFill>
            <a:srgbClr val="F6E8E7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椭圆 74">
            <a:extLst>
              <a:ext uri="{FF2B5EF4-FFF2-40B4-BE49-F238E27FC236}">
                <a16:creationId xmlns:a16="http://schemas.microsoft.com/office/drawing/2014/main" id="{C83AC830-D219-41F7-9BED-87D39DE5771F}"/>
              </a:ext>
            </a:extLst>
          </p:cNvPr>
          <p:cNvSpPr/>
          <p:nvPr/>
        </p:nvSpPr>
        <p:spPr>
          <a:xfrm>
            <a:off x="401423" y="951826"/>
            <a:ext cx="524547" cy="524547"/>
          </a:xfrm>
          <a:prstGeom prst="ellipse">
            <a:avLst/>
          </a:prstGeom>
          <a:solidFill>
            <a:srgbClr val="EDD1CF"/>
          </a:solidFill>
          <a:ln>
            <a:noFill/>
          </a:ln>
          <a:effectLst>
            <a:reflection stA="40000" endPos="30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2D06DBF4-6338-41CF-A392-CAAD21E948A1}"/>
              </a:ext>
            </a:extLst>
          </p:cNvPr>
          <p:cNvSpPr/>
          <p:nvPr/>
        </p:nvSpPr>
        <p:spPr>
          <a:xfrm>
            <a:off x="1289670" y="584937"/>
            <a:ext cx="469872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</a:pPr>
            <a:r>
              <a:rPr lang="zh-TW" altLang="en-US" sz="3600" b="1" dirty="0">
                <a:solidFill>
                  <a:srgbClr val="523A2C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分析結果</a:t>
            </a:r>
            <a:r>
              <a:rPr lang="en-US" altLang="zh-TW" sz="3600" b="1" dirty="0">
                <a:solidFill>
                  <a:srgbClr val="523A2C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-</a:t>
            </a:r>
            <a:r>
              <a:rPr lang="zh-TW" altLang="en-US" sz="2800" dirty="0">
                <a:solidFill>
                  <a:srgbClr val="523A2C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採用主成分個數</a:t>
            </a:r>
            <a:endParaRPr lang="en-US" altLang="zh-TW" sz="2800" dirty="0">
              <a:solidFill>
                <a:srgbClr val="523A2C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3BB3095A-5576-49FF-9D32-BC1E453A25AD}"/>
              </a:ext>
            </a:extLst>
          </p:cNvPr>
          <p:cNvSpPr txBox="1"/>
          <p:nvPr/>
        </p:nvSpPr>
        <p:spPr>
          <a:xfrm>
            <a:off x="6769907" y="3931920"/>
            <a:ext cx="4985935" cy="14961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TW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從此表可以看出前三個主成分可以解釋</a:t>
            </a:r>
            <a:r>
              <a:rPr lang="en-US" altLang="zh-TW" dirty="0">
                <a:latin typeface="华文细黑" panose="02010600040101010101" pitchFamily="2" charset="-122"/>
                <a:ea typeface="华文细黑" panose="02010600040101010101" pitchFamily="2" charset="-122"/>
              </a:rPr>
              <a:t>99.358%</a:t>
            </a:r>
            <a:r>
              <a:rPr lang="zh-TW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的變異，會選擇第</a:t>
            </a:r>
            <a:r>
              <a:rPr lang="en-US" altLang="zh-TW" dirty="0">
                <a:latin typeface="华文细黑" panose="02010600040101010101" pitchFamily="2" charset="-122"/>
                <a:ea typeface="华文细黑" panose="02010600040101010101" pitchFamily="2" charset="-122"/>
              </a:rPr>
              <a:t>3</a:t>
            </a:r>
            <a:r>
              <a:rPr lang="zh-TW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個主成分是因為它所佔的變異</a:t>
            </a:r>
            <a:r>
              <a:rPr lang="en-US" altLang="zh-TW" dirty="0">
                <a:latin typeface="华文细黑" panose="02010600040101010101" pitchFamily="2" charset="-122"/>
                <a:ea typeface="华文细黑" panose="02010600040101010101" pitchFamily="2" charset="-122"/>
              </a:rPr>
              <a:t>%</a:t>
            </a:r>
            <a:r>
              <a:rPr lang="zh-TW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有</a:t>
            </a:r>
            <a:r>
              <a:rPr lang="en-US" altLang="zh-TW" dirty="0">
                <a:latin typeface="华文细黑" panose="02010600040101010101" pitchFamily="2" charset="-122"/>
                <a:ea typeface="华文细黑" panose="02010600040101010101" pitchFamily="2" charset="-122"/>
              </a:rPr>
              <a:t>2.593</a:t>
            </a:r>
            <a:r>
              <a:rPr lang="zh-TW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，因此會認為此主成分還有些許明顯的解釋力</a:t>
            </a:r>
          </a:p>
        </p:txBody>
      </p:sp>
      <p:sp>
        <p:nvSpPr>
          <p:cNvPr id="36" name="Shape 2540">
            <a:extLst>
              <a:ext uri="{FF2B5EF4-FFF2-40B4-BE49-F238E27FC236}">
                <a16:creationId xmlns:a16="http://schemas.microsoft.com/office/drawing/2014/main" id="{BD89EEF0-D8FA-4686-B605-DF4D22C61984}"/>
              </a:ext>
            </a:extLst>
          </p:cNvPr>
          <p:cNvSpPr/>
          <p:nvPr/>
        </p:nvSpPr>
        <p:spPr>
          <a:xfrm>
            <a:off x="6245361" y="2513141"/>
            <a:ext cx="358640" cy="42309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732" y="6661"/>
                </a:moveTo>
                <a:cubicBezTo>
                  <a:pt x="20540" y="6471"/>
                  <a:pt x="20228" y="6473"/>
                  <a:pt x="20038" y="6667"/>
                </a:cubicBezTo>
                <a:cubicBezTo>
                  <a:pt x="19903" y="6804"/>
                  <a:pt x="19870" y="7000"/>
                  <a:pt x="19929" y="7171"/>
                </a:cubicBezTo>
                <a:lnTo>
                  <a:pt x="19918" y="7175"/>
                </a:lnTo>
                <a:cubicBezTo>
                  <a:pt x="20365" y="8298"/>
                  <a:pt x="20618" y="951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cubicBezTo>
                  <a:pt x="5378" y="20618"/>
                  <a:pt x="982" y="16223"/>
                  <a:pt x="982" y="10800"/>
                </a:cubicBezTo>
                <a:cubicBezTo>
                  <a:pt x="982" y="5377"/>
                  <a:pt x="5378" y="982"/>
                  <a:pt x="10800" y="982"/>
                </a:cubicBezTo>
                <a:cubicBezTo>
                  <a:pt x="13575" y="982"/>
                  <a:pt x="16077" y="2136"/>
                  <a:pt x="17862" y="3989"/>
                </a:cubicBezTo>
                <a:lnTo>
                  <a:pt x="17868" y="3982"/>
                </a:lnTo>
                <a:cubicBezTo>
                  <a:pt x="18062" y="4157"/>
                  <a:pt x="18359" y="4153"/>
                  <a:pt x="18544" y="3965"/>
                </a:cubicBezTo>
                <a:cubicBezTo>
                  <a:pt x="18734" y="3771"/>
                  <a:pt x="18732" y="3461"/>
                  <a:pt x="18539" y="3270"/>
                </a:cubicBezTo>
                <a:cubicBezTo>
                  <a:pt x="18520" y="3252"/>
                  <a:pt x="18496" y="3244"/>
                  <a:pt x="18476" y="3230"/>
                </a:cubicBezTo>
                <a:cubicBezTo>
                  <a:pt x="16521" y="1241"/>
                  <a:pt x="13810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5" y="21600"/>
                  <a:pt x="21600" y="16764"/>
                  <a:pt x="21600" y="10800"/>
                </a:cubicBezTo>
                <a:cubicBezTo>
                  <a:pt x="21600" y="9412"/>
                  <a:pt x="21329" y="8089"/>
                  <a:pt x="20851" y="6869"/>
                </a:cubicBezTo>
                <a:cubicBezTo>
                  <a:pt x="20828" y="6794"/>
                  <a:pt x="20793" y="6721"/>
                  <a:pt x="20732" y="6661"/>
                </a:cubicBezTo>
                <a:moveTo>
                  <a:pt x="10792" y="13534"/>
                </a:moveTo>
                <a:lnTo>
                  <a:pt x="6238" y="8980"/>
                </a:lnTo>
                <a:cubicBezTo>
                  <a:pt x="6149" y="8891"/>
                  <a:pt x="6027" y="8836"/>
                  <a:pt x="5891" y="8836"/>
                </a:cubicBezTo>
                <a:cubicBezTo>
                  <a:pt x="5620" y="8836"/>
                  <a:pt x="5400" y="9056"/>
                  <a:pt x="5400" y="9327"/>
                </a:cubicBezTo>
                <a:cubicBezTo>
                  <a:pt x="5400" y="9463"/>
                  <a:pt x="5455" y="9585"/>
                  <a:pt x="5544" y="9675"/>
                </a:cubicBezTo>
                <a:lnTo>
                  <a:pt x="10453" y="14583"/>
                </a:lnTo>
                <a:cubicBezTo>
                  <a:pt x="10542" y="14672"/>
                  <a:pt x="10664" y="14727"/>
                  <a:pt x="10800" y="14727"/>
                </a:cubicBezTo>
                <a:cubicBezTo>
                  <a:pt x="10940" y="14727"/>
                  <a:pt x="11064" y="14668"/>
                  <a:pt x="11154" y="14574"/>
                </a:cubicBezTo>
                <a:lnTo>
                  <a:pt x="11155" y="14576"/>
                </a:lnTo>
                <a:lnTo>
                  <a:pt x="19353" y="5988"/>
                </a:lnTo>
                <a:cubicBezTo>
                  <a:pt x="19353" y="5989"/>
                  <a:pt x="19354" y="5990"/>
                  <a:pt x="19354" y="5991"/>
                </a:cubicBezTo>
                <a:lnTo>
                  <a:pt x="20055" y="5255"/>
                </a:lnTo>
                <a:cubicBezTo>
                  <a:pt x="20055" y="5255"/>
                  <a:pt x="20054" y="5254"/>
                  <a:pt x="20054" y="5253"/>
                </a:cubicBezTo>
                <a:lnTo>
                  <a:pt x="21464" y="3775"/>
                </a:lnTo>
                <a:lnTo>
                  <a:pt x="21463" y="3774"/>
                </a:lnTo>
                <a:cubicBezTo>
                  <a:pt x="21547" y="3686"/>
                  <a:pt x="21600" y="3567"/>
                  <a:pt x="21600" y="3436"/>
                </a:cubicBezTo>
                <a:cubicBezTo>
                  <a:pt x="21600" y="3166"/>
                  <a:pt x="21380" y="2945"/>
                  <a:pt x="21109" y="2945"/>
                </a:cubicBezTo>
                <a:cubicBezTo>
                  <a:pt x="20969" y="2945"/>
                  <a:pt x="20844" y="3005"/>
                  <a:pt x="20755" y="3099"/>
                </a:cubicBezTo>
                <a:lnTo>
                  <a:pt x="20754" y="3097"/>
                </a:lnTo>
                <a:lnTo>
                  <a:pt x="19493" y="4419"/>
                </a:lnTo>
                <a:cubicBezTo>
                  <a:pt x="19492" y="4418"/>
                  <a:pt x="19491" y="4416"/>
                  <a:pt x="19490" y="4415"/>
                </a:cubicBezTo>
                <a:lnTo>
                  <a:pt x="18805" y="5133"/>
                </a:lnTo>
                <a:cubicBezTo>
                  <a:pt x="18806" y="5134"/>
                  <a:pt x="18807" y="5136"/>
                  <a:pt x="18807" y="5137"/>
                </a:cubicBezTo>
                <a:cubicBezTo>
                  <a:pt x="18807" y="5137"/>
                  <a:pt x="10792" y="13534"/>
                  <a:pt x="10792" y="13534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32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7" name="Shape 2540">
            <a:extLst>
              <a:ext uri="{FF2B5EF4-FFF2-40B4-BE49-F238E27FC236}">
                <a16:creationId xmlns:a16="http://schemas.microsoft.com/office/drawing/2014/main" id="{8A5956B4-F56D-4391-B43A-5A1294CDBCD3}"/>
              </a:ext>
            </a:extLst>
          </p:cNvPr>
          <p:cNvSpPr/>
          <p:nvPr/>
        </p:nvSpPr>
        <p:spPr>
          <a:xfrm>
            <a:off x="6245361" y="4679977"/>
            <a:ext cx="358640" cy="42309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732" y="6661"/>
                </a:moveTo>
                <a:cubicBezTo>
                  <a:pt x="20540" y="6471"/>
                  <a:pt x="20228" y="6473"/>
                  <a:pt x="20038" y="6667"/>
                </a:cubicBezTo>
                <a:cubicBezTo>
                  <a:pt x="19903" y="6804"/>
                  <a:pt x="19870" y="7000"/>
                  <a:pt x="19929" y="7171"/>
                </a:cubicBezTo>
                <a:lnTo>
                  <a:pt x="19918" y="7175"/>
                </a:lnTo>
                <a:cubicBezTo>
                  <a:pt x="20365" y="8298"/>
                  <a:pt x="20618" y="951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cubicBezTo>
                  <a:pt x="5378" y="20618"/>
                  <a:pt x="982" y="16223"/>
                  <a:pt x="982" y="10800"/>
                </a:cubicBezTo>
                <a:cubicBezTo>
                  <a:pt x="982" y="5377"/>
                  <a:pt x="5378" y="982"/>
                  <a:pt x="10800" y="982"/>
                </a:cubicBezTo>
                <a:cubicBezTo>
                  <a:pt x="13575" y="982"/>
                  <a:pt x="16077" y="2136"/>
                  <a:pt x="17862" y="3989"/>
                </a:cubicBezTo>
                <a:lnTo>
                  <a:pt x="17868" y="3982"/>
                </a:lnTo>
                <a:cubicBezTo>
                  <a:pt x="18062" y="4157"/>
                  <a:pt x="18359" y="4153"/>
                  <a:pt x="18544" y="3965"/>
                </a:cubicBezTo>
                <a:cubicBezTo>
                  <a:pt x="18734" y="3771"/>
                  <a:pt x="18732" y="3461"/>
                  <a:pt x="18539" y="3270"/>
                </a:cubicBezTo>
                <a:cubicBezTo>
                  <a:pt x="18520" y="3252"/>
                  <a:pt x="18496" y="3244"/>
                  <a:pt x="18476" y="3230"/>
                </a:cubicBezTo>
                <a:cubicBezTo>
                  <a:pt x="16521" y="1241"/>
                  <a:pt x="13810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5" y="21600"/>
                  <a:pt x="21600" y="16764"/>
                  <a:pt x="21600" y="10800"/>
                </a:cubicBezTo>
                <a:cubicBezTo>
                  <a:pt x="21600" y="9412"/>
                  <a:pt x="21329" y="8089"/>
                  <a:pt x="20851" y="6869"/>
                </a:cubicBezTo>
                <a:cubicBezTo>
                  <a:pt x="20828" y="6794"/>
                  <a:pt x="20793" y="6721"/>
                  <a:pt x="20732" y="6661"/>
                </a:cubicBezTo>
                <a:moveTo>
                  <a:pt x="10792" y="13534"/>
                </a:moveTo>
                <a:lnTo>
                  <a:pt x="6238" y="8980"/>
                </a:lnTo>
                <a:cubicBezTo>
                  <a:pt x="6149" y="8891"/>
                  <a:pt x="6027" y="8836"/>
                  <a:pt x="5891" y="8836"/>
                </a:cubicBezTo>
                <a:cubicBezTo>
                  <a:pt x="5620" y="8836"/>
                  <a:pt x="5400" y="9056"/>
                  <a:pt x="5400" y="9327"/>
                </a:cubicBezTo>
                <a:cubicBezTo>
                  <a:pt x="5400" y="9463"/>
                  <a:pt x="5455" y="9585"/>
                  <a:pt x="5544" y="9675"/>
                </a:cubicBezTo>
                <a:lnTo>
                  <a:pt x="10453" y="14583"/>
                </a:lnTo>
                <a:cubicBezTo>
                  <a:pt x="10542" y="14672"/>
                  <a:pt x="10664" y="14727"/>
                  <a:pt x="10800" y="14727"/>
                </a:cubicBezTo>
                <a:cubicBezTo>
                  <a:pt x="10940" y="14727"/>
                  <a:pt x="11064" y="14668"/>
                  <a:pt x="11154" y="14574"/>
                </a:cubicBezTo>
                <a:lnTo>
                  <a:pt x="11155" y="14576"/>
                </a:lnTo>
                <a:lnTo>
                  <a:pt x="19353" y="5988"/>
                </a:lnTo>
                <a:cubicBezTo>
                  <a:pt x="19353" y="5989"/>
                  <a:pt x="19354" y="5990"/>
                  <a:pt x="19354" y="5991"/>
                </a:cubicBezTo>
                <a:lnTo>
                  <a:pt x="20055" y="5255"/>
                </a:lnTo>
                <a:cubicBezTo>
                  <a:pt x="20055" y="5255"/>
                  <a:pt x="20054" y="5254"/>
                  <a:pt x="20054" y="5253"/>
                </a:cubicBezTo>
                <a:lnTo>
                  <a:pt x="21464" y="3775"/>
                </a:lnTo>
                <a:lnTo>
                  <a:pt x="21463" y="3774"/>
                </a:lnTo>
                <a:cubicBezTo>
                  <a:pt x="21547" y="3686"/>
                  <a:pt x="21600" y="3567"/>
                  <a:pt x="21600" y="3436"/>
                </a:cubicBezTo>
                <a:cubicBezTo>
                  <a:pt x="21600" y="3166"/>
                  <a:pt x="21380" y="2945"/>
                  <a:pt x="21109" y="2945"/>
                </a:cubicBezTo>
                <a:cubicBezTo>
                  <a:pt x="20969" y="2945"/>
                  <a:pt x="20844" y="3005"/>
                  <a:pt x="20755" y="3099"/>
                </a:cubicBezTo>
                <a:lnTo>
                  <a:pt x="20754" y="3097"/>
                </a:lnTo>
                <a:lnTo>
                  <a:pt x="19493" y="4419"/>
                </a:lnTo>
                <a:cubicBezTo>
                  <a:pt x="19492" y="4418"/>
                  <a:pt x="19491" y="4416"/>
                  <a:pt x="19490" y="4415"/>
                </a:cubicBezTo>
                <a:lnTo>
                  <a:pt x="18805" y="5133"/>
                </a:lnTo>
                <a:cubicBezTo>
                  <a:pt x="18806" y="5134"/>
                  <a:pt x="18807" y="5136"/>
                  <a:pt x="18807" y="5137"/>
                </a:cubicBezTo>
                <a:cubicBezTo>
                  <a:pt x="18807" y="5137"/>
                  <a:pt x="10792" y="13534"/>
                  <a:pt x="10792" y="13534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32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45293CF6-9D75-411B-A4F6-65DFE5CAA64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8462"/>
          <a:stretch/>
        </p:blipFill>
        <p:spPr>
          <a:xfrm>
            <a:off x="86272" y="1710501"/>
            <a:ext cx="6028465" cy="5327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55777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1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 tmFilter="0,0; .5, 1; 1, 1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34" grpId="0" animBg="1"/>
      <p:bldP spid="35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cx1="http://schemas.microsoft.com/office/drawing/2015/9/8/chartex" Requires="cx1">
          <p:graphicFrame>
            <p:nvGraphicFramePr>
              <p:cNvPr id="8" name="圖表 7">
                <a:extLst>
                  <a:ext uri="{FF2B5EF4-FFF2-40B4-BE49-F238E27FC236}">
                    <a16:creationId xmlns:a16="http://schemas.microsoft.com/office/drawing/2014/main" id="{205D123B-2CBC-4D3E-A22E-0BE857AA502E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2220616099"/>
                  </p:ext>
                </p:extLst>
              </p:nvPr>
            </p:nvGraphicFramePr>
            <p:xfrm>
              <a:off x="371475" y="243927"/>
              <a:ext cx="5617210" cy="3755390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2"/>
              </a:graphicData>
            </a:graphic>
          </p:graphicFrame>
        </mc:Choice>
        <mc:Fallback>
          <p:pic>
            <p:nvPicPr>
              <p:cNvPr id="8" name="圖表 7">
                <a:extLst>
                  <a:ext uri="{FF2B5EF4-FFF2-40B4-BE49-F238E27FC236}">
                    <a16:creationId xmlns:a16="http://schemas.microsoft.com/office/drawing/2014/main" id="{205D123B-2CBC-4D3E-A22E-0BE857AA502E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71475" y="243927"/>
                <a:ext cx="5617210" cy="375539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cx1="http://schemas.microsoft.com/office/drawing/2015/9/8/chartex" Requires="cx1">
          <p:graphicFrame>
            <p:nvGraphicFramePr>
              <p:cNvPr id="9" name="圖表 8">
                <a:extLst>
                  <a:ext uri="{FF2B5EF4-FFF2-40B4-BE49-F238E27FC236}">
                    <a16:creationId xmlns:a16="http://schemas.microsoft.com/office/drawing/2014/main" id="{88E54DBD-9A4F-47EC-864B-16315BB7E496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1917927658"/>
                  </p:ext>
                </p:extLst>
              </p:nvPr>
            </p:nvGraphicFramePr>
            <p:xfrm>
              <a:off x="6544635" y="243928"/>
              <a:ext cx="5494020" cy="3755389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4"/>
              </a:graphicData>
            </a:graphic>
          </p:graphicFrame>
        </mc:Choice>
        <mc:Fallback>
          <p:pic>
            <p:nvPicPr>
              <p:cNvPr id="9" name="圖表 8">
                <a:extLst>
                  <a:ext uri="{FF2B5EF4-FFF2-40B4-BE49-F238E27FC236}">
                    <a16:creationId xmlns:a16="http://schemas.microsoft.com/office/drawing/2014/main" id="{88E54DBD-9A4F-47EC-864B-16315BB7E496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544635" y="243928"/>
                <a:ext cx="5494020" cy="375538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cx1="http://schemas.microsoft.com/office/drawing/2015/9/8/chartex" Requires="cx1">
          <p:graphicFrame>
            <p:nvGraphicFramePr>
              <p:cNvPr id="12" name="圖表 11">
                <a:extLst>
                  <a:ext uri="{FF2B5EF4-FFF2-40B4-BE49-F238E27FC236}">
                    <a16:creationId xmlns:a16="http://schemas.microsoft.com/office/drawing/2014/main" id="{903079A4-AFBA-4B83-B78F-4232A4142318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590626334"/>
                  </p:ext>
                </p:extLst>
              </p:nvPr>
            </p:nvGraphicFramePr>
            <p:xfrm>
              <a:off x="6406205" y="3999317"/>
              <a:ext cx="5770880" cy="2961640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6"/>
              </a:graphicData>
            </a:graphic>
          </p:graphicFrame>
        </mc:Choice>
        <mc:Fallback>
          <p:pic>
            <p:nvPicPr>
              <p:cNvPr id="12" name="圖表 11">
                <a:extLst>
                  <a:ext uri="{FF2B5EF4-FFF2-40B4-BE49-F238E27FC236}">
                    <a16:creationId xmlns:a16="http://schemas.microsoft.com/office/drawing/2014/main" id="{903079A4-AFBA-4B83-B78F-4232A4142318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406205" y="3999317"/>
                <a:ext cx="5770880" cy="296164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矩形 2">
            <a:extLst>
              <a:ext uri="{FF2B5EF4-FFF2-40B4-BE49-F238E27FC236}">
                <a16:creationId xmlns:a16="http://schemas.microsoft.com/office/drawing/2014/main" id="{DDED2B46-934A-47F7-B6C4-D1683F228D42}"/>
              </a:ext>
            </a:extLst>
          </p:cNvPr>
          <p:cNvSpPr/>
          <p:nvPr/>
        </p:nvSpPr>
        <p:spPr>
          <a:xfrm>
            <a:off x="1631271" y="4828309"/>
            <a:ext cx="338729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Clr>
                <a:srgbClr val="48A2A0"/>
              </a:buClr>
              <a:buFont typeface="Wingdings" panose="05000000000000000000" pitchFamily="2" charset="2"/>
              <a:buChar char="l"/>
            </a:pPr>
            <a:r>
              <a:rPr lang="en-US" altLang="zh-TW" dirty="0">
                <a:solidFill>
                  <a:srgbClr val="523A2C"/>
                </a:solidFill>
              </a:rPr>
              <a:t>3</a:t>
            </a:r>
            <a:r>
              <a:rPr lang="zh-TW" altLang="en-US" dirty="0">
                <a:solidFill>
                  <a:srgbClr val="523A2C"/>
                </a:solidFill>
              </a:rPr>
              <a:t>個主成分的盒鬚圖</a:t>
            </a:r>
            <a:endParaRPr lang="en-US" altLang="zh-TW" dirty="0">
              <a:solidFill>
                <a:srgbClr val="523A2C"/>
              </a:solidFill>
            </a:endParaRPr>
          </a:p>
          <a:p>
            <a:pPr marL="285750" indent="-285750">
              <a:buClr>
                <a:srgbClr val="48A2A0"/>
              </a:buClr>
              <a:buFont typeface="Wingdings" panose="05000000000000000000" pitchFamily="2" charset="2"/>
              <a:buChar char="l"/>
            </a:pPr>
            <a:r>
              <a:rPr lang="zh-TW" altLang="en-US" dirty="0">
                <a:solidFill>
                  <a:srgbClr val="523A2C"/>
                </a:solidFill>
              </a:rPr>
              <a:t>主成分一的離散程度最大</a:t>
            </a:r>
            <a:endParaRPr lang="en-US" altLang="zh-TW" dirty="0">
              <a:solidFill>
                <a:srgbClr val="523A2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641901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781082" y="3533001"/>
            <a:ext cx="3009900" cy="381000"/>
          </a:xfrm>
          <a:prstGeom prst="rect">
            <a:avLst/>
          </a:prstGeom>
          <a:solidFill>
            <a:srgbClr val="D78F8D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cap="flat" cmpd="sng">
                <a:solidFill>
                  <a:srgbClr val="395E8A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r>
              <a:rPr lang="zh-TW" altLang="en-US" dirty="0">
                <a:solidFill>
                  <a:srgbClr val="FFFFFF"/>
                </a:solidFill>
                <a:latin typeface="宋体" panose="02010600030101010101" pitchFamily="2" charset="-122"/>
              </a:rPr>
              <a:t>品牌價值</a:t>
            </a:r>
            <a:endParaRPr lang="zh-CN" altLang="en-US" dirty="0">
              <a:solidFill>
                <a:srgbClr val="FFFFFF"/>
              </a:solidFill>
              <a:latin typeface="宋体" panose="02010600030101010101" pitchFamily="2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685389" y="4212550"/>
            <a:ext cx="3562350" cy="16004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Clr>
                <a:srgbClr val="48A2A0"/>
              </a:buClr>
              <a:buFont typeface="Wingdings" panose="05000000000000000000" pitchFamily="2" charset="2"/>
              <a:buChar char="l"/>
            </a:pPr>
            <a:r>
              <a:rPr lang="zh-TW" altLang="en-US" sz="1400" dirty="0">
                <a:solidFill>
                  <a:srgbClr val="523A2C"/>
                </a:solidFill>
              </a:rPr>
              <a:t>將主成分一定義為品牌價值，因為可以從上圖表看出前幾十幾家手機公司的值大於零，後面幾家皆為負數</a:t>
            </a:r>
            <a:endParaRPr lang="en-US" altLang="zh-TW" sz="1400" dirty="0">
              <a:solidFill>
                <a:srgbClr val="523A2C"/>
              </a:solidFill>
            </a:endParaRPr>
          </a:p>
          <a:p>
            <a:pPr marL="285750" indent="-285750">
              <a:buClr>
                <a:srgbClr val="48A2A0"/>
              </a:buClr>
              <a:buFont typeface="Wingdings" panose="05000000000000000000" pitchFamily="2" charset="2"/>
              <a:buChar char="l"/>
            </a:pPr>
            <a:r>
              <a:rPr lang="zh-TW" altLang="en-US" sz="1400" dirty="0">
                <a:solidFill>
                  <a:srgbClr val="523A2C"/>
                </a:solidFill>
              </a:rPr>
              <a:t>前面幾家手機公司的各項變數都較高</a:t>
            </a:r>
            <a:r>
              <a:rPr lang="en-US" altLang="zh-TW" sz="1400" dirty="0">
                <a:solidFill>
                  <a:srgbClr val="523A2C"/>
                </a:solidFill>
              </a:rPr>
              <a:t>(</a:t>
            </a:r>
            <a:r>
              <a:rPr lang="zh-TW" altLang="en-US" sz="1400" dirty="0">
                <a:solidFill>
                  <a:srgbClr val="523A2C"/>
                </a:solidFill>
              </a:rPr>
              <a:t>知名度、忠誠度</a:t>
            </a:r>
            <a:r>
              <a:rPr lang="en-US" altLang="zh-TW" sz="1400" dirty="0">
                <a:solidFill>
                  <a:srgbClr val="523A2C"/>
                </a:solidFill>
              </a:rPr>
              <a:t>)</a:t>
            </a:r>
            <a:r>
              <a:rPr lang="zh-TW" altLang="en-US" sz="1400" dirty="0">
                <a:solidFill>
                  <a:srgbClr val="523A2C"/>
                </a:solidFill>
              </a:rPr>
              <a:t>，因此將主成分一定義為公司的品牌價值</a:t>
            </a:r>
            <a:endParaRPr lang="en-US" altLang="zh-TW" sz="1400" dirty="0">
              <a:solidFill>
                <a:srgbClr val="523A2C"/>
              </a:solidFill>
            </a:endParaRPr>
          </a:p>
          <a:p>
            <a:pPr marL="285750" indent="-285750">
              <a:buClr>
                <a:srgbClr val="48A2A0"/>
              </a:buClr>
              <a:buFont typeface="Wingdings" panose="05000000000000000000" pitchFamily="2" charset="2"/>
              <a:buChar char="l"/>
            </a:pPr>
            <a:endParaRPr lang="zh-CN" altLang="en-US" sz="1400" dirty="0">
              <a:solidFill>
                <a:srgbClr val="523A2C"/>
              </a:solidFill>
            </a:endParaRPr>
          </a:p>
        </p:txBody>
      </p:sp>
      <p:graphicFrame>
        <p:nvGraphicFramePr>
          <p:cNvPr id="10" name="圖表 9">
            <a:extLst>
              <a:ext uri="{FF2B5EF4-FFF2-40B4-BE49-F238E27FC236}">
                <a16:creationId xmlns:a16="http://schemas.microsoft.com/office/drawing/2014/main" id="{6555FA0C-3B4F-4088-ABED-FD327C2A2E1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22417677"/>
              </p:ext>
            </p:extLst>
          </p:nvPr>
        </p:nvGraphicFramePr>
        <p:xfrm>
          <a:off x="-1" y="528598"/>
          <a:ext cx="4440919" cy="270585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3" name="圖表 12">
            <a:extLst>
              <a:ext uri="{FF2B5EF4-FFF2-40B4-BE49-F238E27FC236}">
                <a16:creationId xmlns:a16="http://schemas.microsoft.com/office/drawing/2014/main" id="{72A9E6FB-6AEA-4A3D-9156-1576798E7AD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54610603"/>
              </p:ext>
            </p:extLst>
          </p:nvPr>
        </p:nvGraphicFramePr>
        <p:xfrm>
          <a:off x="4440919" y="528598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4" name="圖表 13">
            <a:extLst>
              <a:ext uri="{FF2B5EF4-FFF2-40B4-BE49-F238E27FC236}">
                <a16:creationId xmlns:a16="http://schemas.microsoft.com/office/drawing/2014/main" id="{42489B31-EC93-4442-AB7D-A4C5A532CC8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76008568"/>
              </p:ext>
            </p:extLst>
          </p:nvPr>
        </p:nvGraphicFramePr>
        <p:xfrm>
          <a:off x="9012919" y="619760"/>
          <a:ext cx="3867888" cy="2260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5" name="矩形 14">
            <a:extLst>
              <a:ext uri="{FF2B5EF4-FFF2-40B4-BE49-F238E27FC236}">
                <a16:creationId xmlns:a16="http://schemas.microsoft.com/office/drawing/2014/main" id="{5C62B6ED-8D00-41C0-9A27-2C47821DCF63}"/>
              </a:ext>
            </a:extLst>
          </p:cNvPr>
          <p:cNvSpPr/>
          <p:nvPr/>
        </p:nvSpPr>
        <p:spPr>
          <a:xfrm>
            <a:off x="9012919" y="3586203"/>
            <a:ext cx="3009900" cy="381000"/>
          </a:xfrm>
          <a:prstGeom prst="rect">
            <a:avLst/>
          </a:prstGeom>
          <a:solidFill>
            <a:srgbClr val="D78F8D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cap="flat" cmpd="sng">
                <a:solidFill>
                  <a:srgbClr val="395E8A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r>
              <a:rPr lang="zh-TW" altLang="en-US" dirty="0">
                <a:solidFill>
                  <a:srgbClr val="FFFFFF"/>
                </a:solidFill>
                <a:latin typeface="宋体" panose="02010600030101010101" pitchFamily="2" charset="-122"/>
              </a:rPr>
              <a:t>未來購買</a:t>
            </a:r>
            <a:endParaRPr lang="zh-CN" altLang="en-US" dirty="0">
              <a:solidFill>
                <a:srgbClr val="FFFFFF"/>
              </a:solidFill>
              <a:latin typeface="宋体" panose="02010600030101010101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722D765-B064-41DF-9FD1-A3D018B5A4CE}"/>
              </a:ext>
            </a:extLst>
          </p:cNvPr>
          <p:cNvSpPr/>
          <p:nvPr/>
        </p:nvSpPr>
        <p:spPr>
          <a:xfrm>
            <a:off x="5141093" y="3586203"/>
            <a:ext cx="3009900" cy="381000"/>
          </a:xfrm>
          <a:prstGeom prst="rect">
            <a:avLst/>
          </a:prstGeom>
          <a:solidFill>
            <a:srgbClr val="D78F8D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cap="flat" cmpd="sng">
                <a:solidFill>
                  <a:srgbClr val="395E8A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r>
              <a:rPr lang="zh-TW" altLang="en-US" dirty="0">
                <a:solidFill>
                  <a:srgbClr val="FFFFFF"/>
                </a:solidFill>
                <a:latin typeface="宋体" panose="02010600030101010101" pitchFamily="2" charset="-122"/>
              </a:rPr>
              <a:t>產品更新程度</a:t>
            </a:r>
            <a:endParaRPr lang="zh-CN" altLang="en-US" dirty="0">
              <a:solidFill>
                <a:srgbClr val="FFFFFF"/>
              </a:solidFill>
              <a:latin typeface="宋体" panose="02010600030101010101" pitchFamily="2" charset="-122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D101A5D6-E9E6-46F9-88D0-4647CA6DF228}"/>
              </a:ext>
            </a:extLst>
          </p:cNvPr>
          <p:cNvSpPr/>
          <p:nvPr/>
        </p:nvSpPr>
        <p:spPr>
          <a:xfrm>
            <a:off x="4945744" y="4779626"/>
            <a:ext cx="356235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Clr>
                <a:srgbClr val="48A2A0"/>
              </a:buClr>
              <a:buFont typeface="Wingdings" panose="05000000000000000000" pitchFamily="2" charset="2"/>
              <a:buChar char="l"/>
            </a:pPr>
            <a:r>
              <a:rPr lang="zh-TW" altLang="en-US" sz="1400" dirty="0">
                <a:solidFill>
                  <a:srgbClr val="523A2C"/>
                </a:solidFill>
              </a:rPr>
              <a:t>從表上看到主成分</a:t>
            </a:r>
            <a:r>
              <a:rPr lang="en-US" altLang="zh-TW" sz="1400" dirty="0">
                <a:solidFill>
                  <a:srgbClr val="523A2C"/>
                </a:solidFill>
              </a:rPr>
              <a:t>2</a:t>
            </a:r>
            <a:r>
              <a:rPr lang="zh-TW" altLang="en-US" sz="1400" dirty="0">
                <a:solidFill>
                  <a:srgbClr val="523A2C"/>
                </a:solidFill>
              </a:rPr>
              <a:t>為正值的公司，都是有持續不斷在發產品的公司</a:t>
            </a:r>
            <a:endParaRPr lang="en-US" altLang="zh-CN" sz="1400" dirty="0">
              <a:solidFill>
                <a:srgbClr val="523A2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698579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圖表 5">
            <a:extLst>
              <a:ext uri="{FF2B5EF4-FFF2-40B4-BE49-F238E27FC236}">
                <a16:creationId xmlns:a16="http://schemas.microsoft.com/office/drawing/2014/main" id="{9AB89516-3016-4540-A2E5-91ECDA6FDBC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3550689"/>
              </p:ext>
            </p:extLst>
          </p:nvPr>
        </p:nvGraphicFramePr>
        <p:xfrm>
          <a:off x="1701209" y="318977"/>
          <a:ext cx="9050965" cy="56352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08651985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圖表 4">
            <a:extLst>
              <a:ext uri="{FF2B5EF4-FFF2-40B4-BE49-F238E27FC236}">
                <a16:creationId xmlns:a16="http://schemas.microsoft.com/office/drawing/2014/main" id="{E6125C98-22DF-45F3-ABC3-66637CBDCB9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73531084"/>
              </p:ext>
            </p:extLst>
          </p:nvPr>
        </p:nvGraphicFramePr>
        <p:xfrm>
          <a:off x="330083" y="473148"/>
          <a:ext cx="5581620" cy="345026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6" name="圖表 5">
            <a:extLst>
              <a:ext uri="{FF2B5EF4-FFF2-40B4-BE49-F238E27FC236}">
                <a16:creationId xmlns:a16="http://schemas.microsoft.com/office/drawing/2014/main" id="{E28A6868-3A4E-4B28-8F96-A18AC700A36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5323814"/>
              </p:ext>
            </p:extLst>
          </p:nvPr>
        </p:nvGraphicFramePr>
        <p:xfrm>
          <a:off x="6095999" y="473147"/>
          <a:ext cx="5765918" cy="345026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圖表 6">
            <a:extLst>
              <a:ext uri="{FF2B5EF4-FFF2-40B4-BE49-F238E27FC236}">
                <a16:creationId xmlns:a16="http://schemas.microsoft.com/office/drawing/2014/main" id="{8310466B-58FB-4DD2-BF3A-8097BC638D9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46737260"/>
              </p:ext>
            </p:extLst>
          </p:nvPr>
        </p:nvGraphicFramePr>
        <p:xfrm>
          <a:off x="3320901" y="3923412"/>
          <a:ext cx="5581619" cy="29345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271785051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任意多边形 11"/>
          <p:cNvSpPr/>
          <p:nvPr/>
        </p:nvSpPr>
        <p:spPr>
          <a:xfrm>
            <a:off x="3627117" y="550681"/>
            <a:ext cx="8564883" cy="6307319"/>
          </a:xfrm>
          <a:custGeom>
            <a:avLst/>
            <a:gdLst>
              <a:gd name="connsiteX0" fmla="*/ 4052585 w 7495569"/>
              <a:gd name="connsiteY0" fmla="*/ 0 h 5760400"/>
              <a:gd name="connsiteX1" fmla="*/ 7413052 w 7495569"/>
              <a:gd name="connsiteY1" fmla="*/ 1786746 h 5760400"/>
              <a:gd name="connsiteX2" fmla="*/ 7495569 w 7495569"/>
              <a:gd name="connsiteY2" fmla="*/ 1922573 h 5760400"/>
              <a:gd name="connsiteX3" fmla="*/ 7495569 w 7495569"/>
              <a:gd name="connsiteY3" fmla="*/ 5760400 h 5760400"/>
              <a:gd name="connsiteX4" fmla="*/ 381273 w 7495569"/>
              <a:gd name="connsiteY4" fmla="*/ 5760400 h 5760400"/>
              <a:gd name="connsiteX5" fmla="*/ 318473 w 7495569"/>
              <a:gd name="connsiteY5" fmla="*/ 5630034 h 5760400"/>
              <a:gd name="connsiteX6" fmla="*/ 0 w 7495569"/>
              <a:gd name="connsiteY6" fmla="*/ 4052585 h 5760400"/>
              <a:gd name="connsiteX7" fmla="*/ 4052585 w 7495569"/>
              <a:gd name="connsiteY7" fmla="*/ 0 h 5760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495569" h="5760400">
                <a:moveTo>
                  <a:pt x="4052585" y="0"/>
                </a:moveTo>
                <a:cubicBezTo>
                  <a:pt x="5451448" y="0"/>
                  <a:pt x="6684773" y="708752"/>
                  <a:pt x="7413052" y="1786746"/>
                </a:cubicBezTo>
                <a:lnTo>
                  <a:pt x="7495569" y="1922573"/>
                </a:lnTo>
                <a:lnTo>
                  <a:pt x="7495569" y="5760400"/>
                </a:lnTo>
                <a:lnTo>
                  <a:pt x="381273" y="5760400"/>
                </a:lnTo>
                <a:lnTo>
                  <a:pt x="318473" y="5630034"/>
                </a:lnTo>
                <a:cubicBezTo>
                  <a:pt x="113401" y="5145190"/>
                  <a:pt x="0" y="4612131"/>
                  <a:pt x="0" y="4052585"/>
                </a:cubicBezTo>
                <a:cubicBezTo>
                  <a:pt x="0" y="1814404"/>
                  <a:pt x="1814404" y="0"/>
                  <a:pt x="4052585" y="0"/>
                </a:cubicBezTo>
                <a:close/>
              </a:path>
            </a:pathLst>
          </a:custGeom>
          <a:solidFill>
            <a:srgbClr val="D78F8D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cap="flat" cmpd="sng">
                <a:solidFill>
                  <a:srgbClr val="395E8A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 lang="zh-CN" altLang="en-US">
              <a:solidFill>
                <a:srgbClr val="FFFFFF"/>
              </a:solidFill>
              <a:latin typeface="宋体" panose="02010600030101010101" pitchFamily="2" charset="-122"/>
            </a:endParaRPr>
          </a:p>
        </p:txBody>
      </p:sp>
      <p:sp>
        <p:nvSpPr>
          <p:cNvPr id="18" name="任意多边形 17"/>
          <p:cNvSpPr/>
          <p:nvPr/>
        </p:nvSpPr>
        <p:spPr>
          <a:xfrm>
            <a:off x="3872348" y="893373"/>
            <a:ext cx="8336282" cy="5964627"/>
          </a:xfrm>
          <a:custGeom>
            <a:avLst/>
            <a:gdLst>
              <a:gd name="connsiteX0" fmla="*/ 4052585 w 7495569"/>
              <a:gd name="connsiteY0" fmla="*/ 0 h 5760400"/>
              <a:gd name="connsiteX1" fmla="*/ 7413052 w 7495569"/>
              <a:gd name="connsiteY1" fmla="*/ 1786746 h 5760400"/>
              <a:gd name="connsiteX2" fmla="*/ 7495569 w 7495569"/>
              <a:gd name="connsiteY2" fmla="*/ 1922573 h 5760400"/>
              <a:gd name="connsiteX3" fmla="*/ 7495569 w 7495569"/>
              <a:gd name="connsiteY3" fmla="*/ 5760400 h 5760400"/>
              <a:gd name="connsiteX4" fmla="*/ 381273 w 7495569"/>
              <a:gd name="connsiteY4" fmla="*/ 5760400 h 5760400"/>
              <a:gd name="connsiteX5" fmla="*/ 318473 w 7495569"/>
              <a:gd name="connsiteY5" fmla="*/ 5630034 h 5760400"/>
              <a:gd name="connsiteX6" fmla="*/ 0 w 7495569"/>
              <a:gd name="connsiteY6" fmla="*/ 4052585 h 5760400"/>
              <a:gd name="connsiteX7" fmla="*/ 4052585 w 7495569"/>
              <a:gd name="connsiteY7" fmla="*/ 0 h 5760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495569" h="5760400">
                <a:moveTo>
                  <a:pt x="4052585" y="0"/>
                </a:moveTo>
                <a:cubicBezTo>
                  <a:pt x="5451448" y="0"/>
                  <a:pt x="6684773" y="708752"/>
                  <a:pt x="7413052" y="1786746"/>
                </a:cubicBezTo>
                <a:lnTo>
                  <a:pt x="7495569" y="1922573"/>
                </a:lnTo>
                <a:lnTo>
                  <a:pt x="7495569" y="5760400"/>
                </a:lnTo>
                <a:lnTo>
                  <a:pt x="381273" y="5760400"/>
                </a:lnTo>
                <a:lnTo>
                  <a:pt x="318473" y="5630034"/>
                </a:lnTo>
                <a:cubicBezTo>
                  <a:pt x="113401" y="5145190"/>
                  <a:pt x="0" y="4612131"/>
                  <a:pt x="0" y="4052585"/>
                </a:cubicBezTo>
                <a:cubicBezTo>
                  <a:pt x="0" y="1814404"/>
                  <a:pt x="1814404" y="0"/>
                  <a:pt x="4052585" y="0"/>
                </a:cubicBezTo>
                <a:close/>
              </a:path>
            </a:pathLst>
          </a:custGeom>
          <a:solidFill>
            <a:srgbClr val="F6E8E7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椭圆 15"/>
          <p:cNvSpPr/>
          <p:nvPr/>
        </p:nvSpPr>
        <p:spPr>
          <a:xfrm>
            <a:off x="2351986" y="550681"/>
            <a:ext cx="2305031" cy="2305031"/>
          </a:xfrm>
          <a:prstGeom prst="ellipse">
            <a:avLst/>
          </a:prstGeom>
          <a:solidFill>
            <a:srgbClr val="EDD1CF"/>
          </a:solidFill>
          <a:ln>
            <a:noFill/>
          </a:ln>
          <a:effectLst>
            <a:reflection stA="40000" endPos="30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5031213" y="3427515"/>
            <a:ext cx="5011947" cy="1342605"/>
          </a:xfrm>
          <a:prstGeom prst="rect">
            <a:avLst/>
          </a:prstGeom>
          <a:noFill/>
          <a:effectLst>
            <a:reflection endPos="0" dist="50800" dir="5400000" sy="-100000" algn="bl" rotWithShape="0"/>
          </a:effectLst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zh-CN" sz="9600" b="1" dirty="0">
                <a:solidFill>
                  <a:srgbClr val="523A2C"/>
                </a:solidFill>
                <a:latin typeface="ISOCP" panose="00000400000000000000" pitchFamily="2" charset="0"/>
                <a:ea typeface="造字工房悦黑（非商用）常规体" pitchFamily="50" charset="-122"/>
                <a:cs typeface="ISOCP" panose="00000400000000000000" pitchFamily="2" charset="0"/>
              </a:rPr>
              <a:t>THANKS!</a:t>
            </a:r>
            <a:endParaRPr lang="zh-CN" altLang="en-US" sz="9600" b="1" dirty="0">
              <a:solidFill>
                <a:srgbClr val="523A2C"/>
              </a:solidFill>
              <a:latin typeface="ISOCP" panose="00000400000000000000" pitchFamily="2" charset="0"/>
              <a:ea typeface="造字工房悦黑（非商用）常规体" pitchFamily="50" charset="-122"/>
              <a:cs typeface="ISOCP" panose="00000400000000000000" pitchFamily="2" charset="0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1902638" y="2550191"/>
            <a:ext cx="611041" cy="611041"/>
            <a:chOff x="9937750" y="2166942"/>
            <a:chExt cx="625475" cy="625475"/>
          </a:xfrm>
        </p:grpSpPr>
        <p:sp>
          <p:nvSpPr>
            <p:cNvPr id="10" name="椭圆 4"/>
            <p:cNvSpPr>
              <a:spLocks noChangeArrowheads="1"/>
            </p:cNvSpPr>
            <p:nvPr/>
          </p:nvSpPr>
          <p:spPr bwMode="auto">
            <a:xfrm>
              <a:off x="9937750" y="2166942"/>
              <a:ext cx="625475" cy="625475"/>
            </a:xfrm>
            <a:prstGeom prst="ellipse">
              <a:avLst/>
            </a:prstGeom>
            <a:solidFill>
              <a:srgbClr val="ECCB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flat" cmpd="sng">
                  <a:solidFill>
                    <a:srgbClr val="395E8A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lang="zh-CN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3" name="椭圆 5"/>
            <p:cNvSpPr>
              <a:spLocks noChangeArrowheads="1"/>
            </p:cNvSpPr>
            <p:nvPr/>
          </p:nvSpPr>
          <p:spPr bwMode="auto">
            <a:xfrm>
              <a:off x="10061357" y="2290549"/>
              <a:ext cx="378260" cy="378260"/>
            </a:xfrm>
            <a:prstGeom prst="ellipse">
              <a:avLst/>
            </a:prstGeom>
            <a:solidFill>
              <a:srgbClr val="D78F8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flat" cmpd="sng">
                  <a:solidFill>
                    <a:srgbClr val="395E8A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lang="zh-CN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85660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grpId="0" nodeType="afterEffect" p14:presetBounceEnd="4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7" dur="10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8" dur="10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10" presetID="2" presetClass="entr" presetSubtype="4" fill="hold" grpId="0" nodeType="afterEffect" p14:presetBounceEnd="4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2" dur="10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13" dur="10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4" presetID="2" presetClass="entr" presetSubtype="4" fill="hold" grpId="0" nodeType="withEffect" p14:presetBounceEnd="40000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6" dur="100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17" dur="100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8" presetID="41" presetClass="entr" presetSubtype="0" fill="hold" grpId="0" nodeType="withEffect">
                                      <p:stCondLst>
                                        <p:cond delay="25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0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50000">
                                              <p:val>
                                                <p:strVal val="#ppt_x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1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2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h/10"/>
                                              </p:val>
                                            </p:tav>
                                            <p:tav tm="50000">
                                              <p:val>
                                                <p:strVal val="#ppt_h+.0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3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w/10"/>
                                              </p:val>
                                            </p:tav>
                                            <p:tav tm="50000">
                                              <p:val>
                                                <p:strVal val="#ppt_w+.0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4" dur="500" tmFilter="0,0; .5, 1; 1, 1"/>
                                            <p:tgtEl>
                                              <p:spTgt spid="1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2" grpId="0" animBg="1"/>
          <p:bldP spid="18" grpId="0" animBg="1"/>
          <p:bldP spid="16" grpId="0" animBg="1"/>
          <p:bldP spid="11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10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10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10" presetID="2" presetClass="entr" presetSubtype="4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2" dur="10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3" dur="10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4" presetID="2" presetClass="entr" presetSubtype="4" fill="hold" grpId="0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6" dur="100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7" dur="100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8" presetID="41" presetClass="entr" presetSubtype="0" fill="hold" grpId="0" nodeType="withEffect">
                                      <p:stCondLst>
                                        <p:cond delay="25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0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50000">
                                              <p:val>
                                                <p:strVal val="#ppt_x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1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2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h/10"/>
                                              </p:val>
                                            </p:tav>
                                            <p:tav tm="50000">
                                              <p:val>
                                                <p:strVal val="#ppt_h+.0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3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w/10"/>
                                              </p:val>
                                            </p:tav>
                                            <p:tav tm="50000">
                                              <p:val>
                                                <p:strVal val="#ppt_w+.0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4" dur="500" tmFilter="0,0; .5, 1; 1, 1"/>
                                            <p:tgtEl>
                                              <p:spTgt spid="1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2" grpId="0" animBg="1"/>
          <p:bldP spid="18" grpId="0" animBg="1"/>
          <p:bldP spid="16" grpId="0" animBg="1"/>
          <p:bldP spid="11" grpId="0"/>
        </p:bldLst>
      </p:timing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1230141854"/>
  <p:tag name="MH_LIBRARY" val="CONTENTS"/>
  <p:tag name="MH_TYPE" val="OTHERS"/>
  <p:tag name="ID" val="545839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1230141854"/>
  <p:tag name="MH_LIBRARY" val="CONTENTS"/>
  <p:tag name="MH_TYPE" val="OTHERS"/>
  <p:tag name="ID" val="545839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1230141854"/>
  <p:tag name="MH_LIBRARY" val="CONTENTS"/>
  <p:tag name="MH_TYPE" val="OTHERS"/>
  <p:tag name="ID" val="545839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1230141854"/>
  <p:tag name="MH_LIBRARY" val="CONTENTS"/>
  <p:tag name="MH_TYPE" val="OTHERS"/>
  <p:tag name="ID" val="545839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1230141854"/>
  <p:tag name="MH_LIBRARY" val="CONTENTS"/>
  <p:tag name="MH_TYPE" val="OTHERS"/>
  <p:tag name="ID" val="545839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1230141854"/>
  <p:tag name="MH_LIBRARY" val="CONTENTS"/>
  <p:tag name="MH_TYPE" val="OTHERS"/>
  <p:tag name="ID" val="545839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1230141854"/>
  <p:tag name="MH_LIBRARY" val="CONTENTS"/>
  <p:tag name="MH_TYPE" val="OTHERS"/>
  <p:tag name="ID" val="545839"/>
</p:tagLst>
</file>

<file path=ppt/theme/theme1.xml><?xml version="1.0" encoding="utf-8"?>
<a:theme xmlns:a="http://schemas.openxmlformats.org/drawingml/2006/main" name="A000120140530A99PPBG">
  <a:themeElements>
    <a:clrScheme name="自定义 601">
      <a:dk1>
        <a:srgbClr val="4D4D4D"/>
      </a:dk1>
      <a:lt1>
        <a:sysClr val="window" lastClr="FFFFFF"/>
      </a:lt1>
      <a:dk2>
        <a:srgbClr val="4D4D4D"/>
      </a:dk2>
      <a:lt2>
        <a:srgbClr val="FFFFFF"/>
      </a:lt2>
      <a:accent1>
        <a:srgbClr val="956951"/>
      </a:accent1>
      <a:accent2>
        <a:srgbClr val="B07982"/>
      </a:accent2>
      <a:accent3>
        <a:srgbClr val="9D8855"/>
      </a:accent3>
      <a:accent4>
        <a:srgbClr val="62A088"/>
      </a:accent4>
      <a:accent5>
        <a:srgbClr val="5F77AB"/>
      </a:accent5>
      <a:accent6>
        <a:srgbClr val="FFC000"/>
      </a:accent6>
      <a:hlink>
        <a:srgbClr val="2998E3"/>
      </a:hlink>
      <a:folHlink>
        <a:srgbClr val="A5A5A5"/>
      </a:folHlink>
    </a:clrScheme>
    <a:fontScheme name="自定义 12">
      <a:majorFont>
        <a:latin typeface="Tempus Sans ITC"/>
        <a:ea typeface="幼圆"/>
        <a:cs typeface=""/>
      </a:majorFont>
      <a:minorFont>
        <a:latin typeface="Calibri"/>
        <a:ea typeface="幼圆"/>
        <a:cs typeface="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>
          <a:lnSpc>
            <a:spcPct val="130000"/>
          </a:lnSpc>
          <a:defRPr sz="1400" dirty="0" smtClean="0">
            <a:latin typeface="Arial" panose="020B0604020202020204" pitchFamily="34" charset="0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自定义 601">
    <a:dk1>
      <a:srgbClr val="4D4D4D"/>
    </a:dk1>
    <a:lt1>
      <a:sysClr val="window" lastClr="FFFFFF"/>
    </a:lt1>
    <a:dk2>
      <a:srgbClr val="4D4D4D"/>
    </a:dk2>
    <a:lt2>
      <a:srgbClr val="FFFFFF"/>
    </a:lt2>
    <a:accent1>
      <a:srgbClr val="956951"/>
    </a:accent1>
    <a:accent2>
      <a:srgbClr val="B07982"/>
    </a:accent2>
    <a:accent3>
      <a:srgbClr val="9D8855"/>
    </a:accent3>
    <a:accent4>
      <a:srgbClr val="62A088"/>
    </a:accent4>
    <a:accent5>
      <a:srgbClr val="5F77AB"/>
    </a:accent5>
    <a:accent6>
      <a:srgbClr val="FFC000"/>
    </a:accent6>
    <a:hlink>
      <a:srgbClr val="2998E3"/>
    </a:hlink>
    <a:folHlink>
      <a:srgbClr val="A5A5A5"/>
    </a:folHlink>
  </a:clrScheme>
</a:themeOverride>
</file>

<file path=ppt/theme/themeOverride2.xml><?xml version="1.0" encoding="utf-8"?>
<a:themeOverride xmlns:a="http://schemas.openxmlformats.org/drawingml/2006/main">
  <a:clrScheme name="自定义 601">
    <a:dk1>
      <a:srgbClr val="4D4D4D"/>
    </a:dk1>
    <a:lt1>
      <a:sysClr val="window" lastClr="FFFFFF"/>
    </a:lt1>
    <a:dk2>
      <a:srgbClr val="4D4D4D"/>
    </a:dk2>
    <a:lt2>
      <a:srgbClr val="FFFFFF"/>
    </a:lt2>
    <a:accent1>
      <a:srgbClr val="956951"/>
    </a:accent1>
    <a:accent2>
      <a:srgbClr val="B07982"/>
    </a:accent2>
    <a:accent3>
      <a:srgbClr val="9D8855"/>
    </a:accent3>
    <a:accent4>
      <a:srgbClr val="62A088"/>
    </a:accent4>
    <a:accent5>
      <a:srgbClr val="5F77AB"/>
    </a:accent5>
    <a:accent6>
      <a:srgbClr val="FFC000"/>
    </a:accent6>
    <a:hlink>
      <a:srgbClr val="2998E3"/>
    </a:hlink>
    <a:folHlink>
      <a:srgbClr val="A5A5A5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1962</TotalTime>
  <Words>1490</Words>
  <Application>Microsoft Office PowerPoint</Application>
  <PresentationFormat>寬螢幕</PresentationFormat>
  <Paragraphs>118</Paragraphs>
  <Slides>28</Slides>
  <Notes>12</Notes>
  <HiddenSlides>0</HiddenSlides>
  <MMClips>0</MMClips>
  <ScaleCrop>false</ScaleCrop>
  <HeadingPairs>
    <vt:vector size="6" baseType="variant">
      <vt:variant>
        <vt:lpstr>使用字型</vt:lpstr>
      </vt:variant>
      <vt:variant>
        <vt:i4>13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28</vt:i4>
      </vt:variant>
    </vt:vector>
  </HeadingPairs>
  <TitlesOfParts>
    <vt:vector size="42" baseType="lpstr">
      <vt:lpstr>Gill Sans</vt:lpstr>
      <vt:lpstr>ISOCP</vt:lpstr>
      <vt:lpstr>微软雅黑</vt:lpstr>
      <vt:lpstr>Montserrat</vt:lpstr>
      <vt:lpstr>Roboto Light</vt:lpstr>
      <vt:lpstr>宋体</vt:lpstr>
      <vt:lpstr>华文细黑</vt:lpstr>
      <vt:lpstr>幼圆</vt:lpstr>
      <vt:lpstr>造字工房悦黑（非商用）常规体</vt:lpstr>
      <vt:lpstr>Arial</vt:lpstr>
      <vt:lpstr>Calibri</vt:lpstr>
      <vt:lpstr>Wingdings</vt:lpstr>
      <vt:lpstr>Wingdings 2</vt:lpstr>
      <vt:lpstr>A000120140530A99PPBG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优品PPT</dc:creator>
  <cp:keywords>http:/www.ypppt.com</cp:keywords>
  <cp:lastModifiedBy>貞妮 林</cp:lastModifiedBy>
  <cp:revision>162</cp:revision>
  <dcterms:created xsi:type="dcterms:W3CDTF">2015-06-24T12:12:45Z</dcterms:created>
  <dcterms:modified xsi:type="dcterms:W3CDTF">2019-03-22T17:25:16Z</dcterms:modified>
</cp:coreProperties>
</file>