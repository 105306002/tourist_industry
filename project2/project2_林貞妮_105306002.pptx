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88" r:id="rId3"/>
    <p:sldId id="258" r:id="rId4"/>
    <p:sldId id="284" r:id="rId5"/>
    <p:sldId id="259" r:id="rId6"/>
    <p:sldId id="289" r:id="rId7"/>
    <p:sldId id="280" r:id="rId8"/>
    <p:sldId id="281" r:id="rId9"/>
    <p:sldId id="283" r:id="rId10"/>
    <p:sldId id="286" r:id="rId11"/>
    <p:sldId id="287" r:id="rId12"/>
    <p:sldId id="294" r:id="rId13"/>
    <p:sldId id="292" r:id="rId14"/>
    <p:sldId id="295" r:id="rId15"/>
    <p:sldId id="296" r:id="rId16"/>
    <p:sldId id="297" r:id="rId17"/>
    <p:sldId id="298" r:id="rId18"/>
    <p:sldId id="267" r:id="rId19"/>
    <p:sldId id="276" r:id="rId2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7F90"/>
    <a:srgbClr val="2E4860"/>
    <a:srgbClr val="EBEBEB"/>
    <a:srgbClr val="FFFFFF"/>
    <a:srgbClr val="FAD85D"/>
    <a:srgbClr val="E4AA4C"/>
    <a:srgbClr val="F09B34"/>
    <a:srgbClr val="6CD85D"/>
    <a:srgbClr val="444444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3809" autoAdjust="0"/>
  </p:normalViewPr>
  <p:slideViewPr>
    <p:cSldViewPr snapToGrid="0" showGuides="1">
      <p:cViewPr varScale="1">
        <p:scale>
          <a:sx n="89" d="100"/>
          <a:sy n="89" d="100"/>
        </p:scale>
        <p:origin x="680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A58F6-6380-4B8B-BB2E-C7F65BDB6CE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6D145-9FCB-4E73-ADF7-37F2B9F99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20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當地健康蔬食為食療，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規劃多樣化的水療設備，並利用所處的自然山林步道，發展兼具養生、休閒等台灣特色的溫泉勝地，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6D145-9FCB-4E73-ADF7-37F2B9F99A2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526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持學習目的的遊客 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休閒活動中包含多少程度的心智活動，像是含有學習、冒險、發現、思考、想像等成份的活動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rgbClr val="333333"/>
                </a:solidFill>
                <a:latin typeface="Helvetica Neue"/>
              </a:rPr>
              <a:t>如賞鳥、考察地質、欣賞古蹟、建築、風土人情等。這類旅遊方式通常會有專業人員隨行作解說，以使參加成員有更多收穫。</a:t>
            </a:r>
            <a:endParaRPr lang="en-US" altLang="zh-TW" dirty="0">
              <a:solidFill>
                <a:srgbClr val="333333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除了定期更換的特展外，還有動力與機械、台灣工業史蹟、航空與太空等常設展，介紹科學常識之外，也介紹台灣科技的發展。除了展覽外，還有地震、月球漫步等期限體驗供民眾們遊玩，兼具知識和娛樂的博物館肯定不要錯過！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戶開始在社交網站上分享自己的旅遊經歷，社交媒體已經成為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6D145-9FCB-4E73-ADF7-37F2B9F99A2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205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拜訪普希卡當地原始聚落，到當地人家作客，與主人相見歡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探訪陶藝家之屋，途經生態工法建造的學校與樓房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認識拉賈斯坦邦的風土民情，學習當地農耕方式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深入鄉村部落，捕捉乳牛餵食或居民下廚的特殊農村光景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欣賞塔爾沙漠周邊迷人的玫瑰花和金盞花田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戶開始在社交網站上分享自己的旅遊經歷，社交媒體已經成為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6D145-9FCB-4E73-ADF7-37F2B9F99A2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221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拜訪普希卡當地原始聚落，到當地人家作客，與主人相見歡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探訪陶藝家之屋，途經生態工法建造的學校與樓房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認識拉賈斯坦邦的風土民情，學習當地農耕方式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深入鄉村部落，捕捉乳牛餵食或居民下廚的特殊農村光景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欣賞塔爾沙漠周邊迷人的玫瑰花和金盞花田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戶開始在社交網站上分享自己的旅遊經歷，社交媒體已經成為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6D145-9FCB-4E73-ADF7-37F2B9F99A2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645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拜訪普希卡當地原始聚落，到當地人家作客，與主人相見歡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探訪陶藝家之屋，途經生態工法建造的學校與樓房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認識拉賈斯坦邦的風土民情，學習當地農耕方式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深入鄉村部落，捕捉乳牛餵食或居民下廚的特殊農村光景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欣賞塔爾沙漠周邊迷人的玫瑰花和金盞花田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戶開始在社交網站上分享自己的旅遊經歷，社交媒體已經成為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6D145-9FCB-4E73-ADF7-37F2B9F99A2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153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拜訪普希卡當地原始聚落，到當地人家作客，與主人相見歡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探訪陶藝家之屋，途經生態工法建造的學校與樓房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認識拉賈斯坦邦的風土民情，學習當地農耕方式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深入鄉村部落，捕捉乳牛餵食或居民下廚的特殊農村光景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欣賞塔爾沙漠周邊迷人的玫瑰花和金盞花田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戶開始在社交網站上分享自己的旅遊經歷，社交媒體已經成為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6D145-9FCB-4E73-ADF7-37F2B9F99A2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782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266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36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5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24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43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42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33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20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34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468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29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19EC6-A7F9-4038-B584-32C3F4D916B2}" type="datetimeFigureOut">
              <a:rPr lang="zh-CN" altLang="en-US" smtClean="0"/>
              <a:t>2019/4/23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4D196-4731-488D-BBC2-0FF6E27DC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47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2925" y="547683"/>
            <a:ext cx="4595813" cy="71438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42925" y="4342443"/>
            <a:ext cx="4595813" cy="71438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38150" y="592510"/>
            <a:ext cx="4914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2E48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PROJECT2</a:t>
            </a:r>
          </a:p>
          <a:p>
            <a:r>
              <a:rPr lang="zh-TW" altLang="en-US" sz="6000" b="1" dirty="0">
                <a:solidFill>
                  <a:srgbClr val="2E48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因素分析</a:t>
            </a:r>
            <a:endParaRPr lang="en-US" altLang="zh-CN" sz="6000" b="1" dirty="0">
              <a:solidFill>
                <a:srgbClr val="2E48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42925" y="3505200"/>
            <a:ext cx="4595813" cy="4763"/>
          </a:xfrm>
          <a:prstGeom prst="line">
            <a:avLst/>
          </a:prstGeom>
          <a:ln w="15875">
            <a:solidFill>
              <a:srgbClr val="4444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1041" y="3652360"/>
            <a:ext cx="4211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105306002</a:t>
            </a:r>
            <a:r>
              <a:rPr lang="zh-TW" altLang="en-US" sz="16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林貞妮</a:t>
            </a:r>
            <a:endParaRPr lang="zh-CN" altLang="en-US" sz="1600" b="1" spc="-10" dirty="0">
              <a:solidFill>
                <a:srgbClr val="2323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5441" y="3550062"/>
            <a:ext cx="3683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600" b="1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en-US" sz="4600" b="1" dirty="0">
              <a:solidFill>
                <a:srgbClr val="2323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624638" y="1326356"/>
            <a:ext cx="1092993" cy="1090613"/>
          </a:xfrm>
          <a:prstGeom prst="line">
            <a:avLst/>
          </a:prstGeom>
          <a:ln>
            <a:solidFill>
              <a:srgbClr val="F8C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5745954" y="521906"/>
            <a:ext cx="2839245" cy="2839245"/>
          </a:xfrm>
          <a:prstGeom prst="ellipse">
            <a:avLst/>
          </a:prstGeom>
          <a:noFill/>
          <a:ln w="952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35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0205" y="1136963"/>
            <a:ext cx="4595813" cy="71438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E24B55D-B9AF-4BF4-A059-7EFCA3D115CB}"/>
              </a:ext>
            </a:extLst>
          </p:cNvPr>
          <p:cNvSpPr txBox="1"/>
          <p:nvPr/>
        </p:nvSpPr>
        <p:spPr>
          <a:xfrm>
            <a:off x="1029437" y="1533606"/>
            <a:ext cx="420074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動機目的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介紹資料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KMO</a:t>
            </a: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球型檢定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分析方法</a:t>
            </a:r>
            <a:r>
              <a:rPr lang="en-US" altLang="zh-TW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主成分、轉軸</a:t>
            </a:r>
            <a:r>
              <a:rPr lang="en-US" altLang="zh-TW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2400" b="1" spc="-10" dirty="0">
              <a:solidFill>
                <a:srgbClr val="2323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因素萃取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因素命名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應用</a:t>
            </a:r>
            <a:endParaRPr lang="en-US" altLang="zh-TW" sz="2400" b="1" spc="-10" dirty="0">
              <a:solidFill>
                <a:srgbClr val="2323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b="1" spc="-1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總結</a:t>
            </a:r>
          </a:p>
          <a:p>
            <a:br>
              <a:rPr lang="zh-TW" altLang="en-US" dirty="0"/>
            </a:b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E3F88FF-61F6-4664-A2C1-D0E9EA6C3E4F}"/>
              </a:ext>
            </a:extLst>
          </p:cNvPr>
          <p:cNvSpPr txBox="1"/>
          <p:nvPr/>
        </p:nvSpPr>
        <p:spPr>
          <a:xfrm>
            <a:off x="937997" y="157019"/>
            <a:ext cx="2519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6000" b="1" dirty="0">
                <a:solidFill>
                  <a:srgbClr val="2E48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3440239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59064" y="-4"/>
            <a:ext cx="5433134" cy="4607511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zh-TW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1114425" y="3910013"/>
            <a:ext cx="3633788" cy="0"/>
          </a:xfrm>
          <a:prstGeom prst="line">
            <a:avLst/>
          </a:prstGeom>
          <a:ln w="9525">
            <a:solidFill>
              <a:srgbClr val="1A140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05214" y="900620"/>
            <a:ext cx="3683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200" b="1" dirty="0">
                <a:solidFill>
                  <a:srgbClr val="2E48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en-US" sz="9200" b="1" dirty="0">
              <a:solidFill>
                <a:srgbClr val="2E48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909B99B-7BA4-4472-8BB7-A64D8BBAA569}"/>
              </a:ext>
            </a:extLst>
          </p:cNvPr>
          <p:cNvSpPr txBox="1"/>
          <p:nvPr/>
        </p:nvSpPr>
        <p:spPr>
          <a:xfrm>
            <a:off x="981008" y="1808560"/>
            <a:ext cx="4476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b="1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本研究為對遊客從事鄉野觀光之動機的諸多變項達簡化目的，並便於檢定遊客從事鄉野觀光之動機。針對動機部份進行因素分析，縮減其構面。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48453F-4E86-40A8-AE70-573CF0422AE6}"/>
              </a:ext>
            </a:extLst>
          </p:cNvPr>
          <p:cNvSpPr/>
          <p:nvPr/>
        </p:nvSpPr>
        <p:spPr>
          <a:xfrm>
            <a:off x="2199" y="220800"/>
            <a:ext cx="3217251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7734B52D-5C7E-4AFD-A20E-7BA43D499C5D}"/>
              </a:ext>
            </a:extLst>
          </p:cNvPr>
          <p:cNvSpPr txBox="1"/>
          <p:nvPr/>
        </p:nvSpPr>
        <p:spPr>
          <a:xfrm>
            <a:off x="486957" y="310825"/>
            <a:ext cx="3308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動機目的</a:t>
            </a:r>
          </a:p>
          <a:p>
            <a:endParaRPr lang="zh-CN" altLang="en-US" sz="1600" b="1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455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0951392A-E105-4098-B6B9-8CE8DF5408BC}"/>
              </a:ext>
            </a:extLst>
          </p:cNvPr>
          <p:cNvSpPr/>
          <p:nvPr/>
        </p:nvSpPr>
        <p:spPr>
          <a:xfrm>
            <a:off x="502883" y="10241"/>
            <a:ext cx="5433134" cy="4607511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zh-TW" dirty="0"/>
          </a:p>
        </p:txBody>
      </p:sp>
      <p:sp>
        <p:nvSpPr>
          <p:cNvPr id="5" name="矩形 4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99" y="220800"/>
            <a:ext cx="3217251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86957" y="310825"/>
            <a:ext cx="3308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介紹資料</a:t>
            </a:r>
          </a:p>
          <a:p>
            <a:endParaRPr lang="zh-CN" altLang="en-US" sz="1600" b="1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24"/>
          <p:cNvCxnSpPr>
            <a:cxnSpLocks/>
          </p:cNvCxnSpPr>
          <p:nvPr/>
        </p:nvCxnSpPr>
        <p:spPr>
          <a:xfrm>
            <a:off x="768600" y="3319619"/>
            <a:ext cx="4604914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FB866B2-E3B6-477C-8BE7-BBC7C635B64F}"/>
              </a:ext>
            </a:extLst>
          </p:cNvPr>
          <p:cNvSpPr txBox="1"/>
          <p:nvPr/>
        </p:nvSpPr>
        <p:spPr>
          <a:xfrm>
            <a:off x="981008" y="1808560"/>
            <a:ext cx="3946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此次研究為</a:t>
            </a:r>
            <a:r>
              <a:rPr lang="zh-TW" altLang="zh-TW" b="1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遊客從事鄉野觀光之動機</a:t>
            </a:r>
            <a:r>
              <a:rPr lang="zh-TW" altLang="en-US" b="1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，共使用</a:t>
            </a:r>
            <a:r>
              <a:rPr lang="en-US" altLang="zh-TW" b="1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zh-TW" altLang="en-US" b="1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個變項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5EBEAD65-EE83-48F8-B195-1A6D2DBEB8D2}"/>
              </a:ext>
            </a:extLst>
          </p:cNvPr>
          <p:cNvSpPr txBox="1"/>
          <p:nvPr/>
        </p:nvSpPr>
        <p:spPr>
          <a:xfrm>
            <a:off x="5005214" y="900620"/>
            <a:ext cx="3683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200" b="1" dirty="0">
                <a:solidFill>
                  <a:srgbClr val="2E48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en-US" sz="9200" b="1" dirty="0">
              <a:solidFill>
                <a:srgbClr val="2E48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26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81" y="215884"/>
            <a:ext cx="1957388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8103" y="299715"/>
            <a:ext cx="2063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KMO 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球型檢定</a:t>
            </a:r>
          </a:p>
          <a:p>
            <a:endParaRPr lang="zh-CN" altLang="en-US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71574" y="1495327"/>
            <a:ext cx="392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232323"/>
                </a:solidFill>
              </a:rPr>
              <a:t>KMO / </a:t>
            </a:r>
            <a:r>
              <a:rPr lang="zh-TW" altLang="en-US" sz="2400" b="1" dirty="0">
                <a:solidFill>
                  <a:srgbClr val="232323"/>
                </a:solidFill>
              </a:rPr>
              <a:t>球型檢定</a:t>
            </a:r>
            <a:endParaRPr lang="zh-CN" altLang="en-US" sz="2400" b="1" dirty="0">
              <a:solidFill>
                <a:srgbClr val="232323"/>
              </a:solidFill>
            </a:endParaRPr>
          </a:p>
        </p:txBody>
      </p:sp>
      <p:cxnSp>
        <p:nvCxnSpPr>
          <p:cNvPr id="16" name="直接连接符 15"/>
          <p:cNvCxnSpPr>
            <a:cxnSpLocks/>
          </p:cNvCxnSpPr>
          <p:nvPr/>
        </p:nvCxnSpPr>
        <p:spPr>
          <a:xfrm>
            <a:off x="5888360" y="2057095"/>
            <a:ext cx="261018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88360" y="2271427"/>
            <a:ext cx="26543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pc="-10" dirty="0">
                <a:solidFill>
                  <a:srgbClr val="383838"/>
                </a:solidFill>
              </a:rPr>
              <a:t>KMO</a:t>
            </a:r>
            <a:r>
              <a:rPr lang="zh-TW" altLang="en-US" spc="-10" dirty="0">
                <a:solidFill>
                  <a:srgbClr val="383838"/>
                </a:solidFill>
              </a:rPr>
              <a:t>檢定值大於</a:t>
            </a:r>
            <a:r>
              <a:rPr lang="en-US" altLang="zh-TW" spc="-10" dirty="0">
                <a:solidFill>
                  <a:srgbClr val="383838"/>
                </a:solidFill>
              </a:rPr>
              <a:t>0.5</a:t>
            </a:r>
            <a:r>
              <a:rPr lang="zh-TW" altLang="en-US" spc="-10" dirty="0">
                <a:solidFill>
                  <a:srgbClr val="383838"/>
                </a:solidFill>
              </a:rPr>
              <a:t>，而球型檢定達顯著值小於</a:t>
            </a:r>
            <a:r>
              <a:rPr lang="en-US" altLang="zh-TW" spc="-10" dirty="0">
                <a:solidFill>
                  <a:srgbClr val="383838"/>
                </a:solidFill>
              </a:rPr>
              <a:t>0.05</a:t>
            </a:r>
            <a:r>
              <a:rPr lang="zh-TW" altLang="en-US" spc="-10" dirty="0">
                <a:solidFill>
                  <a:srgbClr val="383838"/>
                </a:solidFill>
              </a:rPr>
              <a:t>時，</a:t>
            </a:r>
            <a:r>
              <a:rPr lang="zh-TW" altLang="en-US" spc="-10" dirty="0">
                <a:highlight>
                  <a:srgbClr val="C0C0C0"/>
                </a:highlight>
              </a:rPr>
              <a:t>適合</a:t>
            </a:r>
            <a:r>
              <a:rPr lang="zh-TW" altLang="en-US" spc="-10" dirty="0">
                <a:solidFill>
                  <a:srgbClr val="383838"/>
                </a:solidFill>
              </a:rPr>
              <a:t>進行因素分析</a:t>
            </a:r>
            <a:endParaRPr lang="zh-CN" altLang="en-US" spc="-10" dirty="0">
              <a:solidFill>
                <a:srgbClr val="383838"/>
              </a:solidFill>
            </a:endParaRP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189F89D3-F8C3-468B-B7A1-1DFB27A04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024783"/>
              </p:ext>
            </p:extLst>
          </p:nvPr>
        </p:nvGraphicFramePr>
        <p:xfrm>
          <a:off x="378409" y="1840230"/>
          <a:ext cx="513104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972">
                  <a:extLst>
                    <a:ext uri="{9D8B030D-6E8A-4147-A177-3AD203B41FA5}">
                      <a16:colId xmlns:a16="http://schemas.microsoft.com/office/drawing/2014/main" val="3504468467"/>
                    </a:ext>
                  </a:extLst>
                </a:gridCol>
                <a:gridCol w="1782207">
                  <a:extLst>
                    <a:ext uri="{9D8B030D-6E8A-4147-A177-3AD203B41FA5}">
                      <a16:colId xmlns:a16="http://schemas.microsoft.com/office/drawing/2014/main" val="1584201110"/>
                    </a:ext>
                  </a:extLst>
                </a:gridCol>
                <a:gridCol w="1172862">
                  <a:extLst>
                    <a:ext uri="{9D8B030D-6E8A-4147-A177-3AD203B41FA5}">
                      <a16:colId xmlns:a16="http://schemas.microsoft.com/office/drawing/2014/main" val="315024559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bg1"/>
                          </a:solidFill>
                        </a:rPr>
                        <a:t>KMO</a:t>
                      </a:r>
                      <a:r>
                        <a:rPr lang="zh-TW" altLang="en-US" b="1" dirty="0">
                          <a:solidFill>
                            <a:schemeClr val="bg1"/>
                          </a:solidFill>
                        </a:rPr>
                        <a:t>取樣適切性量數</a:t>
                      </a:r>
                    </a:p>
                  </a:txBody>
                  <a:tcPr>
                    <a:solidFill>
                      <a:srgbClr val="6C7F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C7F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chemeClr val="bg1"/>
                          </a:solidFill>
                        </a:rPr>
                        <a:t>0.892</a:t>
                      </a:r>
                      <a:endParaRPr lang="zh-TW" altLang="en-US" dirty="0"/>
                    </a:p>
                  </a:txBody>
                  <a:tcPr>
                    <a:solidFill>
                      <a:srgbClr val="6C7F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48021"/>
                  </a:ext>
                </a:extLst>
              </a:tr>
              <a:tr h="271992">
                <a:tc rowSpan="3">
                  <a:txBody>
                    <a:bodyPr/>
                    <a:lstStyle/>
                    <a:p>
                      <a:r>
                        <a:rPr lang="en-US" altLang="zh-TW" dirty="0"/>
                        <a:t>Bartlett</a:t>
                      </a:r>
                      <a:r>
                        <a:rPr lang="zh-TW" altLang="en-US" dirty="0"/>
                        <a:t>的球型檢定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近似卡方檢定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3401.773</a:t>
                      </a:r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603809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自由度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276</a:t>
                      </a:r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63870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顯著性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0.000</a:t>
                      </a:r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426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46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B4BDA72-439E-4B12-BE22-0B256742571F}"/>
              </a:ext>
            </a:extLst>
          </p:cNvPr>
          <p:cNvSpPr/>
          <p:nvPr/>
        </p:nvSpPr>
        <p:spPr>
          <a:xfrm>
            <a:off x="559064" y="-4"/>
            <a:ext cx="5433134" cy="4607511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zh-TW" dirty="0"/>
          </a:p>
        </p:txBody>
      </p:sp>
      <p:sp>
        <p:nvSpPr>
          <p:cNvPr id="5" name="矩形 4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99" y="220800"/>
            <a:ext cx="3217251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86957" y="310825"/>
            <a:ext cx="3308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分析方法</a:t>
            </a:r>
            <a:r>
              <a:rPr lang="en-US" altLang="zh-TW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TW" altLang="en-US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主成分分析法</a:t>
            </a:r>
          </a:p>
          <a:p>
            <a:endParaRPr lang="zh-CN" altLang="en-US" sz="1600" b="1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24"/>
          <p:cNvCxnSpPr>
            <a:cxnSpLocks/>
          </p:cNvCxnSpPr>
          <p:nvPr/>
        </p:nvCxnSpPr>
        <p:spPr>
          <a:xfrm>
            <a:off x="853440" y="3509393"/>
            <a:ext cx="467329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9">
            <a:extLst>
              <a:ext uri="{FF2B5EF4-FFF2-40B4-BE49-F238E27FC236}">
                <a16:creationId xmlns:a16="http://schemas.microsoft.com/office/drawing/2014/main" id="{4F3720DD-EA01-4C67-9C3E-794A12D4AB4F}"/>
              </a:ext>
            </a:extLst>
          </p:cNvPr>
          <p:cNvSpPr txBox="1"/>
          <p:nvPr/>
        </p:nvSpPr>
        <p:spPr>
          <a:xfrm>
            <a:off x="5005214" y="900620"/>
            <a:ext cx="3683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200" b="1" dirty="0">
                <a:solidFill>
                  <a:srgbClr val="2E48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zh-CN" altLang="en-US" sz="9200" b="1" dirty="0">
              <a:solidFill>
                <a:srgbClr val="2E48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36AA137-FD07-471E-AFD1-D376114AE5EA}"/>
              </a:ext>
            </a:extLst>
          </p:cNvPr>
          <p:cNvSpPr txBox="1"/>
          <p:nvPr/>
        </p:nvSpPr>
        <p:spPr>
          <a:xfrm>
            <a:off x="981008" y="1808560"/>
            <a:ext cx="3946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b="1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本研究進行因素分析時採取主成分分析法來抽取共同因素，選取特徵值大於</a:t>
            </a:r>
            <a:r>
              <a:rPr lang="en-US" altLang="zh-TW" b="1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TW" altLang="zh-TW" b="1" spc="-40" dirty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的因素，並以直角旋轉法之最大變異法為旋轉因素軸。</a:t>
            </a:r>
          </a:p>
        </p:txBody>
      </p:sp>
    </p:spTree>
    <p:extLst>
      <p:ext uri="{BB962C8B-B14F-4D97-AF65-F5344CB8AC3E}">
        <p14:creationId xmlns:p14="http://schemas.microsoft.com/office/powerpoint/2010/main" val="3753081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81" y="215884"/>
            <a:ext cx="1957388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85738" y="290520"/>
            <a:ext cx="306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因素萃取</a:t>
            </a:r>
            <a:endParaRPr lang="zh-CN" altLang="en-US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15111" y="1672808"/>
            <a:ext cx="392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232323"/>
                </a:solidFill>
              </a:rPr>
              <a:t>共同性</a:t>
            </a:r>
            <a:endParaRPr lang="zh-CN" altLang="en-US" sz="2400" b="1" dirty="0">
              <a:solidFill>
                <a:srgbClr val="232323"/>
              </a:solidFill>
            </a:endParaRPr>
          </a:p>
        </p:txBody>
      </p:sp>
      <p:cxnSp>
        <p:nvCxnSpPr>
          <p:cNvPr id="16" name="直接连接符 15"/>
          <p:cNvCxnSpPr>
            <a:cxnSpLocks/>
          </p:cNvCxnSpPr>
          <p:nvPr/>
        </p:nvCxnSpPr>
        <p:spPr>
          <a:xfrm>
            <a:off x="5617108" y="2191527"/>
            <a:ext cx="249723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15111" y="2301455"/>
            <a:ext cx="24972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pc="-10" dirty="0">
                <a:solidFill>
                  <a:srgbClr val="383838"/>
                </a:solidFill>
              </a:rPr>
              <a:t>在因素構面萃取過程中，萃取量</a:t>
            </a:r>
            <a:r>
              <a:rPr lang="zh-TW" altLang="zh-TW" spc="-10" dirty="0">
                <a:solidFill>
                  <a:srgbClr val="383838"/>
                </a:solidFill>
                <a:highlight>
                  <a:srgbClr val="C0C0C0"/>
                </a:highlight>
              </a:rPr>
              <a:t>未達</a:t>
            </a:r>
            <a:r>
              <a:rPr lang="en-US" altLang="zh-TW" spc="-10" dirty="0">
                <a:solidFill>
                  <a:srgbClr val="383838"/>
                </a:solidFill>
                <a:highlight>
                  <a:srgbClr val="C0C0C0"/>
                </a:highlight>
              </a:rPr>
              <a:t>0.5</a:t>
            </a:r>
            <a:r>
              <a:rPr lang="zh-TW" altLang="zh-TW" spc="-10" dirty="0">
                <a:solidFill>
                  <a:srgbClr val="383838"/>
                </a:solidFill>
              </a:rPr>
              <a:t>以上之變</a:t>
            </a:r>
            <a:r>
              <a:rPr lang="zh-TW" altLang="en-US" spc="-10" dirty="0">
                <a:solidFill>
                  <a:srgbClr val="383838"/>
                </a:solidFill>
              </a:rPr>
              <a:t>項</a:t>
            </a:r>
            <a:r>
              <a:rPr lang="zh-TW" altLang="zh-TW" spc="-10" dirty="0">
                <a:solidFill>
                  <a:srgbClr val="383838"/>
                </a:solidFill>
              </a:rPr>
              <a:t>，將其刪除</a:t>
            </a:r>
            <a:r>
              <a:rPr lang="zh-TW" altLang="en-US" spc="-10" dirty="0">
                <a:solidFill>
                  <a:srgbClr val="383838"/>
                </a:solidFill>
              </a:rPr>
              <a:t>，</a:t>
            </a:r>
            <a:r>
              <a:rPr lang="zh-TW" altLang="en-US" dirty="0"/>
              <a:t>重複實施多次</a:t>
            </a:r>
            <a:endParaRPr lang="zh-CN" altLang="en-US" spc="-10" dirty="0">
              <a:solidFill>
                <a:srgbClr val="383838"/>
              </a:solidFill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04520DF-5650-48E3-A223-52DBED07C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00153"/>
              </p:ext>
            </p:extLst>
          </p:nvPr>
        </p:nvGraphicFramePr>
        <p:xfrm>
          <a:off x="466724" y="2134473"/>
          <a:ext cx="477384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002">
                  <a:extLst>
                    <a:ext uri="{9D8B030D-6E8A-4147-A177-3AD203B41FA5}">
                      <a16:colId xmlns:a16="http://schemas.microsoft.com/office/drawing/2014/main" val="3504468467"/>
                    </a:ext>
                  </a:extLst>
                </a:gridCol>
                <a:gridCol w="1029661">
                  <a:extLst>
                    <a:ext uri="{9D8B030D-6E8A-4147-A177-3AD203B41FA5}">
                      <a16:colId xmlns:a16="http://schemas.microsoft.com/office/drawing/2014/main" val="1584201110"/>
                    </a:ext>
                  </a:extLst>
                </a:gridCol>
                <a:gridCol w="1114185">
                  <a:extLst>
                    <a:ext uri="{9D8B030D-6E8A-4147-A177-3AD203B41FA5}">
                      <a16:colId xmlns:a16="http://schemas.microsoft.com/office/drawing/2014/main" val="3150245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bg1"/>
                          </a:solidFill>
                        </a:rPr>
                        <a:t>變項</a:t>
                      </a:r>
                    </a:p>
                  </a:txBody>
                  <a:tcPr>
                    <a:solidFill>
                      <a:srgbClr val="6C7F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bg1"/>
                          </a:solidFill>
                        </a:rPr>
                        <a:t>原始</a:t>
                      </a:r>
                      <a:endParaRPr lang="zh-TW" altLang="en-US" dirty="0"/>
                    </a:p>
                  </a:txBody>
                  <a:tcPr>
                    <a:solidFill>
                      <a:srgbClr val="6C7F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bg1"/>
                          </a:solidFill>
                        </a:rPr>
                        <a:t>萃取</a:t>
                      </a:r>
                      <a:endParaRPr lang="zh-TW" altLang="en-US" dirty="0"/>
                    </a:p>
                  </a:txBody>
                  <a:tcPr>
                    <a:solidFill>
                      <a:srgbClr val="6C7F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48021"/>
                  </a:ext>
                </a:extLst>
              </a:tr>
              <a:tr h="271992">
                <a:tc>
                  <a:txBody>
                    <a:bodyPr/>
                    <a:lstStyle/>
                    <a:p>
                      <a:r>
                        <a:rPr lang="zh-TW" altLang="en-US" dirty="0"/>
                        <a:t>體驗懷舊的氣氛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1.000</a:t>
                      </a:r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0.491</a:t>
                      </a:r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603809"/>
                  </a:ext>
                </a:extLst>
              </a:tr>
              <a:tr h="271992">
                <a:tc>
                  <a:txBody>
                    <a:bodyPr/>
                    <a:lstStyle/>
                    <a:p>
                      <a:r>
                        <a:rPr lang="zh-TW" altLang="en-US" dirty="0"/>
                        <a:t>逃離例行事務與責任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1.000</a:t>
                      </a:r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0.396</a:t>
                      </a:r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63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18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81" y="215884"/>
            <a:ext cx="1957388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66725" y="290520"/>
            <a:ext cx="1664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因素萃取</a:t>
            </a:r>
            <a:endParaRPr lang="zh-CN" altLang="en-US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6973DA4-E7A3-445A-89DC-33F4C132984F}"/>
              </a:ext>
            </a:extLst>
          </p:cNvPr>
          <p:cNvSpPr txBox="1"/>
          <p:nvPr/>
        </p:nvSpPr>
        <p:spPr>
          <a:xfrm>
            <a:off x="5452531" y="2571750"/>
            <a:ext cx="2736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欣賞鄉野之生態景觀有</a:t>
            </a:r>
            <a:r>
              <a:rPr lang="en-US" altLang="zh-TW" dirty="0">
                <a:highlight>
                  <a:srgbClr val="C0C0C0"/>
                </a:highlight>
              </a:rPr>
              <a:t>cross</a:t>
            </a:r>
            <a:r>
              <a:rPr lang="zh-TW" altLang="en-US" dirty="0">
                <a:highlight>
                  <a:srgbClr val="C0C0C0"/>
                </a:highlight>
              </a:rPr>
              <a:t> </a:t>
            </a:r>
            <a:r>
              <a:rPr lang="en-US" altLang="zh-TW" dirty="0">
                <a:highlight>
                  <a:srgbClr val="C0C0C0"/>
                </a:highlight>
              </a:rPr>
              <a:t>loading</a:t>
            </a:r>
            <a:r>
              <a:rPr lang="zh-TW" altLang="en-US" dirty="0"/>
              <a:t>的現象，將之刪除</a:t>
            </a:r>
            <a:endParaRPr lang="en-US" altLang="zh-TW" dirty="0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DD9E9B9-EFAB-4AEB-8123-5E285788B4F0}"/>
              </a:ext>
            </a:extLst>
          </p:cNvPr>
          <p:cNvSpPr txBox="1"/>
          <p:nvPr/>
        </p:nvSpPr>
        <p:spPr>
          <a:xfrm>
            <a:off x="5572125" y="1738026"/>
            <a:ext cx="392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232323"/>
                </a:solidFill>
              </a:rPr>
              <a:t>旋轉成分矩陣</a:t>
            </a:r>
            <a:endParaRPr lang="zh-CN" altLang="en-US" sz="2400" b="1" dirty="0">
              <a:solidFill>
                <a:srgbClr val="232323"/>
              </a:solidFill>
            </a:endParaRPr>
          </a:p>
        </p:txBody>
      </p:sp>
      <p:cxnSp>
        <p:nvCxnSpPr>
          <p:cNvPr id="19" name="直接连接符 15">
            <a:extLst>
              <a:ext uri="{FF2B5EF4-FFF2-40B4-BE49-F238E27FC236}">
                <a16:creationId xmlns:a16="http://schemas.microsoft.com/office/drawing/2014/main" id="{C67AA263-7AB7-495D-A779-B5F0E5EACDF3}"/>
              </a:ext>
            </a:extLst>
          </p:cNvPr>
          <p:cNvCxnSpPr>
            <a:cxnSpLocks/>
          </p:cNvCxnSpPr>
          <p:nvPr/>
        </p:nvCxnSpPr>
        <p:spPr>
          <a:xfrm>
            <a:off x="5447232" y="2288446"/>
            <a:ext cx="28407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0E581959-4D8C-4430-AC7C-1419B5ACD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825913"/>
              </p:ext>
            </p:extLst>
          </p:nvPr>
        </p:nvGraphicFramePr>
        <p:xfrm>
          <a:off x="735666" y="2205990"/>
          <a:ext cx="4330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911">
                  <a:extLst>
                    <a:ext uri="{9D8B030D-6E8A-4147-A177-3AD203B41FA5}">
                      <a16:colId xmlns:a16="http://schemas.microsoft.com/office/drawing/2014/main" val="3504468467"/>
                    </a:ext>
                  </a:extLst>
                </a:gridCol>
                <a:gridCol w="883664">
                  <a:extLst>
                    <a:ext uri="{9D8B030D-6E8A-4147-A177-3AD203B41FA5}">
                      <a16:colId xmlns:a16="http://schemas.microsoft.com/office/drawing/2014/main" val="1584201110"/>
                    </a:ext>
                  </a:extLst>
                </a:gridCol>
                <a:gridCol w="773487">
                  <a:extLst>
                    <a:ext uri="{9D8B030D-6E8A-4147-A177-3AD203B41FA5}">
                      <a16:colId xmlns:a16="http://schemas.microsoft.com/office/drawing/2014/main" val="3150245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bg1"/>
                          </a:solidFill>
                        </a:rPr>
                        <a:t>變項</a:t>
                      </a:r>
                    </a:p>
                  </a:txBody>
                  <a:tcPr>
                    <a:solidFill>
                      <a:srgbClr val="6C7F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6C7F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6C7F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048021"/>
                  </a:ext>
                </a:extLst>
              </a:tr>
              <a:tr h="271992">
                <a:tc>
                  <a:txBody>
                    <a:bodyPr/>
                    <a:lstStyle/>
                    <a:p>
                      <a:r>
                        <a:rPr lang="zh-TW" altLang="en-US" dirty="0"/>
                        <a:t>欣賞鄉野之生態景觀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0.434</a:t>
                      </a:r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0.512</a:t>
                      </a:r>
                      <a:endParaRPr lang="zh-TW" altLang="en-US" dirty="0"/>
                    </a:p>
                  </a:txBody>
                  <a:tcP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603809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E8D65E8E-88F5-48FE-BA51-CE2C7DF3D743}"/>
              </a:ext>
            </a:extLst>
          </p:cNvPr>
          <p:cNvSpPr txBox="1"/>
          <p:nvPr/>
        </p:nvSpPr>
        <p:spPr>
          <a:xfrm>
            <a:off x="3984880" y="1901851"/>
            <a:ext cx="175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FFFF"/>
                </a:solidFill>
                <a:highlight>
                  <a:srgbClr val="6C7F90"/>
                </a:highlight>
              </a:rPr>
              <a:t>成分</a:t>
            </a:r>
          </a:p>
        </p:txBody>
      </p:sp>
    </p:spTree>
    <p:extLst>
      <p:ext uri="{BB962C8B-B14F-4D97-AF65-F5344CB8AC3E}">
        <p14:creationId xmlns:p14="http://schemas.microsoft.com/office/powerpoint/2010/main" val="657769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81" y="215884"/>
            <a:ext cx="2205038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0" y="290520"/>
            <a:ext cx="213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最後選擇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個因素</a:t>
            </a:r>
            <a:endParaRPr lang="zh-CN" altLang="en-US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3A1D3DA-B63B-425F-A0E5-5F96EDD5A9F3}"/>
              </a:ext>
            </a:extLst>
          </p:cNvPr>
          <p:cNvGrpSpPr/>
          <p:nvPr/>
        </p:nvGrpSpPr>
        <p:grpSpPr>
          <a:xfrm>
            <a:off x="2264566" y="103864"/>
            <a:ext cx="6000745" cy="5149072"/>
            <a:chOff x="2941598" y="-233406"/>
            <a:chExt cx="4429892" cy="4911477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BBAAEF76-1B8A-44A4-8DF5-9918D8A3F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41598" y="-233406"/>
              <a:ext cx="4429892" cy="3322419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4B18717B-16D6-435F-AEFC-C09F71076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6575" y="3017229"/>
              <a:ext cx="4127260" cy="16608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707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37495"/>
            <a:ext cx="1837678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79644" y="327520"/>
            <a:ext cx="214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因素命名</a:t>
            </a:r>
            <a:endParaRPr lang="zh-CN" altLang="en-US" sz="1600" b="1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84896" y="1263159"/>
            <a:ext cx="5962186" cy="1177653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47614" y="858321"/>
            <a:ext cx="44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kern="1600" dirty="0"/>
              <a:t>使用因素分析後，將各個獨立的敘述句整合為下列</a:t>
            </a:r>
            <a:r>
              <a:rPr lang="en-US" altLang="zh-TW" sz="1200" b="1" kern="1600" dirty="0"/>
              <a:t>6</a:t>
            </a:r>
            <a:r>
              <a:rPr lang="zh-TW" altLang="en-US" sz="1200" b="1" kern="1600" dirty="0"/>
              <a:t>個因素</a:t>
            </a:r>
            <a:endParaRPr lang="zh-CN" alt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030260" y="1239689"/>
            <a:ext cx="57589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100" b="1" spc="-20">
                <a:solidFill>
                  <a:schemeClr val="bg1"/>
                </a:solidFill>
              </a:rPr>
              <a:t>接近與體驗大自然</a:t>
            </a:r>
            <a:r>
              <a:rPr lang="en-US" altLang="zh-TW" sz="1100" b="1" spc="-20">
                <a:solidFill>
                  <a:schemeClr val="bg1"/>
                </a:solidFill>
              </a:rPr>
              <a:t>                 				</a:t>
            </a:r>
            <a:endParaRPr lang="zh-CN" altLang="en-US" sz="1100" b="1" spc="-2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7764" y="1470676"/>
            <a:ext cx="112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8C937"/>
                </a:solidFill>
              </a:rPr>
              <a:t>FACTOR1</a:t>
            </a:r>
            <a:endParaRPr lang="zh-CN" altLang="en-US" sz="1400" b="1" dirty="0">
              <a:solidFill>
                <a:srgbClr val="F8C937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08549" y="1263159"/>
            <a:ext cx="2676347" cy="1177727"/>
          </a:xfrm>
          <a:prstGeom prst="rect">
            <a:avLst/>
          </a:prstGeom>
          <a:noFill/>
          <a:ln w="9525">
            <a:solidFill>
              <a:srgbClr val="F8C9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096AB0-78E7-4E33-8994-AEA0D695EAB3}"/>
              </a:ext>
            </a:extLst>
          </p:cNvPr>
          <p:cNvSpPr/>
          <p:nvPr/>
        </p:nvSpPr>
        <p:spPr>
          <a:xfrm>
            <a:off x="467923" y="1791667"/>
            <a:ext cx="20890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600" dirty="0"/>
              <a:t>主要動機</a:t>
            </a:r>
            <a:r>
              <a:rPr lang="en-US" altLang="zh-TW" sz="1600" dirty="0"/>
              <a:t>:</a:t>
            </a:r>
            <a:r>
              <a:rPr lang="zh-TW" altLang="en-US" sz="1600" dirty="0"/>
              <a:t>身心紓壓</a:t>
            </a:r>
            <a:endParaRPr lang="en-US" altLang="zh-TW" sz="1600" dirty="0"/>
          </a:p>
          <a:p>
            <a:r>
              <a:rPr lang="zh-TW" altLang="en-US" sz="1600" dirty="0"/>
              <a:t>輔助動機</a:t>
            </a:r>
            <a:r>
              <a:rPr lang="en-US" altLang="zh-TW" sz="1600" dirty="0"/>
              <a:t>:</a:t>
            </a:r>
            <a:r>
              <a:rPr lang="zh-TW" altLang="en-US" sz="1600" dirty="0"/>
              <a:t>接近大自然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B6E2A34-DB6E-4F5B-AC30-B5E7676D5C25}"/>
              </a:ext>
            </a:extLst>
          </p:cNvPr>
          <p:cNvSpPr/>
          <p:nvPr/>
        </p:nvSpPr>
        <p:spPr>
          <a:xfrm>
            <a:off x="2884896" y="2556885"/>
            <a:ext cx="5962186" cy="988362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EC04B77-1FF4-4797-8829-881690505219}"/>
              </a:ext>
            </a:extLst>
          </p:cNvPr>
          <p:cNvSpPr/>
          <p:nvPr/>
        </p:nvSpPr>
        <p:spPr>
          <a:xfrm>
            <a:off x="208549" y="2556885"/>
            <a:ext cx="2676347" cy="988424"/>
          </a:xfrm>
          <a:prstGeom prst="rect">
            <a:avLst/>
          </a:prstGeom>
          <a:noFill/>
          <a:ln w="9525">
            <a:solidFill>
              <a:srgbClr val="F8C9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3FF5615-6848-47D2-968B-D51756641B5A}"/>
              </a:ext>
            </a:extLst>
          </p:cNvPr>
          <p:cNvSpPr/>
          <p:nvPr/>
        </p:nvSpPr>
        <p:spPr>
          <a:xfrm>
            <a:off x="364520" y="2914801"/>
            <a:ext cx="26707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/>
              <a:t>主要動機</a:t>
            </a:r>
            <a:r>
              <a:rPr lang="en-US" altLang="zh-TW" sz="1600" dirty="0"/>
              <a:t>:</a:t>
            </a:r>
            <a:r>
              <a:rPr lang="zh-TW" altLang="en-US" sz="1600" dirty="0"/>
              <a:t>積極求知與學習</a:t>
            </a:r>
            <a:endParaRPr lang="en-US" altLang="zh-TW" sz="1600" dirty="0"/>
          </a:p>
          <a:p>
            <a:r>
              <a:rPr lang="zh-TW" altLang="en-US" sz="1600" dirty="0"/>
              <a:t>輔助動機</a:t>
            </a:r>
            <a:r>
              <a:rPr lang="en-US" altLang="zh-TW" sz="1600" dirty="0"/>
              <a:t>:</a:t>
            </a:r>
            <a:r>
              <a:rPr lang="zh-TW" altLang="en-US" sz="1600" dirty="0"/>
              <a:t>滿足社交性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248449-306F-45DD-B1EC-520F7EA6C157}"/>
              </a:ext>
            </a:extLst>
          </p:cNvPr>
          <p:cNvSpPr/>
          <p:nvPr/>
        </p:nvSpPr>
        <p:spPr>
          <a:xfrm>
            <a:off x="2866924" y="3696461"/>
            <a:ext cx="5962185" cy="788417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E0BD48-B78F-4C01-BADD-0164BAF40BE4}"/>
              </a:ext>
            </a:extLst>
          </p:cNvPr>
          <p:cNvSpPr/>
          <p:nvPr/>
        </p:nvSpPr>
        <p:spPr>
          <a:xfrm>
            <a:off x="220761" y="3688929"/>
            <a:ext cx="2646163" cy="788467"/>
          </a:xfrm>
          <a:prstGeom prst="rect">
            <a:avLst/>
          </a:prstGeom>
          <a:noFill/>
          <a:ln w="9525">
            <a:solidFill>
              <a:srgbClr val="F8C9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E06839-AFBC-4740-A958-078AE343481A}"/>
              </a:ext>
            </a:extLst>
          </p:cNvPr>
          <p:cNvSpPr/>
          <p:nvPr/>
        </p:nvSpPr>
        <p:spPr>
          <a:xfrm>
            <a:off x="404575" y="4038602"/>
            <a:ext cx="22942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600" dirty="0"/>
              <a:t>主要動機</a:t>
            </a:r>
            <a:r>
              <a:rPr lang="en-US" altLang="zh-TW" sz="1600" dirty="0"/>
              <a:t>:</a:t>
            </a:r>
            <a:r>
              <a:rPr lang="zh-TW" altLang="en-US" sz="1600" dirty="0"/>
              <a:t>鄉野特殊風情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81475E6D-D4DF-4C90-8E82-255340796546}"/>
              </a:ext>
            </a:extLst>
          </p:cNvPr>
          <p:cNvSpPr txBox="1"/>
          <p:nvPr/>
        </p:nvSpPr>
        <p:spPr>
          <a:xfrm>
            <a:off x="3036356" y="1444269"/>
            <a:ext cx="5752852" cy="25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100" b="1" spc="-20" dirty="0">
                <a:solidFill>
                  <a:schemeClr val="bg1"/>
                </a:solidFill>
              </a:rPr>
              <a:t>釋放生活或學業之壓力與焦慮</a:t>
            </a:r>
            <a:endParaRPr lang="zh-CN" altLang="en-US" sz="1100" b="1" spc="-20" dirty="0">
              <a:solidFill>
                <a:schemeClr val="bg1"/>
              </a:solidFill>
            </a:endParaRP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A8E2982A-31DC-4DCC-8AC0-845363CA2B65}"/>
              </a:ext>
            </a:extLst>
          </p:cNvPr>
          <p:cNvSpPr txBox="1"/>
          <p:nvPr/>
        </p:nvSpPr>
        <p:spPr>
          <a:xfrm>
            <a:off x="3036357" y="1627058"/>
            <a:ext cx="5810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100" b="1" spc="-20" dirty="0">
                <a:solidFill>
                  <a:schemeClr val="bg1"/>
                </a:solidFill>
              </a:rPr>
              <a:t>尋找心靈的寧靜</a:t>
            </a:r>
            <a:endParaRPr lang="zh-CN" altLang="en-US" sz="1100" b="1" spc="-20" dirty="0">
              <a:solidFill>
                <a:schemeClr val="bg1"/>
              </a:solidFill>
            </a:endParaRP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EFD5EDD1-900B-45A4-8EBC-B2CE1B4C9647}"/>
              </a:ext>
            </a:extLst>
          </p:cNvPr>
          <p:cNvSpPr txBox="1"/>
          <p:nvPr/>
        </p:nvSpPr>
        <p:spPr>
          <a:xfrm>
            <a:off x="3036356" y="1809848"/>
            <a:ext cx="5752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100" b="1" spc="-20" dirty="0">
                <a:solidFill>
                  <a:schemeClr val="bg1"/>
                </a:solidFill>
              </a:rPr>
              <a:t>避開都市吵雜生活環境</a:t>
            </a:r>
            <a:endParaRPr lang="zh-CN" altLang="en-US" sz="1100" b="1" spc="-20" dirty="0">
              <a:solidFill>
                <a:schemeClr val="bg1"/>
              </a:solidFill>
            </a:endParaRP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52E9EA69-276A-4726-83E4-E0ED74C60C14}"/>
              </a:ext>
            </a:extLst>
          </p:cNvPr>
          <p:cNvSpPr txBox="1"/>
          <p:nvPr/>
        </p:nvSpPr>
        <p:spPr>
          <a:xfrm>
            <a:off x="3036357" y="1973697"/>
            <a:ext cx="3101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100" b="1" spc="-20" dirty="0">
                <a:solidFill>
                  <a:schemeClr val="bg1"/>
                </a:solidFill>
              </a:rPr>
              <a:t>鬆弛身心，調劑生活</a:t>
            </a:r>
            <a:endParaRPr lang="zh-CN" altLang="en-US" sz="1100" b="1" spc="-20" dirty="0">
              <a:solidFill>
                <a:schemeClr val="bg1"/>
              </a:solidFill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CEE77785-5B66-4592-9B6B-AF74D436A7B8}"/>
              </a:ext>
            </a:extLst>
          </p:cNvPr>
          <p:cNvSpPr txBox="1"/>
          <p:nvPr/>
        </p:nvSpPr>
        <p:spPr>
          <a:xfrm>
            <a:off x="3036357" y="2179537"/>
            <a:ext cx="31018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100" b="1" spc="-20" dirty="0">
                <a:solidFill>
                  <a:schemeClr val="bg1"/>
                </a:solidFill>
              </a:rPr>
              <a:t>欣賞鄉野的自然田園景色</a:t>
            </a:r>
            <a:endParaRPr lang="zh-CN" altLang="en-US" sz="1100" b="1" spc="-20" dirty="0">
              <a:solidFill>
                <a:schemeClr val="bg1"/>
              </a:solidFill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28BFDA69-8BC5-4049-A063-B89DB2B87ABF}"/>
              </a:ext>
            </a:extLst>
          </p:cNvPr>
          <p:cNvSpPr txBox="1"/>
          <p:nvPr/>
        </p:nvSpPr>
        <p:spPr>
          <a:xfrm>
            <a:off x="3036357" y="2594048"/>
            <a:ext cx="310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200" b="1" spc="-20" dirty="0">
                <a:solidFill>
                  <a:schemeClr val="bg1"/>
                </a:solidFill>
              </a:rPr>
              <a:t>增進社交人際關係</a:t>
            </a:r>
            <a:endParaRPr lang="zh-CN" altLang="en-US" sz="1200" b="1" spc="-20" dirty="0">
              <a:solidFill>
                <a:schemeClr val="bg1"/>
              </a:solidFill>
            </a:endParaRP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C768F91D-CBD4-419A-BE74-B802360F3FDE}"/>
              </a:ext>
            </a:extLst>
          </p:cNvPr>
          <p:cNvSpPr txBox="1"/>
          <p:nvPr/>
        </p:nvSpPr>
        <p:spPr>
          <a:xfrm>
            <a:off x="3036357" y="2819761"/>
            <a:ext cx="2397002" cy="274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200" b="1" spc="-20" dirty="0">
                <a:solidFill>
                  <a:schemeClr val="bg1"/>
                </a:solidFill>
              </a:rPr>
              <a:t>自我肯定與尋找自我價值</a:t>
            </a:r>
            <a:endParaRPr lang="zh-CN" altLang="en-US" sz="1200" b="1" spc="-20" dirty="0">
              <a:solidFill>
                <a:schemeClr val="bg1"/>
              </a:solidFill>
            </a:endParaRPr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7FF178C4-F4CC-4B31-B1E2-680EB1CB4E1E}"/>
              </a:ext>
            </a:extLst>
          </p:cNvPr>
          <p:cNvSpPr txBox="1"/>
          <p:nvPr/>
        </p:nvSpPr>
        <p:spPr>
          <a:xfrm>
            <a:off x="3023750" y="3033922"/>
            <a:ext cx="310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200" b="1" spc="-20" dirty="0">
                <a:solidFill>
                  <a:schemeClr val="bg1"/>
                </a:solidFill>
              </a:rPr>
              <a:t>增加學習新事物的機會</a:t>
            </a:r>
            <a:endParaRPr lang="zh-CN" altLang="en-US" sz="1200" b="1" spc="-20" dirty="0">
              <a:solidFill>
                <a:schemeClr val="bg1"/>
              </a:solidFill>
            </a:endParaRPr>
          </a:p>
        </p:txBody>
      </p:sp>
      <p:sp>
        <p:nvSpPr>
          <p:cNvPr id="44" name="TextBox 11">
            <a:extLst>
              <a:ext uri="{FF2B5EF4-FFF2-40B4-BE49-F238E27FC236}">
                <a16:creationId xmlns:a16="http://schemas.microsoft.com/office/drawing/2014/main" id="{DBD9CF6A-EA4B-4244-929E-D39ADA48ADCB}"/>
              </a:ext>
            </a:extLst>
          </p:cNvPr>
          <p:cNvSpPr txBox="1"/>
          <p:nvPr/>
        </p:nvSpPr>
        <p:spPr>
          <a:xfrm>
            <a:off x="3023750" y="3275317"/>
            <a:ext cx="310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200" b="1" spc="-20" dirty="0">
                <a:solidFill>
                  <a:schemeClr val="bg1"/>
                </a:solidFill>
              </a:rPr>
              <a:t>增廣見聞，充實知識</a:t>
            </a:r>
            <a:endParaRPr lang="zh-CN" altLang="en-US" sz="1200" b="1" spc="-20" dirty="0">
              <a:solidFill>
                <a:schemeClr val="bg1"/>
              </a:solidFill>
            </a:endParaRP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B7F3E151-4A74-4096-91BF-21F379E52952}"/>
              </a:ext>
            </a:extLst>
          </p:cNvPr>
          <p:cNvSpPr txBox="1"/>
          <p:nvPr/>
        </p:nvSpPr>
        <p:spPr>
          <a:xfrm>
            <a:off x="3036356" y="3753259"/>
            <a:ext cx="5511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200" b="1" spc="-20" dirty="0">
                <a:solidFill>
                  <a:schemeClr val="bg1"/>
                </a:solidFill>
              </a:rPr>
              <a:t>體驗鄉野的活動</a:t>
            </a:r>
            <a:r>
              <a:rPr lang="en-US" altLang="zh-TW" sz="1200" b="1" spc="-20" dirty="0">
                <a:solidFill>
                  <a:schemeClr val="bg1"/>
                </a:solidFill>
              </a:rPr>
              <a:t>(</a:t>
            </a:r>
            <a:r>
              <a:rPr lang="zh-TW" altLang="zh-TW" sz="1200" b="1" spc="-20" dirty="0">
                <a:solidFill>
                  <a:schemeClr val="bg1"/>
                </a:solidFill>
              </a:rPr>
              <a:t>農業體驗活動，農村生活體驗，民俗文化活動</a:t>
            </a:r>
            <a:r>
              <a:rPr lang="en-US" altLang="zh-TW" sz="1200" b="1" spc="-20" dirty="0">
                <a:solidFill>
                  <a:schemeClr val="bg1"/>
                </a:solidFill>
              </a:rPr>
              <a:t>…)</a:t>
            </a:r>
            <a:endParaRPr lang="zh-CN" altLang="en-US" sz="1200" b="1" spc="-20" dirty="0">
              <a:solidFill>
                <a:schemeClr val="bg1"/>
              </a:solidFill>
            </a:endParaRPr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3F2495D9-392C-4D8D-BDC4-F4FABFB17562}"/>
              </a:ext>
            </a:extLst>
          </p:cNvPr>
          <p:cNvSpPr txBox="1"/>
          <p:nvPr/>
        </p:nvSpPr>
        <p:spPr>
          <a:xfrm>
            <a:off x="3006172" y="4207879"/>
            <a:ext cx="5511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200" b="1" spc="-20" dirty="0">
                <a:solidFill>
                  <a:schemeClr val="bg1"/>
                </a:solidFill>
              </a:rPr>
              <a:t>尋訪鄉野之農村民情景觀</a:t>
            </a:r>
            <a:r>
              <a:rPr lang="en-US" altLang="zh-TW" sz="1200" b="1" spc="-20" dirty="0">
                <a:solidFill>
                  <a:schemeClr val="bg1"/>
                </a:solidFill>
              </a:rPr>
              <a:t>(</a:t>
            </a:r>
            <a:r>
              <a:rPr lang="zh-TW" altLang="zh-TW" sz="1200" b="1" spc="-20" dirty="0">
                <a:solidFill>
                  <a:schemeClr val="bg1"/>
                </a:solidFill>
              </a:rPr>
              <a:t>農莊，農舍，當地風俗</a:t>
            </a:r>
            <a:r>
              <a:rPr lang="en-US" altLang="zh-TW" sz="1200" b="1" spc="-20" dirty="0">
                <a:solidFill>
                  <a:schemeClr val="bg1"/>
                </a:solidFill>
              </a:rPr>
              <a:t>…)</a:t>
            </a:r>
            <a:endParaRPr lang="zh-CN" altLang="en-US" sz="1200" b="1" spc="-20" dirty="0">
              <a:solidFill>
                <a:schemeClr val="bg1"/>
              </a:solidFill>
            </a:endParaRP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87791886-0AFA-4795-BCCF-098F4FA24EDC}"/>
              </a:ext>
            </a:extLst>
          </p:cNvPr>
          <p:cNvSpPr txBox="1"/>
          <p:nvPr/>
        </p:nvSpPr>
        <p:spPr>
          <a:xfrm>
            <a:off x="3036356" y="3964780"/>
            <a:ext cx="5511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200" b="1" spc="-20" dirty="0">
                <a:solidFill>
                  <a:schemeClr val="bg1"/>
                </a:solidFill>
              </a:rPr>
              <a:t>購買品嚐鄉野特產</a:t>
            </a:r>
            <a:r>
              <a:rPr lang="en-US" altLang="zh-TW" sz="1200" b="1" spc="-20" dirty="0">
                <a:solidFill>
                  <a:schemeClr val="bg1"/>
                </a:solidFill>
              </a:rPr>
              <a:t>(</a:t>
            </a:r>
            <a:r>
              <a:rPr lang="zh-TW" altLang="zh-TW" sz="1200" b="1" spc="-20" dirty="0">
                <a:solidFill>
                  <a:schemeClr val="bg1"/>
                </a:solidFill>
              </a:rPr>
              <a:t>野菜，蔬果，加工品</a:t>
            </a:r>
            <a:r>
              <a:rPr lang="en-US" altLang="zh-TW" sz="1200" b="1" spc="-20" dirty="0">
                <a:solidFill>
                  <a:schemeClr val="bg1"/>
                </a:solidFill>
              </a:rPr>
              <a:t>…)</a:t>
            </a:r>
            <a:endParaRPr lang="zh-CN" altLang="en-US" sz="1200" b="1" spc="-20" dirty="0">
              <a:solidFill>
                <a:schemeClr val="bg1"/>
              </a:solidFill>
            </a:endParaRPr>
          </a:p>
        </p:txBody>
      </p:sp>
      <p:sp>
        <p:nvSpPr>
          <p:cNvPr id="48" name="TextBox 12">
            <a:extLst>
              <a:ext uri="{FF2B5EF4-FFF2-40B4-BE49-F238E27FC236}">
                <a16:creationId xmlns:a16="http://schemas.microsoft.com/office/drawing/2014/main" id="{888919E2-92C7-4D82-919D-2FB3B12E01D2}"/>
              </a:ext>
            </a:extLst>
          </p:cNvPr>
          <p:cNvSpPr txBox="1"/>
          <p:nvPr/>
        </p:nvSpPr>
        <p:spPr>
          <a:xfrm>
            <a:off x="982335" y="2674721"/>
            <a:ext cx="112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8C937"/>
                </a:solidFill>
              </a:rPr>
              <a:t>FACTOR2</a:t>
            </a:r>
            <a:endParaRPr lang="zh-CN" altLang="en-US" sz="1400" b="1" dirty="0">
              <a:solidFill>
                <a:srgbClr val="F8C937"/>
              </a:solidFill>
            </a:endParaRPr>
          </a:p>
        </p:txBody>
      </p:sp>
      <p:sp>
        <p:nvSpPr>
          <p:cNvPr id="49" name="TextBox 12">
            <a:extLst>
              <a:ext uri="{FF2B5EF4-FFF2-40B4-BE49-F238E27FC236}">
                <a16:creationId xmlns:a16="http://schemas.microsoft.com/office/drawing/2014/main" id="{30527700-F32D-4594-8AB5-29868E0EFEAD}"/>
              </a:ext>
            </a:extLst>
          </p:cNvPr>
          <p:cNvSpPr txBox="1"/>
          <p:nvPr/>
        </p:nvSpPr>
        <p:spPr>
          <a:xfrm>
            <a:off x="982335" y="3750766"/>
            <a:ext cx="112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8C937"/>
                </a:solidFill>
              </a:rPr>
              <a:t>FACTOR3</a:t>
            </a:r>
            <a:endParaRPr lang="zh-CN" altLang="en-US" sz="1400" b="1" dirty="0">
              <a:solidFill>
                <a:srgbClr val="F8C937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E7A356-6793-4A39-AA76-4D6F32B43E91}"/>
              </a:ext>
            </a:extLst>
          </p:cNvPr>
          <p:cNvSpPr/>
          <p:nvPr/>
        </p:nvSpPr>
        <p:spPr>
          <a:xfrm>
            <a:off x="8187125" y="1235614"/>
            <a:ext cx="7549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0.754</a:t>
            </a:r>
            <a:endParaRPr lang="zh-TW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430C7A-1AB3-4FF1-B6F1-00D9EFD6F4DD}"/>
              </a:ext>
            </a:extLst>
          </p:cNvPr>
          <p:cNvSpPr/>
          <p:nvPr/>
        </p:nvSpPr>
        <p:spPr>
          <a:xfrm>
            <a:off x="8187125" y="1422111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0.758</a:t>
            </a:r>
            <a:endParaRPr lang="zh-TW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F0E344-6D05-4D98-A03A-78DFB3B21009}"/>
              </a:ext>
            </a:extLst>
          </p:cNvPr>
          <p:cNvSpPr/>
          <p:nvPr/>
        </p:nvSpPr>
        <p:spPr>
          <a:xfrm>
            <a:off x="8199064" y="1605748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0.725</a:t>
            </a:r>
            <a:endParaRPr lang="zh-TW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B4CF1F-1B19-49B4-8CAA-BA00CF43BA17}"/>
              </a:ext>
            </a:extLst>
          </p:cNvPr>
          <p:cNvSpPr/>
          <p:nvPr/>
        </p:nvSpPr>
        <p:spPr>
          <a:xfrm>
            <a:off x="8199064" y="1794875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0.714</a:t>
            </a:r>
            <a:endParaRPr lang="zh-TW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58E70-7D69-4A9D-BE9C-31F408AAF5C6}"/>
              </a:ext>
            </a:extLst>
          </p:cNvPr>
          <p:cNvSpPr/>
          <p:nvPr/>
        </p:nvSpPr>
        <p:spPr>
          <a:xfrm>
            <a:off x="8199064" y="1948357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0.740</a:t>
            </a:r>
            <a:endParaRPr lang="zh-TW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250C17-8D18-4D33-B45C-5F8E14FA8ABF}"/>
              </a:ext>
            </a:extLst>
          </p:cNvPr>
          <p:cNvSpPr/>
          <p:nvPr/>
        </p:nvSpPr>
        <p:spPr>
          <a:xfrm>
            <a:off x="8199064" y="2125715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0.629</a:t>
            </a:r>
            <a:endParaRPr lang="zh-TW" altLang="en-US" sz="1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5957A0-2F6A-4182-90FE-69906CBCF39B}"/>
              </a:ext>
            </a:extLst>
          </p:cNvPr>
          <p:cNvSpPr/>
          <p:nvPr/>
        </p:nvSpPr>
        <p:spPr>
          <a:xfrm>
            <a:off x="8220768" y="2534301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b="1" spc="-20" dirty="0">
                <a:solidFill>
                  <a:schemeClr val="bg1"/>
                </a:solidFill>
              </a:rPr>
              <a:t>0.677</a:t>
            </a:r>
            <a:endParaRPr lang="zh-CN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CBE456-1B27-41EE-A659-CD55EA68C180}"/>
              </a:ext>
            </a:extLst>
          </p:cNvPr>
          <p:cNvSpPr/>
          <p:nvPr/>
        </p:nvSpPr>
        <p:spPr>
          <a:xfrm>
            <a:off x="8220768" y="2763329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0.766</a:t>
            </a:r>
            <a:endParaRPr lang="zh-TW" altLang="en-US" sz="1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2071F8-3CFB-4E4B-AB05-AE6A8DFA1E37}"/>
              </a:ext>
            </a:extLst>
          </p:cNvPr>
          <p:cNvSpPr/>
          <p:nvPr/>
        </p:nvSpPr>
        <p:spPr>
          <a:xfrm>
            <a:off x="8220768" y="2997996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0.699</a:t>
            </a:r>
            <a:endParaRPr lang="zh-TW" altLang="en-US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EB381F9-19A5-4E2B-926B-311C14433483}"/>
              </a:ext>
            </a:extLst>
          </p:cNvPr>
          <p:cNvSpPr/>
          <p:nvPr/>
        </p:nvSpPr>
        <p:spPr>
          <a:xfrm>
            <a:off x="8228001" y="3240695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0.645</a:t>
            </a:r>
            <a:endParaRPr lang="zh-TW" altLang="en-US" sz="14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4B29F6E-7CE8-49EA-B8D2-9DD0AF8A060E}"/>
              </a:ext>
            </a:extLst>
          </p:cNvPr>
          <p:cNvSpPr/>
          <p:nvPr/>
        </p:nvSpPr>
        <p:spPr>
          <a:xfrm>
            <a:off x="8228001" y="3652448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0.758</a:t>
            </a:r>
            <a:endParaRPr lang="zh-TW" altLang="en-US" sz="14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B25AA5B-1189-45E1-B322-EC5B19CA25D6}"/>
              </a:ext>
            </a:extLst>
          </p:cNvPr>
          <p:cNvSpPr/>
          <p:nvPr/>
        </p:nvSpPr>
        <p:spPr>
          <a:xfrm>
            <a:off x="8228001" y="3910269"/>
            <a:ext cx="7489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0.775</a:t>
            </a:r>
            <a:endParaRPr lang="zh-TW" altLang="en-US" sz="1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77ED91D-BEA8-4F48-B691-57E4141993B4}"/>
              </a:ext>
            </a:extLst>
          </p:cNvPr>
          <p:cNvSpPr/>
          <p:nvPr/>
        </p:nvSpPr>
        <p:spPr>
          <a:xfrm>
            <a:off x="8228001" y="4169619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0.706</a:t>
            </a:r>
            <a:endParaRPr lang="zh-TW" altLang="en-US" sz="1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6634615-AC89-4ECE-812E-51479E31F7FB}"/>
              </a:ext>
            </a:extLst>
          </p:cNvPr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TextBox 4">
            <a:extLst>
              <a:ext uri="{FF2B5EF4-FFF2-40B4-BE49-F238E27FC236}">
                <a16:creationId xmlns:a16="http://schemas.microsoft.com/office/drawing/2014/main" id="{2F1F4FC4-96B1-485E-A3D1-FCFD30C90017}"/>
              </a:ext>
            </a:extLst>
          </p:cNvPr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12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237495"/>
            <a:ext cx="1837678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79644" y="327520"/>
            <a:ext cx="214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TW" altLang="en-US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因素命名</a:t>
            </a:r>
            <a:endParaRPr lang="zh-CN" altLang="en-US" sz="1600" b="1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96F86B-DC30-4379-A17F-A657C18A916A}"/>
              </a:ext>
            </a:extLst>
          </p:cNvPr>
          <p:cNvSpPr/>
          <p:nvPr/>
        </p:nvSpPr>
        <p:spPr>
          <a:xfrm>
            <a:off x="2830725" y="2571751"/>
            <a:ext cx="6045222" cy="705258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F9ACA81-811B-46CC-87D5-AF54C4587BAB}"/>
              </a:ext>
            </a:extLst>
          </p:cNvPr>
          <p:cNvSpPr/>
          <p:nvPr/>
        </p:nvSpPr>
        <p:spPr>
          <a:xfrm>
            <a:off x="155763" y="2571750"/>
            <a:ext cx="2677475" cy="705303"/>
          </a:xfrm>
          <a:prstGeom prst="rect">
            <a:avLst/>
          </a:prstGeom>
          <a:noFill/>
          <a:ln w="9525">
            <a:solidFill>
              <a:srgbClr val="F8C9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C6D55EA-9A40-4027-BAEE-1067C8A63000}"/>
              </a:ext>
            </a:extLst>
          </p:cNvPr>
          <p:cNvSpPr/>
          <p:nvPr/>
        </p:nvSpPr>
        <p:spPr>
          <a:xfrm>
            <a:off x="305313" y="1894665"/>
            <a:ext cx="24994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600" dirty="0"/>
              <a:t>主要動機</a:t>
            </a:r>
            <a:r>
              <a:rPr lang="en-US" altLang="zh-TW" sz="1600" dirty="0"/>
              <a:t>:</a:t>
            </a:r>
            <a:r>
              <a:rPr lang="zh-TW" altLang="en-US" sz="1600" dirty="0"/>
              <a:t>親情與友情培養</a:t>
            </a:r>
            <a:endParaRPr lang="en-US" altLang="zh-TW" sz="1600" dirty="0"/>
          </a:p>
          <a:p>
            <a:r>
              <a:rPr lang="zh-TW" altLang="en-US" sz="1600" dirty="0"/>
              <a:t>輔助動機</a:t>
            </a:r>
            <a:r>
              <a:rPr lang="en-US" altLang="zh-TW" sz="1600" dirty="0"/>
              <a:t>:</a:t>
            </a:r>
            <a:r>
              <a:rPr lang="zh-TW" altLang="en-US" sz="1600" dirty="0"/>
              <a:t>價格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0E08DBB-A9BE-4C11-9874-4AA469018A94}"/>
              </a:ext>
            </a:extLst>
          </p:cNvPr>
          <p:cNvSpPr/>
          <p:nvPr/>
        </p:nvSpPr>
        <p:spPr>
          <a:xfrm>
            <a:off x="2843461" y="1578771"/>
            <a:ext cx="6032486" cy="875560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521E74-CF58-4320-A235-4D2CF017AFFB}"/>
              </a:ext>
            </a:extLst>
          </p:cNvPr>
          <p:cNvSpPr/>
          <p:nvPr/>
        </p:nvSpPr>
        <p:spPr>
          <a:xfrm>
            <a:off x="135558" y="1578769"/>
            <a:ext cx="2707904" cy="875614"/>
          </a:xfrm>
          <a:prstGeom prst="rect">
            <a:avLst/>
          </a:prstGeom>
          <a:noFill/>
          <a:ln w="9525">
            <a:solidFill>
              <a:srgbClr val="F8C9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FA23AC0-2E97-4872-8EF0-26E1E9F96250}"/>
              </a:ext>
            </a:extLst>
          </p:cNvPr>
          <p:cNvSpPr/>
          <p:nvPr/>
        </p:nvSpPr>
        <p:spPr>
          <a:xfrm>
            <a:off x="500470" y="2922653"/>
            <a:ext cx="18838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600" dirty="0"/>
              <a:t>主要動機</a:t>
            </a:r>
            <a:r>
              <a:rPr lang="en-US" altLang="zh-TW" sz="1600" dirty="0"/>
              <a:t>:</a:t>
            </a:r>
            <a:r>
              <a:rPr lang="zh-TW" altLang="en-US" sz="1600" dirty="0"/>
              <a:t>隨興出遊</a:t>
            </a:r>
            <a:endParaRPr lang="en-US" altLang="zh-TW" sz="16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BDB90E-1F92-4058-A859-85B09530301B}"/>
              </a:ext>
            </a:extLst>
          </p:cNvPr>
          <p:cNvSpPr/>
          <p:nvPr/>
        </p:nvSpPr>
        <p:spPr>
          <a:xfrm>
            <a:off x="2830725" y="3420212"/>
            <a:ext cx="6045222" cy="817236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4D49133-A9C1-45DC-B88D-8EBDC4BA1561}"/>
              </a:ext>
            </a:extLst>
          </p:cNvPr>
          <p:cNvSpPr/>
          <p:nvPr/>
        </p:nvSpPr>
        <p:spPr>
          <a:xfrm>
            <a:off x="155763" y="3420211"/>
            <a:ext cx="2677475" cy="817287"/>
          </a:xfrm>
          <a:prstGeom prst="rect">
            <a:avLst/>
          </a:prstGeom>
          <a:noFill/>
          <a:ln w="9525">
            <a:solidFill>
              <a:srgbClr val="F8C9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90B8022-EBAA-4351-BBFC-806B6F27BB8E}"/>
              </a:ext>
            </a:extLst>
          </p:cNvPr>
          <p:cNvSpPr/>
          <p:nvPr/>
        </p:nvSpPr>
        <p:spPr>
          <a:xfrm>
            <a:off x="361980" y="3650776"/>
            <a:ext cx="20890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600" dirty="0"/>
              <a:t>主要動機</a:t>
            </a:r>
            <a:r>
              <a:rPr lang="en-US" altLang="zh-TW" sz="1600" dirty="0"/>
              <a:t>:</a:t>
            </a:r>
            <a:r>
              <a:rPr lang="zh-TW" altLang="en-US" sz="1600" dirty="0"/>
              <a:t>滿足好奇心</a:t>
            </a:r>
            <a:endParaRPr lang="en-US" altLang="zh-TW" sz="1600" dirty="0"/>
          </a:p>
          <a:p>
            <a:r>
              <a:rPr lang="zh-TW" altLang="en-US" sz="1600" dirty="0"/>
              <a:t>輔助動機</a:t>
            </a:r>
            <a:r>
              <a:rPr lang="en-US" altLang="zh-TW" sz="1600" dirty="0"/>
              <a:t>:</a:t>
            </a:r>
            <a:r>
              <a:rPr lang="zh-TW" altLang="en-US" sz="1600" dirty="0"/>
              <a:t>親朋邀約</a:t>
            </a: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1824CF06-6A14-4239-8FD4-5751CDDB615A}"/>
              </a:ext>
            </a:extLst>
          </p:cNvPr>
          <p:cNvSpPr txBox="1"/>
          <p:nvPr/>
        </p:nvSpPr>
        <p:spPr>
          <a:xfrm>
            <a:off x="2843462" y="1682451"/>
            <a:ext cx="5511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b="1" spc="-20" dirty="0">
                <a:solidFill>
                  <a:schemeClr val="bg1"/>
                </a:solidFill>
              </a:rPr>
              <a:t>增加家庭情感及生活樂趣</a:t>
            </a:r>
            <a:endParaRPr lang="zh-CN" altLang="en-US" sz="1400" b="1" spc="-20" dirty="0">
              <a:solidFill>
                <a:schemeClr val="bg1"/>
              </a:solidFill>
            </a:endParaRP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A5A766CB-30AE-4CCB-B9B7-7C467F4D7F13}"/>
              </a:ext>
            </a:extLst>
          </p:cNvPr>
          <p:cNvSpPr txBox="1"/>
          <p:nvPr/>
        </p:nvSpPr>
        <p:spPr>
          <a:xfrm>
            <a:off x="2843460" y="1913405"/>
            <a:ext cx="5511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b="1" spc="-20" dirty="0">
                <a:solidFill>
                  <a:schemeClr val="bg1"/>
                </a:solidFill>
              </a:rPr>
              <a:t>比出國旅遊便宜</a:t>
            </a:r>
            <a:endParaRPr lang="zh-CN" altLang="en-US" sz="1400" b="1" spc="-20" dirty="0">
              <a:solidFill>
                <a:schemeClr val="bg1"/>
              </a:solidFill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D93E6B6F-BDD6-46E1-9E4F-BBC92DD27977}"/>
              </a:ext>
            </a:extLst>
          </p:cNvPr>
          <p:cNvSpPr txBox="1"/>
          <p:nvPr/>
        </p:nvSpPr>
        <p:spPr>
          <a:xfrm>
            <a:off x="2850722" y="2119946"/>
            <a:ext cx="5629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b="1" spc="-20" dirty="0">
                <a:solidFill>
                  <a:schemeClr val="bg1"/>
                </a:solidFill>
              </a:rPr>
              <a:t>拜訪親戚朋友</a:t>
            </a:r>
            <a:endParaRPr lang="zh-CN" altLang="en-US" sz="1400" b="1" spc="-20" dirty="0">
              <a:solidFill>
                <a:schemeClr val="bg1"/>
              </a:solidFill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86CB082C-582A-4D6B-90A7-773AB790A8D2}"/>
              </a:ext>
            </a:extLst>
          </p:cNvPr>
          <p:cNvSpPr txBox="1"/>
          <p:nvPr/>
        </p:nvSpPr>
        <p:spPr>
          <a:xfrm>
            <a:off x="2909680" y="3535758"/>
            <a:ext cx="5511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b="1" spc="-20" dirty="0">
                <a:solidFill>
                  <a:schemeClr val="bg1"/>
                </a:solidFill>
              </a:rPr>
              <a:t>家人或朋友邀約</a:t>
            </a:r>
            <a:endParaRPr lang="zh-CN" altLang="en-US" sz="1400" b="1" spc="-20" dirty="0">
              <a:solidFill>
                <a:schemeClr val="bg1"/>
              </a:solidFill>
            </a:endParaRPr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07BE76C0-62CA-4E88-A3DF-F362D96DAF54}"/>
              </a:ext>
            </a:extLst>
          </p:cNvPr>
          <p:cNvSpPr txBox="1"/>
          <p:nvPr/>
        </p:nvSpPr>
        <p:spPr>
          <a:xfrm>
            <a:off x="2898586" y="3833070"/>
            <a:ext cx="5513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b="1" spc="-20" dirty="0">
                <a:solidFill>
                  <a:schemeClr val="bg1"/>
                </a:solidFill>
              </a:rPr>
              <a:t>慕名而</a:t>
            </a:r>
            <a:r>
              <a:rPr lang="zh-TW" altLang="en-US" sz="1400" b="1" spc="-20" dirty="0">
                <a:solidFill>
                  <a:schemeClr val="bg1"/>
                </a:solidFill>
              </a:rPr>
              <a:t>來</a:t>
            </a:r>
            <a:r>
              <a:rPr lang="zh-TW" altLang="zh-TW" sz="1400" b="1" spc="-20" dirty="0">
                <a:solidFill>
                  <a:schemeClr val="bg1"/>
                </a:solidFill>
              </a:rPr>
              <a:t>，來滿足好奇心</a:t>
            </a:r>
            <a:endParaRPr lang="zh-CN" altLang="en-US" sz="1400" b="1" spc="-20" dirty="0">
              <a:solidFill>
                <a:schemeClr val="bg1"/>
              </a:solidFill>
            </a:endParaRPr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5EA8C412-B6E6-41A6-870C-CF52E507A708}"/>
              </a:ext>
            </a:extLst>
          </p:cNvPr>
          <p:cNvSpPr txBox="1"/>
          <p:nvPr/>
        </p:nvSpPr>
        <p:spPr>
          <a:xfrm>
            <a:off x="2887983" y="2641861"/>
            <a:ext cx="5511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b="1" spc="-20" dirty="0">
                <a:solidFill>
                  <a:schemeClr val="bg1"/>
                </a:solidFill>
              </a:rPr>
              <a:t>沒有理由，只是跟著親友來</a:t>
            </a:r>
            <a:endParaRPr lang="zh-CN" altLang="en-US" sz="1400" b="1" spc="-20" dirty="0">
              <a:solidFill>
                <a:schemeClr val="bg1"/>
              </a:solidFill>
            </a:endParaRPr>
          </a:p>
        </p:txBody>
      </p:sp>
      <p:sp>
        <p:nvSpPr>
          <p:cNvPr id="44" name="TextBox 11">
            <a:extLst>
              <a:ext uri="{FF2B5EF4-FFF2-40B4-BE49-F238E27FC236}">
                <a16:creationId xmlns:a16="http://schemas.microsoft.com/office/drawing/2014/main" id="{7C545DCE-13B0-4249-A0D9-E72E22B6CF5E}"/>
              </a:ext>
            </a:extLst>
          </p:cNvPr>
          <p:cNvSpPr txBox="1"/>
          <p:nvPr/>
        </p:nvSpPr>
        <p:spPr>
          <a:xfrm>
            <a:off x="2885660" y="2865176"/>
            <a:ext cx="5513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b="1" spc="-20" dirty="0">
                <a:solidFill>
                  <a:schemeClr val="bg1"/>
                </a:solidFill>
              </a:rPr>
              <a:t>臨時起意</a:t>
            </a:r>
            <a:endParaRPr lang="zh-CN" altLang="en-US" sz="1400" b="1" spc="-20" dirty="0">
              <a:solidFill>
                <a:schemeClr val="bg1"/>
              </a:solidFill>
            </a:endParaRPr>
          </a:p>
        </p:txBody>
      </p:sp>
      <p:sp>
        <p:nvSpPr>
          <p:cNvPr id="45" name="TextBox 12">
            <a:extLst>
              <a:ext uri="{FF2B5EF4-FFF2-40B4-BE49-F238E27FC236}">
                <a16:creationId xmlns:a16="http://schemas.microsoft.com/office/drawing/2014/main" id="{84B1ED6D-599A-4DED-AE5C-BD84E9F3AE33}"/>
              </a:ext>
            </a:extLst>
          </p:cNvPr>
          <p:cNvSpPr txBox="1"/>
          <p:nvPr/>
        </p:nvSpPr>
        <p:spPr>
          <a:xfrm>
            <a:off x="899335" y="1623223"/>
            <a:ext cx="112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8C937"/>
                </a:solidFill>
              </a:rPr>
              <a:t>FACTOR4</a:t>
            </a:r>
            <a:endParaRPr lang="zh-CN" altLang="en-US" sz="1400" b="1" dirty="0">
              <a:solidFill>
                <a:srgbClr val="F8C937"/>
              </a:solidFill>
            </a:endParaRPr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E83AED97-4820-4D78-85E4-25588FF74F70}"/>
              </a:ext>
            </a:extLst>
          </p:cNvPr>
          <p:cNvSpPr txBox="1"/>
          <p:nvPr/>
        </p:nvSpPr>
        <p:spPr>
          <a:xfrm>
            <a:off x="918839" y="2597399"/>
            <a:ext cx="112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8C937"/>
                </a:solidFill>
              </a:rPr>
              <a:t>FACTOR5</a:t>
            </a:r>
            <a:endParaRPr lang="zh-CN" altLang="en-US" sz="1400" b="1" dirty="0">
              <a:solidFill>
                <a:srgbClr val="F8C937"/>
              </a:solidFill>
            </a:endParaRPr>
          </a:p>
        </p:txBody>
      </p:sp>
      <p:sp>
        <p:nvSpPr>
          <p:cNvPr id="47" name="TextBox 12">
            <a:extLst>
              <a:ext uri="{FF2B5EF4-FFF2-40B4-BE49-F238E27FC236}">
                <a16:creationId xmlns:a16="http://schemas.microsoft.com/office/drawing/2014/main" id="{4EAF6260-65D2-4516-B4CF-E918A056C46C}"/>
              </a:ext>
            </a:extLst>
          </p:cNvPr>
          <p:cNvSpPr txBox="1"/>
          <p:nvPr/>
        </p:nvSpPr>
        <p:spPr>
          <a:xfrm>
            <a:off x="899335" y="3436974"/>
            <a:ext cx="112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8C937"/>
                </a:solidFill>
              </a:rPr>
              <a:t>FACTOR6</a:t>
            </a:r>
            <a:endParaRPr lang="zh-CN" altLang="en-US" sz="1400" b="1" dirty="0">
              <a:solidFill>
                <a:srgbClr val="F8C937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2E60F2-66B7-4569-ADA4-32C0B8BED66B}"/>
              </a:ext>
            </a:extLst>
          </p:cNvPr>
          <p:cNvSpPr/>
          <p:nvPr/>
        </p:nvSpPr>
        <p:spPr>
          <a:xfrm>
            <a:off x="8226867" y="1656933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0.744</a:t>
            </a:r>
            <a:endParaRPr lang="zh-TW" altLang="en-US" sz="1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4E18DE-A615-43BE-876E-EBC56237C12D}"/>
              </a:ext>
            </a:extLst>
          </p:cNvPr>
          <p:cNvSpPr/>
          <p:nvPr/>
        </p:nvSpPr>
        <p:spPr>
          <a:xfrm>
            <a:off x="8226867" y="1882903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0.681</a:t>
            </a:r>
            <a:endParaRPr lang="zh-TW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0F9704-1E06-4FF0-BA1B-362B2F0AC2DC}"/>
              </a:ext>
            </a:extLst>
          </p:cNvPr>
          <p:cNvSpPr/>
          <p:nvPr/>
        </p:nvSpPr>
        <p:spPr>
          <a:xfrm>
            <a:off x="8219607" y="2113151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0.643</a:t>
            </a:r>
            <a:endParaRPr lang="zh-TW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5258F0-46D0-4B84-8EF9-EB4031CB865D}"/>
              </a:ext>
            </a:extLst>
          </p:cNvPr>
          <p:cNvSpPr/>
          <p:nvPr/>
        </p:nvSpPr>
        <p:spPr>
          <a:xfrm>
            <a:off x="8226867" y="2595431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0.833</a:t>
            </a:r>
            <a:endParaRPr lang="zh-TW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D17A4C-D16C-4A64-AC67-CB53F41F40E2}"/>
              </a:ext>
            </a:extLst>
          </p:cNvPr>
          <p:cNvSpPr/>
          <p:nvPr/>
        </p:nvSpPr>
        <p:spPr>
          <a:xfrm>
            <a:off x="8226867" y="2851586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0.866</a:t>
            </a:r>
            <a:endParaRPr lang="zh-TW" altLang="en-US" sz="1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DB4FA7-1625-4575-9559-6F7104877B10}"/>
              </a:ext>
            </a:extLst>
          </p:cNvPr>
          <p:cNvSpPr/>
          <p:nvPr/>
        </p:nvSpPr>
        <p:spPr>
          <a:xfrm>
            <a:off x="8219607" y="3529014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0.682</a:t>
            </a:r>
            <a:endParaRPr lang="zh-TW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7394DE-0C68-46DF-BF03-E2F263D0CCAB}"/>
              </a:ext>
            </a:extLst>
          </p:cNvPr>
          <p:cNvSpPr/>
          <p:nvPr/>
        </p:nvSpPr>
        <p:spPr>
          <a:xfrm>
            <a:off x="8226867" y="3830046"/>
            <a:ext cx="619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b="1" spc="-20" dirty="0">
                <a:solidFill>
                  <a:schemeClr val="bg1"/>
                </a:solidFill>
              </a:rPr>
              <a:t>0.760</a:t>
            </a:r>
            <a:endParaRPr lang="zh-TW" altLang="en-US" sz="1400" dirty="0"/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A073ECEE-A606-446C-9AB1-B3131F375E49}"/>
              </a:ext>
            </a:extLst>
          </p:cNvPr>
          <p:cNvSpPr txBox="1"/>
          <p:nvPr/>
        </p:nvSpPr>
        <p:spPr>
          <a:xfrm>
            <a:off x="2047614" y="858321"/>
            <a:ext cx="4478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kern="1600" dirty="0"/>
              <a:t>使用因素分析後，將各個獨立的敘述句整合為下列</a:t>
            </a:r>
            <a:r>
              <a:rPr lang="en-US" altLang="zh-TW" sz="1200" b="1" kern="1600" dirty="0"/>
              <a:t>6</a:t>
            </a:r>
            <a:r>
              <a:rPr lang="zh-TW" altLang="en-US" sz="1200" b="1" kern="1600" dirty="0"/>
              <a:t>個因素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7768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81" y="215883"/>
            <a:ext cx="3683794" cy="983329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-1" y="290520"/>
            <a:ext cx="3683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FACTOR1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主要動機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身心舒壓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輔助動機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接近大自然</a:t>
            </a:r>
            <a:endParaRPr lang="zh-CN" altLang="en-US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9">
            <a:extLst>
              <a:ext uri="{FF2B5EF4-FFF2-40B4-BE49-F238E27FC236}">
                <a16:creationId xmlns:a16="http://schemas.microsoft.com/office/drawing/2014/main" id="{D0425CB4-C4BF-45F5-BA7A-2A03614E242C}"/>
              </a:ext>
            </a:extLst>
          </p:cNvPr>
          <p:cNvSpPr/>
          <p:nvPr/>
        </p:nvSpPr>
        <p:spPr>
          <a:xfrm>
            <a:off x="3531946" y="1346084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放鬆</a:t>
            </a:r>
            <a:endParaRPr lang="en-US" altLang="zh-TW" sz="2000" b="1" dirty="0">
              <a:solidFill>
                <a:srgbClr val="FFFFFF"/>
              </a:solidFill>
            </a:endParaRPr>
          </a:p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身心</a:t>
            </a:r>
          </a:p>
        </p:txBody>
      </p:sp>
      <p:cxnSp>
        <p:nvCxnSpPr>
          <p:cNvPr id="17" name="直接连接符 28">
            <a:extLst>
              <a:ext uri="{FF2B5EF4-FFF2-40B4-BE49-F238E27FC236}">
                <a16:creationId xmlns:a16="http://schemas.microsoft.com/office/drawing/2014/main" id="{172138D5-9F53-410D-BC0C-117F47ECC256}"/>
              </a:ext>
            </a:extLst>
          </p:cNvPr>
          <p:cNvCxnSpPr>
            <a:cxnSpLocks/>
          </p:cNvCxnSpPr>
          <p:nvPr/>
        </p:nvCxnSpPr>
        <p:spPr>
          <a:xfrm>
            <a:off x="4255666" y="2815663"/>
            <a:ext cx="0" cy="1221287"/>
          </a:xfrm>
          <a:prstGeom prst="line">
            <a:avLst/>
          </a:prstGeom>
          <a:ln w="57150">
            <a:solidFill>
              <a:srgbClr val="6C7F9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9108B05-1FF3-4344-9BBE-D3B5BF67AB28}"/>
              </a:ext>
            </a:extLst>
          </p:cNvPr>
          <p:cNvSpPr txBox="1"/>
          <p:nvPr/>
        </p:nvSpPr>
        <p:spPr>
          <a:xfrm>
            <a:off x="1693335" y="4036950"/>
            <a:ext cx="5757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可選擇來一趟森活湯旅，溫泉鄉內的優質溫泉飯店或歷史名湯，以及每個溫泉區內或鄰近的森林步道，可以在泡湯前後，放鬆身心；暢快吸收大自然所釋放的芬多精。</a:t>
            </a:r>
          </a:p>
        </p:txBody>
      </p:sp>
      <p:sp>
        <p:nvSpPr>
          <p:cNvPr id="32" name="椭圆 9">
            <a:extLst>
              <a:ext uri="{FF2B5EF4-FFF2-40B4-BE49-F238E27FC236}">
                <a16:creationId xmlns:a16="http://schemas.microsoft.com/office/drawing/2014/main" id="{880A180B-A3C3-402A-9EA0-48A537DA0CFF}"/>
              </a:ext>
            </a:extLst>
          </p:cNvPr>
          <p:cNvSpPr/>
          <p:nvPr/>
        </p:nvSpPr>
        <p:spPr>
          <a:xfrm>
            <a:off x="2527277" y="1600788"/>
            <a:ext cx="1071164" cy="1150888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大自然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5CE3BF0-9451-487F-BFE4-372FC87F4F56}"/>
              </a:ext>
            </a:extLst>
          </p:cNvPr>
          <p:cNvSpPr/>
          <p:nvPr/>
        </p:nvSpPr>
        <p:spPr>
          <a:xfrm>
            <a:off x="4991652" y="1398472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生理</a:t>
            </a:r>
            <a:endParaRPr lang="en-US" altLang="zh-TW" sz="2000" b="1" dirty="0">
              <a:solidFill>
                <a:srgbClr val="FFFFFF"/>
              </a:solidFill>
            </a:endParaRPr>
          </a:p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動機</a:t>
            </a:r>
            <a:endParaRPr lang="en-US" altLang="zh-TW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3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81" y="215883"/>
            <a:ext cx="3683794" cy="983329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-1" y="290520"/>
            <a:ext cx="36837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FACTOR2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主要動機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積極求知與學習動機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輔助動機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滿足社交性</a:t>
            </a:r>
          </a:p>
          <a:p>
            <a:endParaRPr lang="zh-CN" altLang="en-US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9">
            <a:extLst>
              <a:ext uri="{FF2B5EF4-FFF2-40B4-BE49-F238E27FC236}">
                <a16:creationId xmlns:a16="http://schemas.microsoft.com/office/drawing/2014/main" id="{D0425CB4-C4BF-45F5-BA7A-2A03614E242C}"/>
              </a:ext>
            </a:extLst>
          </p:cNvPr>
          <p:cNvSpPr/>
          <p:nvPr/>
        </p:nvSpPr>
        <p:spPr>
          <a:xfrm>
            <a:off x="2712918" y="1528207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持學習目的</a:t>
            </a:r>
          </a:p>
        </p:txBody>
      </p:sp>
      <p:sp>
        <p:nvSpPr>
          <p:cNvPr id="16" name="椭圆 9">
            <a:extLst>
              <a:ext uri="{FF2B5EF4-FFF2-40B4-BE49-F238E27FC236}">
                <a16:creationId xmlns:a16="http://schemas.microsoft.com/office/drawing/2014/main" id="{77AF710E-A921-450E-82D2-E3F3B5979E2A}"/>
              </a:ext>
            </a:extLst>
          </p:cNvPr>
          <p:cNvSpPr/>
          <p:nvPr/>
        </p:nvSpPr>
        <p:spPr>
          <a:xfrm>
            <a:off x="4159196" y="1528207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心智</a:t>
            </a:r>
            <a:endParaRPr lang="en-US" altLang="zh-TW" sz="2000" b="1" dirty="0">
              <a:solidFill>
                <a:srgbClr val="FFFFFF"/>
              </a:solidFill>
            </a:endParaRPr>
          </a:p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活動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9108B05-1FF3-4344-9BBE-D3B5BF67AB28}"/>
              </a:ext>
            </a:extLst>
          </p:cNvPr>
          <p:cNvSpPr txBox="1"/>
          <p:nvPr/>
        </p:nvSpPr>
        <p:spPr>
          <a:xfrm>
            <a:off x="1693335" y="3746054"/>
            <a:ext cx="5757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參加考察地質、欣賞古蹟、建築、文學館、國立科學工藝博物館等活動。此外需伴隨有專業人員隨行解說，以便參加成員有更多收穫。外出旅遊能與知已朋友同遊，或在旅遊途中結識新朋友</a:t>
            </a:r>
            <a:r>
              <a:rPr lang="en-US" altLang="zh-TW" dirty="0"/>
              <a:t>(</a:t>
            </a:r>
            <a:r>
              <a:rPr lang="zh-TW" altLang="en-US" dirty="0"/>
              <a:t>旅遊團、參訪團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10" name="直接连接符 24">
            <a:extLst>
              <a:ext uri="{FF2B5EF4-FFF2-40B4-BE49-F238E27FC236}">
                <a16:creationId xmlns:a16="http://schemas.microsoft.com/office/drawing/2014/main" id="{F6FD7156-F959-4FE6-A3E9-3870A10F3837}"/>
              </a:ext>
            </a:extLst>
          </p:cNvPr>
          <p:cNvCxnSpPr>
            <a:cxnSpLocks/>
          </p:cNvCxnSpPr>
          <p:nvPr/>
        </p:nvCxnSpPr>
        <p:spPr>
          <a:xfrm flipV="1">
            <a:off x="5704481" y="1497614"/>
            <a:ext cx="378487" cy="52919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C9D4E213-E2DB-431F-B322-4A4A98BC4013}"/>
              </a:ext>
            </a:extLst>
          </p:cNvPr>
          <p:cNvSpPr txBox="1"/>
          <p:nvPr/>
        </p:nvSpPr>
        <p:spPr>
          <a:xfrm>
            <a:off x="6105600" y="1199212"/>
            <a:ext cx="101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學習</a:t>
            </a:r>
          </a:p>
        </p:txBody>
      </p:sp>
      <p:cxnSp>
        <p:nvCxnSpPr>
          <p:cNvPr id="18" name="直接连接符 24">
            <a:extLst>
              <a:ext uri="{FF2B5EF4-FFF2-40B4-BE49-F238E27FC236}">
                <a16:creationId xmlns:a16="http://schemas.microsoft.com/office/drawing/2014/main" id="{421ACD53-9036-4C81-ABF7-324044C10D77}"/>
              </a:ext>
            </a:extLst>
          </p:cNvPr>
          <p:cNvCxnSpPr>
            <a:cxnSpLocks/>
          </p:cNvCxnSpPr>
          <p:nvPr/>
        </p:nvCxnSpPr>
        <p:spPr>
          <a:xfrm flipV="1">
            <a:off x="5712691" y="1946967"/>
            <a:ext cx="567101" cy="272805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CFC8C77A-64F1-4DFE-BE3F-4323C55F59F6}"/>
              </a:ext>
            </a:extLst>
          </p:cNvPr>
          <p:cNvSpPr/>
          <p:nvPr/>
        </p:nvSpPr>
        <p:spPr>
          <a:xfrm>
            <a:off x="6279792" y="162001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冒險</a:t>
            </a:r>
          </a:p>
        </p:txBody>
      </p:sp>
      <p:cxnSp>
        <p:nvCxnSpPr>
          <p:cNvPr id="19" name="直接连接符 24">
            <a:extLst>
              <a:ext uri="{FF2B5EF4-FFF2-40B4-BE49-F238E27FC236}">
                <a16:creationId xmlns:a16="http://schemas.microsoft.com/office/drawing/2014/main" id="{A7378F59-2097-40FA-947F-CA02112B5A20}"/>
              </a:ext>
            </a:extLst>
          </p:cNvPr>
          <p:cNvCxnSpPr>
            <a:cxnSpLocks/>
          </p:cNvCxnSpPr>
          <p:nvPr/>
        </p:nvCxnSpPr>
        <p:spPr>
          <a:xfrm>
            <a:off x="5767840" y="2360646"/>
            <a:ext cx="561190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58320874-2CDF-48C5-9A88-18D0D61C8C2F}"/>
              </a:ext>
            </a:extLst>
          </p:cNvPr>
          <p:cNvSpPr/>
          <p:nvPr/>
        </p:nvSpPr>
        <p:spPr>
          <a:xfrm>
            <a:off x="6353483" y="212534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發現</a:t>
            </a:r>
          </a:p>
        </p:txBody>
      </p:sp>
      <p:cxnSp>
        <p:nvCxnSpPr>
          <p:cNvPr id="21" name="直接连接符 24">
            <a:extLst>
              <a:ext uri="{FF2B5EF4-FFF2-40B4-BE49-F238E27FC236}">
                <a16:creationId xmlns:a16="http://schemas.microsoft.com/office/drawing/2014/main" id="{3224D967-14C4-483D-8977-12FEE5A58845}"/>
              </a:ext>
            </a:extLst>
          </p:cNvPr>
          <p:cNvCxnSpPr>
            <a:cxnSpLocks/>
          </p:cNvCxnSpPr>
          <p:nvPr/>
        </p:nvCxnSpPr>
        <p:spPr>
          <a:xfrm>
            <a:off x="5732043" y="2511379"/>
            <a:ext cx="577534" cy="202035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00D698EF-1EEE-473F-A873-F5D18DD2EF95}"/>
              </a:ext>
            </a:extLst>
          </p:cNvPr>
          <p:cNvSpPr/>
          <p:nvPr/>
        </p:nvSpPr>
        <p:spPr>
          <a:xfrm>
            <a:off x="6353483" y="256633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思考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8707963-B38B-4E7F-928D-B51B9CB24B56}"/>
              </a:ext>
            </a:extLst>
          </p:cNvPr>
          <p:cNvCxnSpPr>
            <a:cxnSpLocks/>
          </p:cNvCxnSpPr>
          <p:nvPr/>
        </p:nvCxnSpPr>
        <p:spPr>
          <a:xfrm>
            <a:off x="5712691" y="2609432"/>
            <a:ext cx="335744" cy="47707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CE448D57-041C-412E-A53F-62FC32319F73}"/>
              </a:ext>
            </a:extLst>
          </p:cNvPr>
          <p:cNvSpPr/>
          <p:nvPr/>
        </p:nvSpPr>
        <p:spPr>
          <a:xfrm>
            <a:off x="6020810" y="297950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想像</a:t>
            </a:r>
          </a:p>
        </p:txBody>
      </p:sp>
      <p:sp>
        <p:nvSpPr>
          <p:cNvPr id="32" name="椭圆 9">
            <a:extLst>
              <a:ext uri="{FF2B5EF4-FFF2-40B4-BE49-F238E27FC236}">
                <a16:creationId xmlns:a16="http://schemas.microsoft.com/office/drawing/2014/main" id="{880A180B-A3C3-402A-9EA0-48A537DA0CFF}"/>
              </a:ext>
            </a:extLst>
          </p:cNvPr>
          <p:cNvSpPr/>
          <p:nvPr/>
        </p:nvSpPr>
        <p:spPr>
          <a:xfrm>
            <a:off x="3737959" y="2609432"/>
            <a:ext cx="1040487" cy="1117928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社交性</a:t>
            </a:r>
          </a:p>
        </p:txBody>
      </p:sp>
    </p:spTree>
    <p:extLst>
      <p:ext uri="{BB962C8B-B14F-4D97-AF65-F5344CB8AC3E}">
        <p14:creationId xmlns:p14="http://schemas.microsoft.com/office/powerpoint/2010/main" val="1177556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81" y="215884"/>
            <a:ext cx="3683794" cy="720968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-1" y="290520"/>
            <a:ext cx="3683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FACTOR3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主要動機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鄉野特殊風情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9">
            <a:extLst>
              <a:ext uri="{FF2B5EF4-FFF2-40B4-BE49-F238E27FC236}">
                <a16:creationId xmlns:a16="http://schemas.microsoft.com/office/drawing/2014/main" id="{D0425CB4-C4BF-45F5-BA7A-2A03614E242C}"/>
              </a:ext>
            </a:extLst>
          </p:cNvPr>
          <p:cNvSpPr/>
          <p:nvPr/>
        </p:nvSpPr>
        <p:spPr>
          <a:xfrm>
            <a:off x="4184530" y="1357796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文化</a:t>
            </a:r>
            <a:endParaRPr lang="en-US" altLang="zh-TW" sz="2000" b="1" dirty="0">
              <a:solidFill>
                <a:srgbClr val="FFFFFF"/>
              </a:solidFill>
            </a:endParaRPr>
          </a:p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動機</a:t>
            </a:r>
          </a:p>
        </p:txBody>
      </p:sp>
      <p:cxnSp>
        <p:nvCxnSpPr>
          <p:cNvPr id="17" name="直接连接符 28">
            <a:extLst>
              <a:ext uri="{FF2B5EF4-FFF2-40B4-BE49-F238E27FC236}">
                <a16:creationId xmlns:a16="http://schemas.microsoft.com/office/drawing/2014/main" id="{172138D5-9F53-410D-BC0C-117F47ECC256}"/>
              </a:ext>
            </a:extLst>
          </p:cNvPr>
          <p:cNvCxnSpPr>
            <a:cxnSpLocks/>
          </p:cNvCxnSpPr>
          <p:nvPr/>
        </p:nvCxnSpPr>
        <p:spPr>
          <a:xfrm>
            <a:off x="4255666" y="2815663"/>
            <a:ext cx="0" cy="1221287"/>
          </a:xfrm>
          <a:prstGeom prst="line">
            <a:avLst/>
          </a:prstGeom>
          <a:ln w="57150">
            <a:solidFill>
              <a:srgbClr val="6C7F9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9">
            <a:extLst>
              <a:ext uri="{FF2B5EF4-FFF2-40B4-BE49-F238E27FC236}">
                <a16:creationId xmlns:a16="http://schemas.microsoft.com/office/drawing/2014/main" id="{880A180B-A3C3-402A-9EA0-48A537DA0CFF}"/>
              </a:ext>
            </a:extLst>
          </p:cNvPr>
          <p:cNvSpPr/>
          <p:nvPr/>
        </p:nvSpPr>
        <p:spPr>
          <a:xfrm>
            <a:off x="2765556" y="1398133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探索性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D41BB72-F2B2-4CDD-816E-9D3192577C1E}"/>
              </a:ext>
            </a:extLst>
          </p:cNvPr>
          <p:cNvSpPr txBox="1"/>
          <p:nvPr/>
        </p:nvSpPr>
        <p:spPr>
          <a:xfrm>
            <a:off x="1674549" y="4116306"/>
            <a:ext cx="5757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可選擇到例如</a:t>
            </a:r>
            <a:r>
              <a:rPr lang="en-US" altLang="zh-TW" dirty="0"/>
              <a:t>:</a:t>
            </a:r>
            <a:r>
              <a:rPr lang="zh-TW" altLang="en-US" dirty="0"/>
              <a:t>南投集集。參觀當地隧道、市集。並實際體驗種高麗菜、搓愛玉、烹飪、製作木杯墊等活動。體驗農村的生活。或是部落旅遊</a:t>
            </a:r>
          </a:p>
        </p:txBody>
      </p:sp>
    </p:spTree>
    <p:extLst>
      <p:ext uri="{BB962C8B-B14F-4D97-AF65-F5344CB8AC3E}">
        <p14:creationId xmlns:p14="http://schemas.microsoft.com/office/powerpoint/2010/main" val="358467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81" y="215883"/>
            <a:ext cx="3683794" cy="951609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-1" y="290520"/>
            <a:ext cx="3683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FACTOR4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主要動機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親情與友情培養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輔助動機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價格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9">
            <a:extLst>
              <a:ext uri="{FF2B5EF4-FFF2-40B4-BE49-F238E27FC236}">
                <a16:creationId xmlns:a16="http://schemas.microsoft.com/office/drawing/2014/main" id="{D0425CB4-C4BF-45F5-BA7A-2A03614E242C}"/>
              </a:ext>
            </a:extLst>
          </p:cNvPr>
          <p:cNvSpPr/>
          <p:nvPr/>
        </p:nvSpPr>
        <p:spPr>
          <a:xfrm>
            <a:off x="4184530" y="1357796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不用花大筆錢也能體驗國外風情</a:t>
            </a:r>
            <a:endParaRPr lang="en-US" altLang="zh-TW" sz="2000" b="1" dirty="0">
              <a:solidFill>
                <a:srgbClr val="FFFFFF"/>
              </a:solidFill>
            </a:endParaRPr>
          </a:p>
        </p:txBody>
      </p:sp>
      <p:cxnSp>
        <p:nvCxnSpPr>
          <p:cNvPr id="17" name="直接连接符 28">
            <a:extLst>
              <a:ext uri="{FF2B5EF4-FFF2-40B4-BE49-F238E27FC236}">
                <a16:creationId xmlns:a16="http://schemas.microsoft.com/office/drawing/2014/main" id="{172138D5-9F53-410D-BC0C-117F47ECC256}"/>
              </a:ext>
            </a:extLst>
          </p:cNvPr>
          <p:cNvCxnSpPr>
            <a:cxnSpLocks/>
          </p:cNvCxnSpPr>
          <p:nvPr/>
        </p:nvCxnSpPr>
        <p:spPr>
          <a:xfrm>
            <a:off x="4301688" y="2447786"/>
            <a:ext cx="0" cy="1221287"/>
          </a:xfrm>
          <a:prstGeom prst="line">
            <a:avLst/>
          </a:prstGeom>
          <a:ln w="57150">
            <a:solidFill>
              <a:srgbClr val="6C7F9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9">
            <a:extLst>
              <a:ext uri="{FF2B5EF4-FFF2-40B4-BE49-F238E27FC236}">
                <a16:creationId xmlns:a16="http://schemas.microsoft.com/office/drawing/2014/main" id="{880A180B-A3C3-402A-9EA0-48A537DA0CFF}"/>
              </a:ext>
            </a:extLst>
          </p:cNvPr>
          <p:cNvSpPr/>
          <p:nvPr/>
        </p:nvSpPr>
        <p:spPr>
          <a:xfrm>
            <a:off x="2765556" y="1398133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與人分享，更添</a:t>
            </a:r>
            <a:endParaRPr lang="en-US" altLang="zh-TW" sz="2000" b="1" dirty="0">
              <a:solidFill>
                <a:srgbClr val="FFFFFF"/>
              </a:solidFill>
            </a:endParaRPr>
          </a:p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樂趣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88403C-1530-48EE-8CB8-3C4E0C213D82}"/>
              </a:ext>
            </a:extLst>
          </p:cNvPr>
          <p:cNvSpPr txBox="1"/>
          <p:nvPr/>
        </p:nvSpPr>
        <p:spPr>
          <a:xfrm>
            <a:off x="1674549" y="3669073"/>
            <a:ext cx="57573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可以選擇電影場景般的秘境，例如</a:t>
            </a:r>
            <a:r>
              <a:rPr lang="en-US" altLang="zh-TW" dirty="0"/>
              <a:t>:</a:t>
            </a:r>
            <a:r>
              <a:rPr lang="zh-TW" altLang="en-US" dirty="0"/>
              <a:t>台東縣海端鄉的嘉明湖，嘉明湖步道一路可以看見衫林、草原、崩壁等景色，連綿的群峰，皎潔的月色和星空，寶藍色的嘉明湖，加上春天的花與冬季的雪景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6087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81" y="215884"/>
            <a:ext cx="3683794" cy="720968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-1" y="290520"/>
            <a:ext cx="3683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FACTOR5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主要動機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隨興出遊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9">
            <a:extLst>
              <a:ext uri="{FF2B5EF4-FFF2-40B4-BE49-F238E27FC236}">
                <a16:creationId xmlns:a16="http://schemas.microsoft.com/office/drawing/2014/main" id="{D0425CB4-C4BF-45F5-BA7A-2A03614E242C}"/>
              </a:ext>
            </a:extLst>
          </p:cNvPr>
          <p:cNvSpPr/>
          <p:nvPr/>
        </p:nvSpPr>
        <p:spPr>
          <a:xfrm>
            <a:off x="2133480" y="1404964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沒有</a:t>
            </a:r>
            <a:endParaRPr lang="en-US" altLang="zh-TW" sz="2000" b="1" dirty="0">
              <a:solidFill>
                <a:srgbClr val="FFFFFF"/>
              </a:solidFill>
            </a:endParaRPr>
          </a:p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計畫</a:t>
            </a:r>
            <a:endParaRPr lang="en-US" altLang="zh-TW" sz="2000" b="1" dirty="0">
              <a:solidFill>
                <a:srgbClr val="FFFFFF"/>
              </a:solidFill>
            </a:endParaRPr>
          </a:p>
        </p:txBody>
      </p:sp>
      <p:cxnSp>
        <p:nvCxnSpPr>
          <p:cNvPr id="17" name="直接连接符 28">
            <a:extLst>
              <a:ext uri="{FF2B5EF4-FFF2-40B4-BE49-F238E27FC236}">
                <a16:creationId xmlns:a16="http://schemas.microsoft.com/office/drawing/2014/main" id="{172138D5-9F53-410D-BC0C-117F47ECC256}"/>
              </a:ext>
            </a:extLst>
          </p:cNvPr>
          <p:cNvCxnSpPr>
            <a:cxnSpLocks/>
          </p:cNvCxnSpPr>
          <p:nvPr/>
        </p:nvCxnSpPr>
        <p:spPr>
          <a:xfrm>
            <a:off x="4255666" y="2815663"/>
            <a:ext cx="0" cy="1221287"/>
          </a:xfrm>
          <a:prstGeom prst="line">
            <a:avLst/>
          </a:prstGeom>
          <a:ln w="57150">
            <a:solidFill>
              <a:srgbClr val="6C7F9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9">
            <a:extLst>
              <a:ext uri="{FF2B5EF4-FFF2-40B4-BE49-F238E27FC236}">
                <a16:creationId xmlns:a16="http://schemas.microsoft.com/office/drawing/2014/main" id="{880A180B-A3C3-402A-9EA0-48A537DA0CFF}"/>
              </a:ext>
            </a:extLst>
          </p:cNvPr>
          <p:cNvSpPr/>
          <p:nvPr/>
        </p:nvSpPr>
        <p:spPr>
          <a:xfrm>
            <a:off x="714506" y="1445301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不確定性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17D41E-1367-4649-806E-7A2D04844BF6}"/>
              </a:ext>
            </a:extLst>
          </p:cNvPr>
          <p:cNvSpPr txBox="1"/>
          <p:nvPr/>
        </p:nvSpPr>
        <p:spPr>
          <a:xfrm>
            <a:off x="1674549" y="4116306"/>
            <a:ext cx="5757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不適合一般旅遊團。事前不太需要詳細規劃到了當地就要應地制宜，隨著當時心情跟當地特色而變化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405B4C2-E0AC-48F7-82E3-C6E5676A30E4}"/>
              </a:ext>
            </a:extLst>
          </p:cNvPr>
          <p:cNvSpPr/>
          <p:nvPr/>
        </p:nvSpPr>
        <p:spPr>
          <a:xfrm>
            <a:off x="3552454" y="1404964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意想</a:t>
            </a:r>
            <a:endParaRPr lang="en-US" altLang="zh-TW" sz="2000" b="1" dirty="0">
              <a:solidFill>
                <a:srgbClr val="FFFFFF"/>
              </a:solidFill>
            </a:endParaRPr>
          </a:p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不到的樂趣、驚喜</a:t>
            </a:r>
            <a:endParaRPr lang="en-US" altLang="zh-TW" sz="2000" b="1" dirty="0">
              <a:solidFill>
                <a:srgbClr val="FFFFFF"/>
              </a:solidFill>
            </a:endParaRPr>
          </a:p>
        </p:txBody>
      </p:sp>
      <p:sp>
        <p:nvSpPr>
          <p:cNvPr id="16" name="椭圆 9">
            <a:extLst>
              <a:ext uri="{FF2B5EF4-FFF2-40B4-BE49-F238E27FC236}">
                <a16:creationId xmlns:a16="http://schemas.microsoft.com/office/drawing/2014/main" id="{7B4E4C8B-3693-40A3-BB17-E72723A945EE}"/>
              </a:ext>
            </a:extLst>
          </p:cNvPr>
          <p:cNvSpPr/>
          <p:nvPr/>
        </p:nvSpPr>
        <p:spPr>
          <a:xfrm>
            <a:off x="5005493" y="1404964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探索</a:t>
            </a:r>
            <a:endParaRPr lang="en-US" altLang="zh-TW" sz="2000" b="1" dirty="0">
              <a:solidFill>
                <a:srgbClr val="FFFFFF"/>
              </a:solidFill>
            </a:endParaRPr>
          </a:p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未知</a:t>
            </a:r>
          </a:p>
        </p:txBody>
      </p:sp>
      <p:sp>
        <p:nvSpPr>
          <p:cNvPr id="18" name="椭圆 9">
            <a:extLst>
              <a:ext uri="{FF2B5EF4-FFF2-40B4-BE49-F238E27FC236}">
                <a16:creationId xmlns:a16="http://schemas.microsoft.com/office/drawing/2014/main" id="{07F5A44B-0881-433D-9CAD-CAA24F08D6CA}"/>
              </a:ext>
            </a:extLst>
          </p:cNvPr>
          <p:cNvSpPr/>
          <p:nvPr/>
        </p:nvSpPr>
        <p:spPr>
          <a:xfrm>
            <a:off x="6424467" y="1404963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跳脫</a:t>
            </a:r>
            <a:endParaRPr lang="en-US" altLang="zh-TW" sz="2000" b="1" dirty="0">
              <a:solidFill>
                <a:srgbClr val="FFFFFF"/>
              </a:solidFill>
            </a:endParaRPr>
          </a:p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日常</a:t>
            </a:r>
            <a:endParaRPr lang="en-US" altLang="zh-TW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82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81" y="215884"/>
            <a:ext cx="3683794" cy="976102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-1" y="290520"/>
            <a:ext cx="3683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FACTOR6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主要動機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滿足好奇心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輔助動機</a:t>
            </a:r>
            <a:r>
              <a:rPr lang="en-US" altLang="zh-TW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親朋邀約</a:t>
            </a:r>
            <a:endParaRPr lang="en-US" altLang="zh-TW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9">
            <a:extLst>
              <a:ext uri="{FF2B5EF4-FFF2-40B4-BE49-F238E27FC236}">
                <a16:creationId xmlns:a16="http://schemas.microsoft.com/office/drawing/2014/main" id="{D0425CB4-C4BF-45F5-BA7A-2A03614E242C}"/>
              </a:ext>
            </a:extLst>
          </p:cNvPr>
          <p:cNvSpPr/>
          <p:nvPr/>
        </p:nvSpPr>
        <p:spPr>
          <a:xfrm>
            <a:off x="3513017" y="1625660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體驗</a:t>
            </a:r>
            <a:endParaRPr lang="en-US" altLang="zh-TW" sz="2000" b="1" dirty="0">
              <a:solidFill>
                <a:srgbClr val="FFFFFF"/>
              </a:solidFill>
            </a:endParaRPr>
          </a:p>
        </p:txBody>
      </p:sp>
      <p:cxnSp>
        <p:nvCxnSpPr>
          <p:cNvPr id="17" name="直接连接符 28">
            <a:extLst>
              <a:ext uri="{FF2B5EF4-FFF2-40B4-BE49-F238E27FC236}">
                <a16:creationId xmlns:a16="http://schemas.microsoft.com/office/drawing/2014/main" id="{172138D5-9F53-410D-BC0C-117F47ECC256}"/>
              </a:ext>
            </a:extLst>
          </p:cNvPr>
          <p:cNvCxnSpPr>
            <a:cxnSpLocks/>
          </p:cNvCxnSpPr>
          <p:nvPr/>
        </p:nvCxnSpPr>
        <p:spPr>
          <a:xfrm>
            <a:off x="4298528" y="2755819"/>
            <a:ext cx="0" cy="1221287"/>
          </a:xfrm>
          <a:prstGeom prst="line">
            <a:avLst/>
          </a:prstGeom>
          <a:ln w="57150">
            <a:solidFill>
              <a:srgbClr val="6C7F9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9">
            <a:extLst>
              <a:ext uri="{FF2B5EF4-FFF2-40B4-BE49-F238E27FC236}">
                <a16:creationId xmlns:a16="http://schemas.microsoft.com/office/drawing/2014/main" id="{880A180B-A3C3-402A-9EA0-48A537DA0CFF}"/>
              </a:ext>
            </a:extLst>
          </p:cNvPr>
          <p:cNvSpPr/>
          <p:nvPr/>
        </p:nvSpPr>
        <p:spPr>
          <a:xfrm>
            <a:off x="2094043" y="1665997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對某一人、事地、物有既定印象</a:t>
            </a:r>
          </a:p>
        </p:txBody>
      </p:sp>
      <p:sp>
        <p:nvSpPr>
          <p:cNvPr id="9" name="椭圆 9">
            <a:extLst>
              <a:ext uri="{FF2B5EF4-FFF2-40B4-BE49-F238E27FC236}">
                <a16:creationId xmlns:a16="http://schemas.microsoft.com/office/drawing/2014/main" id="{5A55956E-E627-4EF8-AFF9-44BE3B88D4A8}"/>
              </a:ext>
            </a:extLst>
          </p:cNvPr>
          <p:cNvSpPr/>
          <p:nvPr/>
        </p:nvSpPr>
        <p:spPr>
          <a:xfrm>
            <a:off x="4931991" y="1625659"/>
            <a:ext cx="1545285" cy="1660297"/>
          </a:xfrm>
          <a:prstGeom prst="ellipse">
            <a:avLst/>
          </a:prstGeom>
          <a:solidFill>
            <a:srgbClr val="6C7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FFFFFF"/>
                </a:solidFill>
              </a:rPr>
              <a:t>用全新角度看待事物</a:t>
            </a:r>
            <a:endParaRPr lang="en-US" altLang="zh-TW" sz="2000" b="1" dirty="0">
              <a:solidFill>
                <a:srgbClr val="FFFFFF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D2CCA0D-D317-4C00-AF95-C1C56B91B0BC}"/>
              </a:ext>
            </a:extLst>
          </p:cNvPr>
          <p:cNvSpPr txBox="1"/>
          <p:nvPr/>
        </p:nvSpPr>
        <p:spPr>
          <a:xfrm>
            <a:off x="1841895" y="3906936"/>
            <a:ext cx="5757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一個從來未去過的地方，例如</a:t>
            </a:r>
            <a:r>
              <a:rPr lang="en-US" altLang="zh-TW" dirty="0"/>
              <a:t>:</a:t>
            </a:r>
            <a:r>
              <a:rPr lang="zh-TW" altLang="en-US" dirty="0"/>
              <a:t>高雄田寮月世界，這個名字讓人很難不將他和月球聯想在一起。或是台東的栗松溫泉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17520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>
            <a:stCxn id="10" idx="6"/>
            <a:endCxn id="12" idx="2"/>
          </p:cNvCxnSpPr>
          <p:nvPr/>
        </p:nvCxnSpPr>
        <p:spPr>
          <a:xfrm flipV="1">
            <a:off x="2021682" y="2117702"/>
            <a:ext cx="444501" cy="938"/>
          </a:xfrm>
          <a:prstGeom prst="line">
            <a:avLst/>
          </a:prstGeom>
          <a:ln>
            <a:solidFill>
              <a:srgbClr val="2E48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7924802" y="4617752"/>
            <a:ext cx="1219198" cy="535990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058149" y="4731859"/>
            <a:ext cx="459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240968"/>
            <a:ext cx="2419350" cy="518604"/>
          </a:xfrm>
          <a:prstGeom prst="rect">
            <a:avLst/>
          </a:prstGeom>
          <a:solidFill>
            <a:srgbClr val="2E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78626" y="330993"/>
            <a:ext cx="2140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TW" altLang="en-US" sz="16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總結</a:t>
            </a:r>
            <a:endParaRPr lang="zh-CN" altLang="en-US" sz="1600" b="1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直接连接符 27"/>
          <p:cNvCxnSpPr>
            <a:cxnSpLocks/>
          </p:cNvCxnSpPr>
          <p:nvPr/>
        </p:nvCxnSpPr>
        <p:spPr>
          <a:xfrm>
            <a:off x="3899377" y="2117702"/>
            <a:ext cx="430532" cy="0"/>
          </a:xfrm>
          <a:prstGeom prst="line">
            <a:avLst/>
          </a:prstGeom>
          <a:ln>
            <a:solidFill>
              <a:srgbClr val="2E48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286118" y="1397525"/>
            <a:ext cx="2064542" cy="1464454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弦形 9231"/>
          <p:cNvSpPr/>
          <p:nvPr/>
        </p:nvSpPr>
        <p:spPr>
          <a:xfrm rot="8057819">
            <a:off x="7084067" y="1600417"/>
            <a:ext cx="472556" cy="430658"/>
          </a:xfrm>
          <a:custGeom>
            <a:avLst/>
            <a:gdLst/>
            <a:ahLst/>
            <a:cxnLst/>
            <a:rect l="l" t="t" r="r" b="b"/>
            <a:pathLst>
              <a:path w="670904" h="611419">
                <a:moveTo>
                  <a:pt x="123563" y="545233"/>
                </a:moveTo>
                <a:cubicBezTo>
                  <a:pt x="79854" y="501751"/>
                  <a:pt x="52607" y="440061"/>
                  <a:pt x="51719" y="370006"/>
                </a:cubicBezTo>
                <a:lnTo>
                  <a:pt x="53474" y="358751"/>
                </a:lnTo>
                <a:cubicBezTo>
                  <a:pt x="89336" y="358095"/>
                  <a:pt x="124330" y="347028"/>
                  <a:pt x="156142" y="328318"/>
                </a:cubicBezTo>
                <a:lnTo>
                  <a:pt x="153681" y="325796"/>
                </a:lnTo>
                <a:cubicBezTo>
                  <a:pt x="115933" y="343920"/>
                  <a:pt x="71043" y="341166"/>
                  <a:pt x="35958" y="317262"/>
                </a:cubicBezTo>
                <a:cubicBezTo>
                  <a:pt x="14514" y="290103"/>
                  <a:pt x="2884" y="256126"/>
                  <a:pt x="467" y="219636"/>
                </a:cubicBezTo>
                <a:cubicBezTo>
                  <a:pt x="-6358" y="116605"/>
                  <a:pt x="62272" y="23729"/>
                  <a:pt x="162765" y="0"/>
                </a:cubicBezTo>
                <a:lnTo>
                  <a:pt x="303582" y="145606"/>
                </a:lnTo>
                <a:lnTo>
                  <a:pt x="379736" y="219907"/>
                </a:lnTo>
                <a:lnTo>
                  <a:pt x="333861" y="264671"/>
                </a:lnTo>
                <a:lnTo>
                  <a:pt x="288505" y="218189"/>
                </a:lnTo>
                <a:lnTo>
                  <a:pt x="278036" y="381447"/>
                </a:lnTo>
                <a:lnTo>
                  <a:pt x="441501" y="374986"/>
                </a:lnTo>
                <a:lnTo>
                  <a:pt x="396146" y="328504"/>
                </a:lnTo>
                <a:lnTo>
                  <a:pt x="443592" y="282209"/>
                </a:lnTo>
                <a:lnTo>
                  <a:pt x="543645" y="379827"/>
                </a:lnTo>
                <a:lnTo>
                  <a:pt x="543092" y="382013"/>
                </a:lnTo>
                <a:lnTo>
                  <a:pt x="670904" y="513000"/>
                </a:lnTo>
                <a:cubicBezTo>
                  <a:pt x="665947" y="529442"/>
                  <a:pt x="656461" y="544522"/>
                  <a:pt x="643368" y="557297"/>
                </a:cubicBezTo>
                <a:cubicBezTo>
                  <a:pt x="596775" y="602761"/>
                  <a:pt x="522148" y="601845"/>
                  <a:pt x="476685" y="555252"/>
                </a:cubicBezTo>
                <a:lnTo>
                  <a:pt x="462872" y="533887"/>
                </a:lnTo>
                <a:cubicBezTo>
                  <a:pt x="418526" y="580000"/>
                  <a:pt x="358630" y="608529"/>
                  <a:pt x="294185" y="611212"/>
                </a:cubicBezTo>
                <a:cubicBezTo>
                  <a:pt x="227445" y="613989"/>
                  <a:pt x="167273" y="588716"/>
                  <a:pt x="123563" y="5452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271830" y="2015906"/>
            <a:ext cx="21740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 spc="-20" dirty="0">
                <a:solidFill>
                  <a:srgbClr val="232323"/>
                </a:solidFill>
              </a:rPr>
              <a:t>發展旅遊業對經濟發展有重要意義，創造觀光效益，帶動地方觀光產業發展</a:t>
            </a:r>
            <a:endParaRPr lang="zh-CN" altLang="en-US" sz="1400" b="1" spc="-20" dirty="0">
              <a:solidFill>
                <a:srgbClr val="232323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0234" y="1397916"/>
            <a:ext cx="1441448" cy="14414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2E4860"/>
                </a:solidFill>
              </a:rPr>
              <a:t>旅遊業者了解消費者需求</a:t>
            </a:r>
            <a:endParaRPr lang="zh-CN" altLang="en-US" sz="1400" b="1" dirty="0">
              <a:solidFill>
                <a:srgbClr val="2E4860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466183" y="1396978"/>
            <a:ext cx="1441448" cy="14414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rgbClr val="232323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341020" y="1420531"/>
            <a:ext cx="1441448" cy="14414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rgbClr val="23232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80152" y="1963296"/>
            <a:ext cx="1419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spc="-10" dirty="0">
                <a:solidFill>
                  <a:srgbClr val="2E4860"/>
                </a:solidFill>
              </a:rPr>
              <a:t>細分市場</a:t>
            </a:r>
            <a:endParaRPr lang="zh-CN" altLang="en-US" sz="1400" b="1" spc="-10" dirty="0">
              <a:solidFill>
                <a:srgbClr val="2E48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65175" y="1824429"/>
            <a:ext cx="1206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spc="-10" dirty="0">
                <a:solidFill>
                  <a:srgbClr val="2E4860"/>
                </a:solidFill>
              </a:rPr>
              <a:t>推出符合目標市場的旅遊項目</a:t>
            </a:r>
            <a:endParaRPr lang="zh-CN" altLang="en-US" sz="1400" b="1" spc="-10" dirty="0">
              <a:solidFill>
                <a:srgbClr val="2E4860"/>
              </a:solidFill>
            </a:endParaRPr>
          </a:p>
        </p:txBody>
      </p:sp>
      <p:cxnSp>
        <p:nvCxnSpPr>
          <p:cNvPr id="29" name="直接连接符 28"/>
          <p:cNvCxnSpPr>
            <a:stCxn id="13" idx="6"/>
          </p:cNvCxnSpPr>
          <p:nvPr/>
        </p:nvCxnSpPr>
        <p:spPr>
          <a:xfrm>
            <a:off x="5782468" y="2141255"/>
            <a:ext cx="442596" cy="938"/>
          </a:xfrm>
          <a:prstGeom prst="line">
            <a:avLst/>
          </a:prstGeom>
          <a:ln>
            <a:solidFill>
              <a:srgbClr val="2E486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7">
            <a:extLst>
              <a:ext uri="{FF2B5EF4-FFF2-40B4-BE49-F238E27FC236}">
                <a16:creationId xmlns:a16="http://schemas.microsoft.com/office/drawing/2014/main" id="{C17F1245-24F7-4B57-85CA-159CDFECD419}"/>
              </a:ext>
            </a:extLst>
          </p:cNvPr>
          <p:cNvCxnSpPr>
            <a:cxnSpLocks/>
          </p:cNvCxnSpPr>
          <p:nvPr/>
        </p:nvCxnSpPr>
        <p:spPr>
          <a:xfrm>
            <a:off x="4125121" y="2117702"/>
            <a:ext cx="0" cy="1058602"/>
          </a:xfrm>
          <a:prstGeom prst="line">
            <a:avLst/>
          </a:prstGeom>
          <a:ln>
            <a:solidFill>
              <a:srgbClr val="2E48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12">
            <a:extLst>
              <a:ext uri="{FF2B5EF4-FFF2-40B4-BE49-F238E27FC236}">
                <a16:creationId xmlns:a16="http://schemas.microsoft.com/office/drawing/2014/main" id="{326BE046-DC7E-4415-9667-62895F2F8C40}"/>
              </a:ext>
            </a:extLst>
          </p:cNvPr>
          <p:cNvSpPr/>
          <p:nvPr/>
        </p:nvSpPr>
        <p:spPr>
          <a:xfrm>
            <a:off x="3404397" y="3176304"/>
            <a:ext cx="1441448" cy="14414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rgbClr val="232323"/>
              </a:solidFill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E2C6AC7-C8FE-4419-9565-810B127F750F}"/>
              </a:ext>
            </a:extLst>
          </p:cNvPr>
          <p:cNvSpPr txBox="1"/>
          <p:nvPr/>
        </p:nvSpPr>
        <p:spPr>
          <a:xfrm>
            <a:off x="3521871" y="3423275"/>
            <a:ext cx="1206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spc="-10" dirty="0">
                <a:solidFill>
                  <a:srgbClr val="2E4860"/>
                </a:solidFill>
              </a:rPr>
              <a:t>政府推動不同旅遊型態</a:t>
            </a:r>
            <a:r>
              <a:rPr lang="en-US" altLang="zh-TW" sz="1400" b="1" spc="-10" dirty="0">
                <a:solidFill>
                  <a:srgbClr val="2E4860"/>
                </a:solidFill>
              </a:rPr>
              <a:t>,ex:</a:t>
            </a:r>
            <a:r>
              <a:rPr lang="zh-TW" altLang="en-US" sz="1400" b="1" spc="-10" dirty="0">
                <a:solidFill>
                  <a:srgbClr val="2E4860"/>
                </a:solidFill>
              </a:rPr>
              <a:t>農村、部落、社區</a:t>
            </a:r>
            <a:endParaRPr lang="zh-CN" altLang="en-US" sz="1400" b="1" spc="-10" dirty="0">
              <a:solidFill>
                <a:srgbClr val="2E48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230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79" y="579120"/>
            <a:ext cx="49058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2E4860"/>
                </a:solidFill>
              </a:rPr>
              <a:t>Thank you!</a:t>
            </a:r>
            <a:endParaRPr lang="zh-CN" altLang="en-US" sz="6000" b="1" dirty="0">
              <a:solidFill>
                <a:srgbClr val="2E48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85181" y="3707903"/>
            <a:ext cx="215632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to our website!</a:t>
            </a:r>
          </a:p>
          <a:p>
            <a:pPr algn="ctr"/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(click here)</a:t>
            </a:r>
            <a:endParaRPr lang="zh-CN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42925" y="2636044"/>
            <a:ext cx="4600575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42925" y="547683"/>
            <a:ext cx="4595813" cy="71438"/>
          </a:xfrm>
          <a:prstGeom prst="rect">
            <a:avLst/>
          </a:prstGeom>
          <a:solidFill>
            <a:srgbClr val="F8C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6624638" y="1326356"/>
            <a:ext cx="1092993" cy="1090613"/>
          </a:xfrm>
          <a:prstGeom prst="line">
            <a:avLst/>
          </a:prstGeom>
          <a:ln>
            <a:solidFill>
              <a:srgbClr val="F8C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5745954" y="521906"/>
            <a:ext cx="2839245" cy="2839245"/>
          </a:xfrm>
          <a:prstGeom prst="ellipse">
            <a:avLst/>
          </a:prstGeom>
          <a:noFill/>
          <a:ln w="952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302AAAA-966C-48BA-9B30-D1E2933F3B25}"/>
              </a:ext>
            </a:extLst>
          </p:cNvPr>
          <p:cNvSpPr txBox="1"/>
          <p:nvPr/>
        </p:nvSpPr>
        <p:spPr>
          <a:xfrm>
            <a:off x="1729262" y="1626220"/>
            <a:ext cx="3840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b="1" dirty="0">
                <a:solidFill>
                  <a:srgbClr val="2E4860"/>
                </a:solidFill>
              </a:rPr>
              <a:t>Q&amp;A</a:t>
            </a:r>
            <a:endParaRPr lang="zh-CN" altLang="en-US" sz="6000" b="1" dirty="0">
              <a:solidFill>
                <a:srgbClr val="2E48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297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宋体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5475</TotalTime>
  <Words>1547</Words>
  <Application>Microsoft Office PowerPoint</Application>
  <PresentationFormat>如螢幕大小 (16:9)</PresentationFormat>
  <Paragraphs>246</Paragraphs>
  <Slides>19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Helvetica Neue</vt:lpstr>
      <vt:lpstr>Arial</vt:lpstr>
      <vt:lpstr>Calibri</vt:lpstr>
      <vt:lpstr>Office 主题​​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http://www.ypppt.com/</dc:description>
  <cp:lastModifiedBy>貞妮 林</cp:lastModifiedBy>
  <cp:revision>475</cp:revision>
  <dcterms:created xsi:type="dcterms:W3CDTF">2014-04-11T02:33:39Z</dcterms:created>
  <dcterms:modified xsi:type="dcterms:W3CDTF">2019-04-23T10:51:10Z</dcterms:modified>
</cp:coreProperties>
</file>